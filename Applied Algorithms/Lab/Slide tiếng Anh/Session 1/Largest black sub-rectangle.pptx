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9" r:id="rId2"/>
    <p:sldId id="257" r:id="rId3"/>
    <p:sldId id="283" r:id="rId4"/>
    <p:sldId id="284" r:id="rId5"/>
    <p:sldId id="285" r:id="rId6"/>
    <p:sldId id="286" r:id="rId7"/>
    <p:sldId id="287" r:id="rId8"/>
    <p:sldId id="304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47" autoAdjust="0"/>
    <p:restoredTop sz="94660"/>
  </p:normalViewPr>
  <p:slideViewPr>
    <p:cSldViewPr snapToGrid="0">
      <p:cViewPr>
        <p:scale>
          <a:sx n="71" d="100"/>
          <a:sy n="71" d="100"/>
        </p:scale>
        <p:origin x="29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0EC0965-59F5-6789-7225-557A68F4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2121D86-380C-56A5-68E9-D6D3C15A2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9E393ED-7DB5-D203-01CE-14FB551E2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344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8C40737E-B929-5204-9FA8-CB6A8D94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D8D60E6-2375-9650-8FF4-40330259A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70327D3-7F74-C6C1-4B23-0E2C689BB5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685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BA0A67F-1BF0-7F9B-ACC8-ED2C9BF7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8D7DF4B-3617-2183-BE58-22F3007E8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D4BD7579-63BE-4451-DEBA-0F489AF6A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64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7518959-6E90-A462-1349-10A797EE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C298E4B-7E29-C1A2-FC09-8A64241FA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C96F55C-E6EA-8840-02F7-C70E3A82C6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454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1511C55-E43F-0B5B-F6A3-C1448BE8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74A3D10-64FF-0863-98EC-AF6E9BA30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9B0A803-34CB-1611-095F-0BF909E29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90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CFE457D-70C5-A961-C85A-3E43E194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5F5CE1EE-7F39-D48C-D5C9-3238FD6BC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B22519E-5F52-B519-2F25-B3A70D03E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6851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4B1F37D-9510-59DD-3E94-705EB12F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DA3B499-91E0-1C25-C1D2-A52B9134E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09A386E-BCDB-1F18-C42D-BC731FF58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522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F3FB953-6C94-6A31-D1AE-A6A939F7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8C40A47-85C8-8942-965E-651A19D27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749DCA5D-0BB1-69AE-4CC1-CBEE85F80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58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3E45284-8A1A-059D-4E89-98367C22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9999CC1-07A7-3CCA-20F9-9D00F5E6E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F308576-39FD-39E1-649F-6703887B7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7015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FEA33CD-19B0-499F-6FCE-BD8B8931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08D4CA7-6342-5047-912D-855C7729B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BE08C6A-371D-D643-62B3-DD0FA1884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719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CF34159-7943-E127-DB9D-791D5FF8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993839C3-C46F-819C-B188-05E1A3891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AC2FBC3-446D-4433-E556-5C12A8373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549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B71FEFF-7AB7-BFDB-38A6-16181C73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3441466-A0FB-08CC-D003-884203080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9017C1D-DF4F-2E4B-E797-5CF037D20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1600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857C68C-91D7-84DD-1C86-CD9808CC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219B7585-999D-A341-2A6E-98E75734F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24E93009-7590-FEDC-34B5-771D715DE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9469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ECE9D35-C16C-3A44-2413-F551D09C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ED4E0F0-E724-AF79-BABC-4C6459132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ABA1F41-7038-2BBC-5D74-D08F9A0D6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199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D37F-B962-C6D2-003E-225CC928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AF8D-8442-7327-58C5-5E2A98264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  <a:lvl2pPr>
              <a:defRPr b="0" i="0">
                <a:latin typeface="Lato" panose="020F0502020204030203" pitchFamily="34" charset="0"/>
              </a:defRPr>
            </a:lvl2pPr>
            <a:lvl3pPr>
              <a:defRPr b="0" i="0">
                <a:latin typeface="Lato" panose="020F0502020204030203" pitchFamily="34" charset="0"/>
              </a:defRPr>
            </a:lvl3pPr>
            <a:lvl4pPr>
              <a:defRPr b="0" i="0">
                <a:latin typeface="Lato" panose="020F0502020204030203" pitchFamily="34" charset="0"/>
              </a:defRPr>
            </a:lvl4pPr>
            <a:lvl5pPr>
              <a:defRPr b="0" i="0"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6B2A-D4E3-92EA-8C97-0A6D5FE2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</a:lstStyle>
          <a:p>
            <a:fld id="{D63959F8-40CA-8846-BFD4-CDB6418E9C1A}" type="datetimeFigureOut">
              <a:rPr lang="en-VN" smtClean="0"/>
              <a:pPr/>
              <a:t>9/24/25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AA9EF-3640-25A3-4380-BC97B294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</a:lstStyle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4F2AE-B856-3250-0878-6FA049D3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0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7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Largest black sub-rectangle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49D6-F9AF-7876-F5A6-6352C783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F7CF-6A7A-6FEC-84C7-DFED01A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FCA0-F101-B6D8-C4A0-A8E64C7AB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Given a rectangle with cell in black or white. Find the largest sub-rectangle with all black cell.</a:t>
            </a:r>
          </a:p>
          <a:p>
            <a:r>
              <a:rPr lang="en-US" sz="3200" dirty="0"/>
              <a:t>The rectangle is represented by a 0-1 </a:t>
            </a:r>
            <a:r>
              <a:rPr lang="en-US" sz="3200" dirty="0" err="1"/>
              <a:t>NxM</a:t>
            </a:r>
            <a:r>
              <a:rPr lang="en-US" sz="3200" dirty="0"/>
              <a:t> matrix:</a:t>
            </a:r>
          </a:p>
          <a:p>
            <a:pPr marL="0" indent="0">
              <a:buNone/>
            </a:pPr>
            <a:r>
              <a:rPr lang="en-US" sz="3200" dirty="0"/>
              <a:t>	A[</a:t>
            </a:r>
            <a:r>
              <a:rPr lang="en-US" sz="3200" dirty="0" err="1"/>
              <a:t>i,j</a:t>
            </a:r>
            <a:r>
              <a:rPr lang="en-US" sz="3200" dirty="0"/>
              <a:t>] = 1 represents cell (</a:t>
            </a:r>
            <a:r>
              <a:rPr lang="en-US" sz="3200" dirty="0" err="1"/>
              <a:t>i,j</a:t>
            </a:r>
            <a:r>
              <a:rPr lang="en-US" sz="3200" dirty="0"/>
              <a:t>) as a black cell, and </a:t>
            </a:r>
          </a:p>
          <a:p>
            <a:pPr marL="0" indent="0">
              <a:buNone/>
            </a:pPr>
            <a:r>
              <a:rPr lang="en-US" sz="3200" dirty="0"/>
              <a:t>	A[</a:t>
            </a:r>
            <a:r>
              <a:rPr lang="en-US" sz="3200" dirty="0" err="1"/>
              <a:t>i,j</a:t>
            </a:r>
            <a:r>
              <a:rPr lang="en-US" sz="3200" dirty="0"/>
              <a:t>] = 0 represents cell (</a:t>
            </a:r>
            <a:r>
              <a:rPr lang="en-US" sz="3200" dirty="0" err="1"/>
              <a:t>i,j</a:t>
            </a:r>
            <a:r>
              <a:rPr lang="en-US" sz="3200" dirty="0"/>
              <a:t>) as a white cell</a:t>
            </a:r>
            <a:endParaRPr lang="en-US" sz="3200" dirty="0">
              <a:sym typeface="Arial"/>
            </a:endParaRPr>
          </a:p>
          <a:p>
            <a:r>
              <a:rPr lang="en-US" sz="3200" dirty="0"/>
              <a:t>Output: the area of the sub-rectangle</a:t>
            </a: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B4D9-1742-5EFC-4F92-61E4DD3D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1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3878-7143-89E4-C1A6-05E203A6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90CF-A40A-4906-7FC7-F8B593D2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39BC4-2D8D-938B-3698-98ACD3AD1A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02162-3ED9-43CB-2E86-C8B1D6C29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C1769834-0F5A-0EE7-D626-69BDB10EB706}"/>
              </a:ext>
            </a:extLst>
          </p:cNvPr>
          <p:cNvGraphicFramePr/>
          <p:nvPr/>
        </p:nvGraphicFramePr>
        <p:xfrm>
          <a:off x="837601" y="2345913"/>
          <a:ext cx="10515600" cy="27432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71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stdout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4 4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0 1 1 1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1 1 1 0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1 1 1 0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B31B5A-CDEE-F589-5636-6A09C29435A2}"/>
              </a:ext>
            </a:extLst>
          </p:cNvPr>
          <p:cNvSpPr/>
          <p:nvPr/>
        </p:nvSpPr>
        <p:spPr>
          <a:xfrm>
            <a:off x="882869" y="3767959"/>
            <a:ext cx="551793" cy="12612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2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B5AF-F091-3BEF-0E3B-FCCF6D0F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06FD-7E34-F4AA-5795-FDFC7C2B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E1D89-F4D8-9EA0-ECF1-69B72C965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Idea to solve: </a:t>
            </a:r>
          </a:p>
          <a:p>
            <a:pPr lvl="1"/>
            <a:r>
              <a:rPr lang="en-US" sz="2800" dirty="0">
                <a:sym typeface="Arial"/>
              </a:rPr>
              <a:t>Travel the rows</a:t>
            </a:r>
          </a:p>
          <a:p>
            <a:pPr lvl="1"/>
            <a:r>
              <a:rPr lang="en-US" sz="2800" dirty="0">
                <a:sym typeface="Arial"/>
              </a:rPr>
              <a:t>At each row: find the largest </a:t>
            </a:r>
            <a:r>
              <a:rPr lang="en-US" sz="2800" dirty="0" err="1">
                <a:sym typeface="Arial"/>
              </a:rPr>
              <a:t>subrectangle</a:t>
            </a:r>
            <a:r>
              <a:rPr lang="en-US" sz="2800" dirty="0">
                <a:sym typeface="Arial"/>
              </a:rPr>
              <a:t> end at that row</a:t>
            </a: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4161D-9054-218D-F234-C28E6031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48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D7985-7B41-75E2-3202-3171DE60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number table&#10;&#10;AI-generated content may be incorrect.">
            <a:extLst>
              <a:ext uri="{FF2B5EF4-FFF2-40B4-BE49-F238E27FC236}">
                <a16:creationId xmlns:a16="http://schemas.microsoft.com/office/drawing/2014/main" id="{D895C5F7-089F-0269-5235-F5294255C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401" y="2073006"/>
            <a:ext cx="5930900" cy="3746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9CB04F-8E2C-31B4-BC2C-06451D882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38A7-55E1-0443-4859-BA0FA59B5B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>
                <a:sym typeface="Arial"/>
              </a:rPr>
              <a:t>At each row: find the largest sub-rectangle end at that row</a:t>
            </a:r>
          </a:p>
          <a:p>
            <a:pPr lvl="1"/>
            <a:r>
              <a:rPr lang="en-US" sz="2800" dirty="0">
                <a:sym typeface="Arial"/>
              </a:rPr>
              <a:t>To get information for row </a:t>
            </a:r>
            <a:r>
              <a:rPr lang="en-US" sz="2800" dirty="0" err="1">
                <a:sym typeface="Arial"/>
              </a:rPr>
              <a:t>i</a:t>
            </a:r>
            <a:r>
              <a:rPr lang="en-US" sz="2800" dirty="0">
                <a:sym typeface="Arial"/>
              </a:rPr>
              <a:t>: use the histogram instead of full matrix</a:t>
            </a:r>
          </a:p>
          <a:p>
            <a:pPr lvl="1"/>
            <a:r>
              <a:rPr lang="en-US" sz="2800" dirty="0">
                <a:sym typeface="Arial"/>
              </a:rPr>
              <a:t>example: only need [2,3,0,0]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		to find the rectangle for row 3 </a:t>
            </a:r>
            <a:endParaRPr lang="en-US" dirty="0">
              <a:sym typeface="Arial"/>
            </a:endParaRPr>
          </a:p>
          <a:p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C7D1-328A-A1FD-0220-B8966AC8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1921-242B-2C97-05EE-B578E5FD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A892-D5DA-13CA-D230-8C106AB8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Largest black sub-rectangle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4C416-BEC3-68EA-BC71-8512026B3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255556"/>
          </a:xfrm>
        </p:spPr>
        <p:txBody>
          <a:bodyPr/>
          <a:lstStyle/>
          <a:p>
            <a:r>
              <a:rPr lang="en-US" sz="3200" dirty="0">
                <a:sym typeface="Arial"/>
              </a:rPr>
              <a:t>At each row: find the largest sub-rectangle end at that row</a:t>
            </a:r>
            <a:endParaRPr lang="en-US" sz="2800" dirty="0">
              <a:sym typeface="Arial"/>
            </a:endParaRPr>
          </a:p>
          <a:p>
            <a:pPr lvl="1"/>
            <a:r>
              <a:rPr lang="en-US" sz="2800" dirty="0"/>
              <a:t>expand each column</a:t>
            </a:r>
          </a:p>
          <a:p>
            <a:pPr marL="457200" lvl="1" indent="0">
              <a:buNone/>
            </a:pPr>
            <a:r>
              <a:rPr lang="en-US" sz="2800" dirty="0"/>
              <a:t>to find the rectangle with</a:t>
            </a:r>
          </a:p>
          <a:p>
            <a:pPr marL="457200" lvl="1" indent="0">
              <a:buNone/>
            </a:pPr>
            <a:r>
              <a:rPr lang="en-US" sz="2800" dirty="0"/>
              <a:t>that column’s height</a:t>
            </a:r>
          </a:p>
          <a:p>
            <a:pPr lvl="2"/>
            <a:r>
              <a:rPr lang="en-US" sz="2400" dirty="0"/>
              <a:t>col1: width=1 -&gt; S = 60</a:t>
            </a:r>
          </a:p>
          <a:p>
            <a:pPr lvl="2"/>
            <a:r>
              <a:rPr lang="en-US" sz="2400" dirty="0"/>
              <a:t>col2: width=4 -&gt; S = 80</a:t>
            </a:r>
          </a:p>
          <a:p>
            <a:pPr lvl="2"/>
            <a:r>
              <a:rPr lang="en-US" sz="2400" dirty="0"/>
              <a:t>col3: width=1 -&gt; S = 50</a:t>
            </a:r>
          </a:p>
          <a:p>
            <a:pPr lvl="2"/>
            <a:r>
              <a:rPr lang="en-US" sz="2400" dirty="0"/>
              <a:t>col4: width=2 -&gt; S = 80</a:t>
            </a:r>
          </a:p>
          <a:p>
            <a:pPr lvl="2"/>
            <a:r>
              <a:rPr lang="en-US" sz="2400" dirty="0"/>
              <a:t>col5: width=7 -&gt; S = 70</a:t>
            </a:r>
          </a:p>
          <a:p>
            <a:pPr lvl="2"/>
            <a:r>
              <a:rPr lang="en-US" sz="2400" dirty="0"/>
              <a:t>col6: width=2 -&gt; S = 100</a:t>
            </a:r>
          </a:p>
          <a:p>
            <a:pPr lvl="2"/>
            <a:r>
              <a:rPr lang="en-US" sz="2400" dirty="0"/>
              <a:t>col7: width=1 -&gt; S = 60</a:t>
            </a:r>
          </a:p>
          <a:p>
            <a:r>
              <a:rPr lang="en-US" sz="3200" dirty="0"/>
              <a:t>programming...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975DD-6783-1D1D-D63E-CFF1E5C4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2" descr="Largest-Rectangular-Area-in-a-Histogram">
            <a:extLst>
              <a:ext uri="{FF2B5EF4-FFF2-40B4-BE49-F238E27FC236}">
                <a16:creationId xmlns:a16="http://schemas.microsoft.com/office/drawing/2014/main" id="{FFB2815D-D9DD-406B-468E-F2184DE88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699" y="1971516"/>
            <a:ext cx="6362700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9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85A1-8CB5-2E88-65F4-38CA4963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Largest </a:t>
            </a:r>
            <a:r>
              <a:rPr lang="en-VN" dirty="0"/>
              <a:t>black sub-rectangle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2A17A-D6E6-6C8A-DFCA-DE97E968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66A1C33C-C29C-30DB-271D-60471D14CF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10515600" cy="4984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Cut out a rectangle from a given histogram shape such that the area is maximal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Input: a sequence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𝑚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column, the (non-negative) height of column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Consolas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Consolas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=1,2,…,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sym typeface="Consolas"/>
                      </a:rPr>
                      <m:t>𝑚</m:t>
                    </m:r>
                  </m:oMath>
                </a14:m>
                <a:endParaRPr lang="en-US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Border: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=−1,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Consolas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Consolas"/>
                      </a:rPr>
                      <m:t>=−1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</a:rPr>
                  <a:t>Data structures: for each column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66A1C33C-C29C-30DB-271D-60471D14C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10515600" cy="4984835"/>
              </a:xfrm>
              <a:prstGeom prst="rect">
                <a:avLst/>
              </a:prstGeom>
              <a:blipFill>
                <a:blip r:embed="rId2"/>
                <a:stretch>
                  <a:fillRect l="-483" t="-1777" r="-8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E02AB-3AA2-7C63-CE97-4CA34C50400E}"/>
                  </a:ext>
                </a:extLst>
              </p:cNvPr>
              <p:cNvSpPr txBox="1"/>
              <p:nvPr/>
            </p:nvSpPr>
            <p:spPr>
              <a:xfrm>
                <a:off x="1150294" y="3713010"/>
                <a:ext cx="63899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8" indent="-342900">
                  <a:buSzPct val="75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: the smallest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 </a:t>
                </a:r>
              </a:p>
              <a:p>
                <a:pPr marL="342900" lvl="8" indent="-342900">
                  <a:buSzPct val="75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: the highest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 </a:t>
                </a:r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8E02AB-3AA2-7C63-CE97-4CA34C504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294" y="3713010"/>
                <a:ext cx="6389987" cy="830997"/>
              </a:xfrm>
              <a:prstGeom prst="rect">
                <a:avLst/>
              </a:prstGeom>
              <a:blipFill>
                <a:blip r:embed="rId3"/>
                <a:stretch>
                  <a:fillRect l="-595" t="-7576" b="-151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7B9275-F73E-4B9D-DE1D-DA945591D38C}"/>
              </a:ext>
            </a:extLst>
          </p:cNvPr>
          <p:cNvCxnSpPr>
            <a:cxnSpLocks/>
          </p:cNvCxnSpPr>
          <p:nvPr/>
        </p:nvCxnSpPr>
        <p:spPr>
          <a:xfrm flipV="1">
            <a:off x="7708393" y="5009860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912CD5C-3316-175F-6A02-2E775484B875}"/>
              </a:ext>
            </a:extLst>
          </p:cNvPr>
          <p:cNvSpPr/>
          <p:nvPr/>
        </p:nvSpPr>
        <p:spPr>
          <a:xfrm>
            <a:off x="8056736" y="4008376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CF5D4-892A-7926-7B26-DAF3B7166F0B}"/>
              </a:ext>
            </a:extLst>
          </p:cNvPr>
          <p:cNvSpPr/>
          <p:nvPr/>
        </p:nvSpPr>
        <p:spPr>
          <a:xfrm>
            <a:off x="8437736" y="3616491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ADFC13-B48B-DD1C-B56E-FCF72EB84217}"/>
              </a:ext>
            </a:extLst>
          </p:cNvPr>
          <p:cNvSpPr/>
          <p:nvPr/>
        </p:nvSpPr>
        <p:spPr>
          <a:xfrm>
            <a:off x="8818736" y="2919805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8E99CB-E854-3AD1-E8B3-7A06AC7455BC}"/>
              </a:ext>
            </a:extLst>
          </p:cNvPr>
          <p:cNvSpPr/>
          <p:nvPr/>
        </p:nvSpPr>
        <p:spPr>
          <a:xfrm>
            <a:off x="9199736" y="3616491"/>
            <a:ext cx="381000" cy="13933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C716A-6AA0-C864-5682-4930E0AD8759}"/>
              </a:ext>
            </a:extLst>
          </p:cNvPr>
          <p:cNvSpPr/>
          <p:nvPr/>
        </p:nvSpPr>
        <p:spPr>
          <a:xfrm>
            <a:off x="9580736" y="3202842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E605E4-D6D6-3E8D-2F99-EB14533C75F7}"/>
              </a:ext>
            </a:extLst>
          </p:cNvPr>
          <p:cNvSpPr/>
          <p:nvPr/>
        </p:nvSpPr>
        <p:spPr>
          <a:xfrm>
            <a:off x="9961736" y="4411151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542563-A6A5-4E65-7DEB-7E5DD18A0094}"/>
              </a:ext>
            </a:extLst>
          </p:cNvPr>
          <p:cNvSpPr/>
          <p:nvPr/>
        </p:nvSpPr>
        <p:spPr>
          <a:xfrm>
            <a:off x="10348178" y="4008376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4AFD74-42FB-318F-7B7F-ADEF31BD74CF}"/>
              </a:ext>
            </a:extLst>
          </p:cNvPr>
          <p:cNvSpPr/>
          <p:nvPr/>
        </p:nvSpPr>
        <p:spPr>
          <a:xfrm>
            <a:off x="10729178" y="3616491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150027-B051-A2A2-93DD-22C41A799C54}"/>
              </a:ext>
            </a:extLst>
          </p:cNvPr>
          <p:cNvSpPr/>
          <p:nvPr/>
        </p:nvSpPr>
        <p:spPr>
          <a:xfrm>
            <a:off x="11110178" y="4411151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DFA7A6-A7E6-3E3E-ECEF-528F2CEDC3D5}"/>
              </a:ext>
            </a:extLst>
          </p:cNvPr>
          <p:cNvSpPr/>
          <p:nvPr/>
        </p:nvSpPr>
        <p:spPr>
          <a:xfrm>
            <a:off x="11491178" y="4008376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6F1C2-6230-2358-EE8B-D06B89AE9540}"/>
              </a:ext>
            </a:extLst>
          </p:cNvPr>
          <p:cNvSpPr txBox="1"/>
          <p:nvPr/>
        </p:nvSpPr>
        <p:spPr>
          <a:xfrm>
            <a:off x="8056735" y="5096948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369EE-7A12-4ECD-5D26-6F98A0E85650}"/>
              </a:ext>
            </a:extLst>
          </p:cNvPr>
          <p:cNvSpPr/>
          <p:nvPr/>
        </p:nvSpPr>
        <p:spPr>
          <a:xfrm>
            <a:off x="8437736" y="3616491"/>
            <a:ext cx="1524000" cy="1393369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1E385-348B-D961-6472-1ABECBE20E74}"/>
                  </a:ext>
                </a:extLst>
              </p:cNvPr>
              <p:cNvSpPr txBox="1"/>
              <p:nvPr/>
            </p:nvSpPr>
            <p:spPr>
              <a:xfrm>
                <a:off x="8797417" y="5744336"/>
                <a:ext cx="15666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Lato" panose="020F0502020204030203" pitchFamily="34" charset="0"/>
                  </a:rPr>
                  <a:t>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sz="20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1E385-348B-D961-6472-1ABECBE20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417" y="5744336"/>
                <a:ext cx="1566637" cy="400110"/>
              </a:xfrm>
              <a:prstGeom prst="rect">
                <a:avLst/>
              </a:prstGeom>
              <a:blipFill>
                <a:blip r:embed="rId4"/>
                <a:stretch>
                  <a:fillRect l="-4000" t="-9375" b="-28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16618B-CA57-2675-74DD-0CA14EBB1571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9272303" y="4661432"/>
            <a:ext cx="308433" cy="1082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D7FB0E-B992-D75F-BF3F-E985D505838E}"/>
                  </a:ext>
                </a:extLst>
              </p:cNvPr>
              <p:cNvSpPr txBox="1"/>
              <p:nvPr/>
            </p:nvSpPr>
            <p:spPr>
              <a:xfrm>
                <a:off x="10379016" y="5745605"/>
                <a:ext cx="15344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] = 6</m:t>
                      </m:r>
                    </m:oMath>
                  </m:oMathPara>
                </a14:m>
                <a:endParaRPr lang="en-US" sz="20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D7FB0E-B992-D75F-BF3F-E985D5058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016" y="5745605"/>
                <a:ext cx="1534433" cy="400110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D18F2E-010E-0E31-1E3D-B803E1556D34}"/>
              </a:ext>
            </a:extLst>
          </p:cNvPr>
          <p:cNvCxnSpPr>
            <a:cxnSpLocks/>
            <a:stCxn id="23" idx="0"/>
            <a:endCxn id="14" idx="2"/>
          </p:cNvCxnSpPr>
          <p:nvPr/>
        </p:nvCxnSpPr>
        <p:spPr>
          <a:xfrm flipH="1" flipV="1">
            <a:off x="10154957" y="5009862"/>
            <a:ext cx="991276" cy="735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246ED1-EE98-8691-593B-81009B8A6F13}"/>
                  </a:ext>
                </a:extLst>
              </p:cNvPr>
              <p:cNvSpPr txBox="1"/>
              <p:nvPr/>
            </p:nvSpPr>
            <p:spPr>
              <a:xfrm>
                <a:off x="7367315" y="5693772"/>
                <a:ext cx="14151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] = 1</m:t>
                      </m:r>
                    </m:oMath>
                  </m:oMathPara>
                </a14:m>
                <a:endParaRPr lang="en-US" sz="20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246ED1-EE98-8691-593B-81009B8A6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315" y="5693772"/>
                <a:ext cx="1415140" cy="4001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05BA3E-1C4C-BCA5-E14E-E01B0AC71AA1}"/>
              </a:ext>
            </a:extLst>
          </p:cNvPr>
          <p:cNvCxnSpPr>
            <a:cxnSpLocks/>
            <a:stCxn id="25" idx="0"/>
            <a:endCxn id="9" idx="2"/>
          </p:cNvCxnSpPr>
          <p:nvPr/>
        </p:nvCxnSpPr>
        <p:spPr>
          <a:xfrm flipV="1">
            <a:off x="8074885" y="5009862"/>
            <a:ext cx="172351" cy="683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36D07-2592-F839-3581-BADEF311250C}"/>
                  </a:ext>
                </a:extLst>
              </p:cNvPr>
              <p:cNvSpPr txBox="1"/>
              <p:nvPr/>
            </p:nvSpPr>
            <p:spPr>
              <a:xfrm>
                <a:off x="838200" y="4544007"/>
                <a:ext cx="67477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75000"/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</a:rPr>
                  <a:t>Area of the largest rectangle obtained by expanding (both left and right directions) from column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</a:rPr>
                  <a:t> is: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36D07-2592-F839-3581-BADEF3112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4007"/>
                <a:ext cx="6747734" cy="1200329"/>
              </a:xfrm>
              <a:prstGeom prst="rect">
                <a:avLst/>
              </a:prstGeom>
              <a:blipFill>
                <a:blip r:embed="rId7"/>
                <a:stretch>
                  <a:fillRect l="-752" t="-4167" r="-1316" b="-1041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72E680-3911-3053-C220-97A4C8EA6602}"/>
                  </a:ext>
                </a:extLst>
              </p:cNvPr>
              <p:cNvSpPr txBox="1"/>
              <p:nvPr/>
            </p:nvSpPr>
            <p:spPr>
              <a:xfrm>
                <a:off x="2742476" y="5735181"/>
                <a:ext cx="32056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]∗(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] –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] – 1)</m:t>
                      </m:r>
                    </m:oMath>
                  </m:oMathPara>
                </a14:m>
                <a:endParaRPr lang="pt-BR" sz="24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72E680-3911-3053-C220-97A4C8EA6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476" y="5735181"/>
                <a:ext cx="3205621" cy="461665"/>
              </a:xfrm>
              <a:prstGeom prst="rect">
                <a:avLst/>
              </a:prstGeom>
              <a:blipFill>
                <a:blip r:embed="rId8"/>
                <a:stretch>
                  <a:fillRect l="-791" b="-1842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26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07A92530-1325-BDCA-81A0-DE222186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CD0FD2-5705-BDC4-F234-D0EE013E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79006-8F19-8C1A-0A02-B0653761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ea typeface="Lato" panose="020F0502020204030203" pitchFamily="34" charset="0"/>
                <a:cs typeface="Lato" panose="020F0502020204030203" pitchFamily="34" charset="0"/>
              </a:rPr>
              <a:t>9</a:t>
            </a:fld>
            <a:endParaRPr lang="en-US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ABD195CF-F237-7929-4965-F18BF93DEA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Explore columns from left to right, maintain a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containing indices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of columns waiting for the computation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endParaRPr lang="en-US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ABD195CF-F237-7929-4965-F18BF93DE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blipFill>
                <a:blip r:embed="rId3"/>
                <a:stretch>
                  <a:fillRect l="-783" t="-1777" r="-15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E01710-C60D-CB89-92E1-33BBAB35FBA9}"/>
              </a:ext>
            </a:extLst>
          </p:cNvPr>
          <p:cNvCxnSpPr>
            <a:cxnSpLocks/>
          </p:cNvCxnSpPr>
          <p:nvPr/>
        </p:nvCxnSpPr>
        <p:spPr>
          <a:xfrm flipV="1">
            <a:off x="7424057" y="3243941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AB3D68-FE9B-DEE0-443A-F679DD832812}"/>
              </a:ext>
            </a:extLst>
          </p:cNvPr>
          <p:cNvSpPr/>
          <p:nvPr/>
        </p:nvSpPr>
        <p:spPr>
          <a:xfrm>
            <a:off x="7772400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A2FEC-70D8-4019-89D9-47D4F0FFF050}"/>
              </a:ext>
            </a:extLst>
          </p:cNvPr>
          <p:cNvSpPr/>
          <p:nvPr/>
        </p:nvSpPr>
        <p:spPr>
          <a:xfrm>
            <a:off x="8153400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DB27B0-A7B6-3C08-5801-BE98B7E3E11E}"/>
              </a:ext>
            </a:extLst>
          </p:cNvPr>
          <p:cNvSpPr/>
          <p:nvPr/>
        </p:nvSpPr>
        <p:spPr>
          <a:xfrm>
            <a:off x="8534400" y="1153886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55E85-3265-0CA2-8EA5-A1EFC97E8155}"/>
              </a:ext>
            </a:extLst>
          </p:cNvPr>
          <p:cNvSpPr/>
          <p:nvPr/>
        </p:nvSpPr>
        <p:spPr>
          <a:xfrm>
            <a:off x="8915400" y="1850572"/>
            <a:ext cx="381000" cy="13933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09600-A2DF-0F6C-D222-E4E9D39A0632}"/>
              </a:ext>
            </a:extLst>
          </p:cNvPr>
          <p:cNvSpPr/>
          <p:nvPr/>
        </p:nvSpPr>
        <p:spPr>
          <a:xfrm>
            <a:off x="9296400" y="1436923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AC7D4C-953E-9A6D-F89A-387EA162F1F2}"/>
              </a:ext>
            </a:extLst>
          </p:cNvPr>
          <p:cNvSpPr/>
          <p:nvPr/>
        </p:nvSpPr>
        <p:spPr>
          <a:xfrm>
            <a:off x="9677400" y="2645232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FEFEE-4CF4-1BC1-32C5-DDDBF06C948B}"/>
              </a:ext>
            </a:extLst>
          </p:cNvPr>
          <p:cNvSpPr/>
          <p:nvPr/>
        </p:nvSpPr>
        <p:spPr>
          <a:xfrm>
            <a:off x="10063842" y="2242457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69705-8F25-156F-E9C1-E68871A89412}"/>
              </a:ext>
            </a:extLst>
          </p:cNvPr>
          <p:cNvSpPr/>
          <p:nvPr/>
        </p:nvSpPr>
        <p:spPr>
          <a:xfrm>
            <a:off x="10444842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9770A4-6C96-5F7C-D9BB-965C00FC8200}"/>
              </a:ext>
            </a:extLst>
          </p:cNvPr>
          <p:cNvSpPr/>
          <p:nvPr/>
        </p:nvSpPr>
        <p:spPr>
          <a:xfrm>
            <a:off x="10825842" y="2645232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72EB88-A30C-5F52-642E-13C09F66C8E1}"/>
              </a:ext>
            </a:extLst>
          </p:cNvPr>
          <p:cNvSpPr/>
          <p:nvPr/>
        </p:nvSpPr>
        <p:spPr>
          <a:xfrm>
            <a:off x="11206842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1ACD1F-3CB7-6232-7CC8-5F722E20389F}"/>
              </a:ext>
            </a:extLst>
          </p:cNvPr>
          <p:cNvSpPr txBox="1"/>
          <p:nvPr/>
        </p:nvSpPr>
        <p:spPr>
          <a:xfrm>
            <a:off x="7772399" y="3331029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73F13D-47AE-0BCA-71C3-0BCB76C13B4D}"/>
              </a:ext>
            </a:extLst>
          </p:cNvPr>
          <p:cNvSpPr/>
          <p:nvPr/>
        </p:nvSpPr>
        <p:spPr>
          <a:xfrm>
            <a:off x="8153400" y="1850572"/>
            <a:ext cx="1524000" cy="1393369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E502EBDC-FFE6-9796-C675-A0AF2AC2200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8591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311F325E-BF02-E48F-9564-09482405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607C60-09A8-38C4-8132-065ABB3F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5E70-632A-84B7-575D-04E2A0A6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4078731-E963-7B93-A390-09BC944084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4078731-E963-7B93-A390-09BC94408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2D69BD-2135-4050-D361-64A3F79F98DF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E06476F-FF04-E4D9-2E35-7522D89C4FF9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9209-47DC-5AC8-5212-5FC354929060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204A7-035F-661F-EF45-02939BE3A447}"/>
              </a:ext>
            </a:extLst>
          </p:cNvPr>
          <p:cNvSpPr/>
          <p:nvPr/>
        </p:nvSpPr>
        <p:spPr>
          <a:xfrm>
            <a:off x="3258312" y="3588653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D7FF98-73F9-3AA9-D04D-A2C239541828}"/>
              </a:ext>
            </a:extLst>
          </p:cNvPr>
          <p:cNvSpPr/>
          <p:nvPr/>
        </p:nvSpPr>
        <p:spPr>
          <a:xfrm>
            <a:off x="3639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829226-30EE-668F-6DEB-0858732CCE4F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3510D-31A3-579C-D4A5-A6DA5F6264B6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55677-1BC1-6992-D4E7-7D04019D3AA9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5EBF9-0A6E-FFAE-2653-199EBDB546B9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839039-7928-3647-EFCB-C751944344EA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D2CA01-20C1-5B34-54E8-502D591BA531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F8524D-E705-4ED7-E410-54DFB37E0D97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8B3B0F-940C-9682-A814-D00E033971D6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054C515-31DD-4B3F-8AC5-F41E1C47ECBE}"/>
              </a:ext>
            </a:extLst>
          </p:cNvPr>
          <p:cNvCxnSpPr>
            <a:cxnSpLocks/>
          </p:cNvCxnSpPr>
          <p:nvPr/>
        </p:nvCxnSpPr>
        <p:spPr>
          <a:xfrm flipV="1">
            <a:off x="263956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4">
            <a:extLst>
              <a:ext uri="{FF2B5EF4-FFF2-40B4-BE49-F238E27FC236}">
                <a16:creationId xmlns:a16="http://schemas.microsoft.com/office/drawing/2014/main" id="{0E3B53F0-73F6-AFD7-E49D-E2FBFFB35D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120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2AFE30EF-9E69-FF80-DFEF-FA42578E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A77033-EB62-BB80-E44C-D3622D42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B4DD4-0133-EE56-3F92-3AB31283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65CAD4F-85CE-4F42-CC6D-E72378CA15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65CAD4F-85CE-4F42-CC6D-E72378CA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7A1DFB0-5EEB-CA65-3598-68D5A0B631EA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DDE7068-9290-B7DC-6A58-A13D97445141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870DE-A4E7-7F42-2574-F7CF05B7AFB3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6AEFF-E646-B804-EF41-B56FF39E3914}"/>
              </a:ext>
            </a:extLst>
          </p:cNvPr>
          <p:cNvSpPr/>
          <p:nvPr/>
        </p:nvSpPr>
        <p:spPr>
          <a:xfrm>
            <a:off x="3258312" y="3588653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8261B-4D78-3655-895D-63A18B374D74}"/>
              </a:ext>
            </a:extLst>
          </p:cNvPr>
          <p:cNvSpPr/>
          <p:nvPr/>
        </p:nvSpPr>
        <p:spPr>
          <a:xfrm>
            <a:off x="3639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C46450-B63A-1C88-C31C-56A4BF5076B3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95CB7-F034-25EA-9F1D-6D18291EBDFC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C8E53-A26B-F1BF-8F8A-2F72198D8C64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257B0-3D27-742F-572A-4C7B5CCE4F2C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390116-9A3C-84D7-42EC-945804FBDD0D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FA39BA-007E-54D7-71F8-B7C128CAEA48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E62584-AF15-2A02-1D0E-D53AD9CB95A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8878CA-5841-FEEC-3CC2-156878AAB2D5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25349A-20B5-0D0C-30D5-A20EDB14CCDB}"/>
              </a:ext>
            </a:extLst>
          </p:cNvPr>
          <p:cNvCxnSpPr>
            <a:cxnSpLocks/>
          </p:cNvCxnSpPr>
          <p:nvPr/>
        </p:nvCxnSpPr>
        <p:spPr>
          <a:xfrm flipV="1">
            <a:off x="263956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FC25104-32EE-88AF-8D41-37D61043F8BC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FE6E09EC-F303-6473-A6BE-8A795EA625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457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ADFD27AE-ED20-BA14-CD3B-1885D638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7C5B47-34C9-47E4-7E47-7B421551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16232-F6D4-0F1C-600E-AAB18E51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D3337D4-6713-5E0D-C5D5-0043F84F2E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BD3337D4-6713-5E0D-C5D5-0043F84F2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8CE0D9-3F4B-6DDC-A70B-7648683966FA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87F1D15-9214-C68D-3E05-6BACECF628BF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DDBF8-6E14-B337-7D90-D866891EE7CA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0BE24-B11D-E8A8-EF07-43D7B3838CE6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005ABD-5726-4DA4-B961-154420EEE9CB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03CB53-0F70-65A7-48E3-C7B9456FF621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41B909-F416-5DA9-C81F-41D789B5CAB7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57556D-0583-09AE-0B4D-8C3F64313C20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015F8-889A-F126-5EC5-582ADD7369A2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8D716-851C-F66A-FFAB-9EAA57A8FB34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FEDAA-48F0-6D54-C678-BD1D79559049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6EE73C-8329-8D00-A857-B2D3E12C383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470490-B86A-98C8-6968-958219D8A3D8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7AE21DA-6B49-CAA7-8036-7AB259981FDB}"/>
              </a:ext>
            </a:extLst>
          </p:cNvPr>
          <p:cNvCxnSpPr>
            <a:cxnSpLocks/>
          </p:cNvCxnSpPr>
          <p:nvPr/>
        </p:nvCxnSpPr>
        <p:spPr>
          <a:xfrm flipV="1">
            <a:off x="3041904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70DFA39-7DE0-DCC8-5EB2-B47478137A8B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84F154-52F0-49D1-92CB-AF6143ECA6BA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2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7C76A5F2-A657-8F44-05E9-B18537E8D8C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17150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BB3B9DC5-9601-577B-9191-4CD7CD09D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9DA016-EEDB-71F5-5325-6C83A14B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A5EC4-5172-616F-3F6C-5FC7046D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53C54DD2-8E6C-AA1B-59AD-31CA31BFD4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53C54DD2-8E6C-AA1B-59AD-31CA31BFD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E36070B-8357-AD24-77E8-04591A6E0168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0C4AA87-06C2-87EB-E752-60013EF69103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0B0D22-5FA6-C7A4-68F8-26F8F4C5D269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119A0B-0351-289B-33A1-4C4BF08DD8BD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4D6093-E8AD-9872-177C-5F81552DDB0F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AF70E-F39F-B8CA-F074-F75F19BF1019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718A0-9580-257D-217B-A4A9962BF862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A12F5-6909-8037-E617-F02349E4583D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2A5A2B-E1BA-8426-A0EA-A1D1017CE2E0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C1DDF9-8FA8-ECD7-07D7-A0EA2DEA01C5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AC520-E5EE-555D-C329-D442AEEA55E6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04F8FF-0906-964A-6A0B-74CE9D5A1B30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D73E2E1-AAB8-2EEF-ED9A-008E8D087DDA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CE73D9-0CB2-CB9D-7228-D68020077B4B}"/>
              </a:ext>
            </a:extLst>
          </p:cNvPr>
          <p:cNvCxnSpPr>
            <a:cxnSpLocks/>
          </p:cNvCxnSpPr>
          <p:nvPr/>
        </p:nvCxnSpPr>
        <p:spPr>
          <a:xfrm flipV="1">
            <a:off x="341680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F00DA45-D0C3-8A0D-5811-C86E896E4545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E9ADC-B9AB-BC21-CF44-3FC7BE13A39B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2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81053478-AE7E-5F46-D1AE-A58A423AA96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39089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1B00B297-6171-1B33-1391-BEF0653C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86F493-607D-3107-6BD9-F2574B45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C702F-E7D6-B2A9-AFA6-9AFA8B378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A1D0C54-B121-7513-7971-6AF0553E62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A1D0C54-B121-7513-7971-6AF0553E6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5EFE26-8E94-E39F-40D2-387938711681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9C43EAE-B2D2-15CD-CF95-784BCA24DCA5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EC84B-EEC1-4274-8D51-ED003E340BAE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D63FA-0F37-C32F-DF63-C27EC292CC54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5CC59-9031-F966-4192-F7068C08C687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5B28E9-5A77-77A2-1C3F-27F01E37471A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329835-BFA0-8A11-5FC6-B367010E3FEE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C55753-E133-8A2F-0D24-6012B61971E4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68987-427D-D9A3-497F-B7F572CF88FD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7A0E58-5A5C-D6F5-E604-268AF80BA9D1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877D3C-A5FA-E77D-67EF-ACD8238465B4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8D817C-9341-344D-D00E-A5A3EEA6F1E7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A9CD8D-C7FB-9609-AA1A-12C6419428EE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6684A2-ECB7-7D88-3D9A-600161D5CA13}"/>
              </a:ext>
            </a:extLst>
          </p:cNvPr>
          <p:cNvCxnSpPr>
            <a:cxnSpLocks/>
          </p:cNvCxnSpPr>
          <p:nvPr/>
        </p:nvCxnSpPr>
        <p:spPr>
          <a:xfrm flipV="1">
            <a:off x="3435096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7B4F16A-E008-DA36-6A1F-FC40BD6B4342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1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D4277-1ACF-7AF3-D8C9-443AA566F95C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D4277-1ACF-7AF3-D8C9-443AA566F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4">
            <a:extLst>
              <a:ext uri="{FF2B5EF4-FFF2-40B4-BE49-F238E27FC236}">
                <a16:creationId xmlns:a16="http://schemas.microsoft.com/office/drawing/2014/main" id="{70881EE0-AE76-2798-5510-971ACAB020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3130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8EF2F77D-30D8-0242-6A3F-DB0DF40F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BDDD66-B476-1AAF-F9F3-0B138952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14FE7-AC6A-7432-9935-B61926E5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82B2D8EA-53FF-249B-6F4B-AF79F8D22E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82B2D8EA-53FF-249B-6F4B-AF79F8D22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25778D-85F4-4121-C8BA-48DC4FE141FE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DE2B8AA-C269-68F0-41A4-2BDD9C354153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ADC05-E9A5-AC66-D2E3-8282D2095A05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5B0E3-DC1D-F28F-5F8C-64381CAF17C6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40702-1197-19E6-9CE4-C9409C850C3F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C7841-4243-A893-E188-6F1B375CB962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95425F-A966-B313-709A-1B45B4732C77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28017-D693-2E81-CF0E-F9F2FF88184F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8CF8C4-463A-9B40-671A-D4FF1429ED2B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C87D62-1A3C-8B9A-02E2-6B3FC89E493D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146164-3023-EAE5-F38F-AD6498749F2E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DF8E8-947E-F469-5711-191099B8C483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E4A480-F0CE-CFCB-6004-7EFE09B92D00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6EA8C84-E807-594B-A60E-5954D9B14A4D}"/>
              </a:ext>
            </a:extLst>
          </p:cNvPr>
          <p:cNvCxnSpPr>
            <a:cxnSpLocks/>
          </p:cNvCxnSpPr>
          <p:nvPr/>
        </p:nvCxnSpPr>
        <p:spPr>
          <a:xfrm flipV="1">
            <a:off x="3435096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C7F407-CAB1-0E35-14F3-596C4F7F60A4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C7F407-CAB1-0E35-14F3-596C4F7F6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4">
            <a:extLst>
              <a:ext uri="{FF2B5EF4-FFF2-40B4-BE49-F238E27FC236}">
                <a16:creationId xmlns:a16="http://schemas.microsoft.com/office/drawing/2014/main" id="{1D998C75-2285-385A-6685-E24E4CCC47F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70763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C5DFAC30-F5AC-F350-33DF-5D6B8370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7A26CD-9840-E9A7-BFB1-559451CA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BD91A-15C5-BF67-6F7D-0701268E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93022C2-C5C2-D7ED-8C40-DA54318EF3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E93022C2-C5C2-D7ED-8C40-DA54318EF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AEB796-E313-69A6-13ED-4693EBD3354A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CE94AD1-54A5-D3FC-03E3-903C95990957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7F6089-D9BF-78C9-2D8F-6FB0DBD95BC3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731446-7ABC-FDC6-8F9B-7DDB51F9DDE1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8AC1CD-6023-EF6C-62AA-964F45020205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647C1-F169-69B7-5D92-BC2F93E83D08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BA6A2B-DE79-8A87-0521-000B8070A5A3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F1206-D188-8D5B-95E8-086094F097C0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21EB90-3587-0D21-1E89-6D7BA788C689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D9C1E-2F7B-4799-EC77-720DEF8D783B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713C34-7F43-F400-988E-46C5F266B1F3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963B3A-9B4A-4E42-1258-A1E986973577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DDC830E-E241-059C-61C2-07AF2CE06211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B78D01-CD31-2251-5A52-9B612AB5D68F}"/>
              </a:ext>
            </a:extLst>
          </p:cNvPr>
          <p:cNvCxnSpPr>
            <a:cxnSpLocks/>
          </p:cNvCxnSpPr>
          <p:nvPr/>
        </p:nvCxnSpPr>
        <p:spPr>
          <a:xfrm flipV="1">
            <a:off x="3435096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5BBC029-B3CC-5562-D195-92F318ED5EDA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F17959-1CB0-7036-432F-057F0FC06AA1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F17959-1CB0-7036-432F-057F0FC06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4">
            <a:extLst>
              <a:ext uri="{FF2B5EF4-FFF2-40B4-BE49-F238E27FC236}">
                <a16:creationId xmlns:a16="http://schemas.microsoft.com/office/drawing/2014/main" id="{3DC3F654-ACEC-FF5A-0E15-E9F96797018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9916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5D1DDFC5-06A4-0535-2447-0EE94C0C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844694-0B98-0301-E318-C06D7F18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F526A-2BAA-5D26-7230-A73A82F8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D8D31D10-554C-5CAE-20CE-33C61B65E7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D8D31D10-554C-5CAE-20CE-33C61B65E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B31A913-BD19-19C7-BAFE-B239DF8691AF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E924E5F-D158-89C5-7010-85E6D487956C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6CA112-967C-6F4F-B496-57DF5942723A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8FCA5-D4FA-F286-A796-A53D5F4F24E4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5C6F6-D8DE-38BA-9914-5B07A0137F96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3F06F9-7BEC-0A52-68C5-ED619EB345EE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30EFD3-75A2-B86B-A792-31FCF38331DA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4EA72-5DD7-F514-CA38-2CF47F5C3C6B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9CE389-50D3-0B3C-DEA0-96CCF9F0A004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3B85B-99A6-3430-9340-361BD59B08EC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24E5CC-291F-4E37-FA1D-DD94A5F12231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003FC-3FB9-A019-FBD1-306E7D8DB4C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CBBCDA-19D9-4D2D-F1BD-B3EE20682535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699A0A8-45F2-852C-E279-55569905B421}"/>
              </a:ext>
            </a:extLst>
          </p:cNvPr>
          <p:cNvCxnSpPr>
            <a:cxnSpLocks/>
          </p:cNvCxnSpPr>
          <p:nvPr/>
        </p:nvCxnSpPr>
        <p:spPr>
          <a:xfrm flipV="1">
            <a:off x="3828288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6A5E6A9-37C0-95E4-C27A-CB5B4B7383E6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C1975-365D-D3C6-A8E4-9E2DCC855D63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C1975-365D-D3C6-A8E4-9E2DCC855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0F3773C-3225-BCF4-84AB-5C056FA7D565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3AD4A93E-3B31-8079-57A7-9D88562F1C8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53301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8BEAA466-8A3F-9D4E-BB42-2F883F43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7AFAFF-E9F5-FFED-06D4-91603F16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15851-13F4-7C65-B433-6C96D2A6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C03BF52-DF11-69D5-FB0F-95C66A52F8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C03BF52-DF11-69D5-FB0F-95C66A52F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722EF0-26CD-4383-8B97-76B9A1878170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4D9081C-7B30-2DB5-4232-F8D0E7AECB8F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D69BE-EC49-1CD6-9FAE-B3ADB8AC6164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4F440-0F27-7F14-260C-39191C659B49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4D95EC-954C-B70E-60CB-53ED74DE6397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982D0-D802-945B-BEC0-BB6F3525ACA3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E46E4D-5ACB-6ECF-A135-C20222DE8AC2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47B3E-6EEA-A802-51E9-FDA1F514A5E8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20BECA-D2EA-A419-604C-E27D2452705F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E8684-9E76-C7B3-82B2-78D1928AC22F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FEA103-B20B-FED5-0F5D-4CF76AFEE267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6D3AC4-8B42-BA59-21A9-27AB35F7D9A6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702D432-52CF-2AE8-0750-E4A13DC9E0D2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7AB091-3496-C689-27A5-E7E3D36701A8}"/>
              </a:ext>
            </a:extLst>
          </p:cNvPr>
          <p:cNvCxnSpPr>
            <a:cxnSpLocks/>
          </p:cNvCxnSpPr>
          <p:nvPr/>
        </p:nvCxnSpPr>
        <p:spPr>
          <a:xfrm flipV="1">
            <a:off x="4157472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B647D10-7217-B06B-3593-639065FDF8FF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B65374-39DC-996E-5BA3-695BDEF6D67A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B65374-39DC-996E-5BA3-695BDEF6D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4723EBF8-3ED3-0D70-AB8E-95EB2DA67239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28034F-D6F0-B844-4BF9-238C2BE8E1B1}"/>
              </a:ext>
            </a:extLst>
          </p:cNvPr>
          <p:cNvSpPr/>
          <p:nvPr/>
        </p:nvSpPr>
        <p:spPr>
          <a:xfrm>
            <a:off x="7493506" y="4049776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5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403D5353-342B-6CEC-827C-754727EC5BE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998892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F995DEA5-8444-1E5D-0171-513E32C4B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5DE68B-B1BC-71F9-D349-CD4AA8C2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36D82-F772-52DE-749C-B9B85B0F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D8C987E-CD13-45C4-5B97-48F2C0CEB6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2D8C987E-CD13-45C4-5B97-48F2C0CE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014403-6624-FF2C-C382-92B14B0E9C84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E70C0D1-594D-93C2-B112-42CA451FFD55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D8183B-C4FD-6B34-825C-64D5455DAD76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796BD-C631-5C90-A306-E1024ADE5FF9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7C5B8A-C5F2-0E20-39C1-816A7AF49900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38E164-620D-AF36-C76F-280DDB11C281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EDD49-FA6E-CECC-F4E2-9A1DB18E6EC0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02CE2B-2579-B49B-3E9D-1FF769C3020D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C8D97-3473-4E56-192B-4449E42670BA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95B1B-200E-7FD1-5D20-36B19296AD30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1F49F-CEDA-A0FF-A763-0AECEE917655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7478D-8451-76AE-E78F-3B4FEAB91088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629F211-E24F-4C6F-D0FE-7EA0E202CBE3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08FAEB2-BFCB-F7C3-3E4A-1E08ED688C2A}"/>
              </a:ext>
            </a:extLst>
          </p:cNvPr>
          <p:cNvCxnSpPr>
            <a:cxnSpLocks/>
          </p:cNvCxnSpPr>
          <p:nvPr/>
        </p:nvCxnSpPr>
        <p:spPr>
          <a:xfrm flipV="1">
            <a:off x="4587240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4D522D6-2E32-3D22-1510-D984BDA2AF18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26D672-42A1-E27E-FF41-8F61F950CDDC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26D672-42A1-E27E-FF41-8F61F950C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E1C6933-8A8E-E44F-4F87-042E252B5273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523B02-183E-E208-9DAC-232412E13B75}"/>
              </a:ext>
            </a:extLst>
          </p:cNvPr>
          <p:cNvSpPr/>
          <p:nvPr/>
        </p:nvSpPr>
        <p:spPr>
          <a:xfrm>
            <a:off x="7493506" y="4049776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5</a:t>
            </a:r>
            <a:endParaRPr lang="vi-VN" sz="2400" b="1" dirty="0">
              <a:solidFill>
                <a:srgbClr val="C00000"/>
              </a:solidFill>
            </a:endParaRP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B8F2CFDA-DD07-C667-6093-E2CA3611B4C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380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7670720D-1F23-C160-89C0-EFDBB78B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77A635-D81C-00EA-0C59-9D989E35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0C66F-90D1-A046-16AC-36A9C555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B54E6F4-5F15-7AB9-AABA-D3E473BAD9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FB54E6F4-5F15-7AB9-AABA-D3E473BAD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40F673A-79DA-43E8-EBA1-60D9B93A620C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044AAB4-2DD8-CE8D-E69D-AA4EB790F061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2157B-DAE0-8CD6-070A-CCFBDA489A8E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5F5E6-F003-F95E-8A18-427342AE9237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B38FB5-8411-4FF1-D74F-C19F35C4A78A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EDD92A-A1B6-C635-8D73-6DF5A87E1B30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50BC5B-8FEF-CCFA-28C7-5D989FD450F0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1CBF2-169C-BCCC-48BD-105527647ECA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E44F2-FFC9-3089-4DB2-B32C3C73F8CA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18EB1-F31B-20E9-2F14-861A28E8B857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E94728-0A2E-8C1F-2FE0-3BE8DF831DC8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73BDB8-9AB2-1B7C-6E52-087F47B5A409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DF40999-6777-1916-0843-62DE2B61F31F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081388-EB47-1D3C-4E3A-517DE64CB90F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16D741-9671-6AD5-7CB3-A5F410701280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16D741-9671-6AD5-7CB3-A5F410701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6B107154-56AB-D2BC-83C2-82C029A81864}"/>
              </a:ext>
            </a:extLst>
          </p:cNvPr>
          <p:cNvSpPr/>
          <p:nvPr/>
        </p:nvSpPr>
        <p:spPr>
          <a:xfrm>
            <a:off x="7493506" y="4563289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4</a:t>
            </a:r>
            <a:endParaRPr lang="vi-VN" sz="2400" b="1" dirty="0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810C40-E825-3408-CC6A-B516F4802845}"/>
              </a:ext>
            </a:extLst>
          </p:cNvPr>
          <p:cNvCxnSpPr>
            <a:cxnSpLocks/>
          </p:cNvCxnSpPr>
          <p:nvPr/>
        </p:nvCxnSpPr>
        <p:spPr>
          <a:xfrm flipV="1">
            <a:off x="4587240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4">
            <a:extLst>
              <a:ext uri="{FF2B5EF4-FFF2-40B4-BE49-F238E27FC236}">
                <a16:creationId xmlns:a16="http://schemas.microsoft.com/office/drawing/2014/main" id="{E3E02BF6-CC7D-26D1-4447-0EE5DD1CF67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9721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6EF39C1D-DFAE-7F4D-70B2-E278F2B6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69C808-8EFD-0766-2371-2DD08121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61800-3DAB-5D66-CAC4-2B571C86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37D293BB-818C-1B60-5AB1-0821F99D1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 </a:t>
                </a:r>
              </a:p>
              <a:p>
                <a:pPr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:</a:t>
                </a:r>
              </a:p>
              <a:p>
                <a:pPr marL="1143000" lvl="1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Lato" panose="020F0502020204030203" pitchFamily="34" charset="0"/>
                    <a:sym typeface="Consolas"/>
                  </a:rPr>
                  <a:t>while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Consolas"/>
                      </a:rPr>
                      <m:t>] </m:t>
                    </m:r>
                  </m:oMath>
                </a14:m>
                <a:r>
                  <a:rPr lang="en-US" dirty="0">
                    <a:latin typeface="Lato" panose="020F0502020204030203" pitchFamily="34" charset="0"/>
                    <a:sym typeface="Consolas"/>
                  </a:rPr>
                  <a:t>do</a:t>
                </a:r>
              </a:p>
              <a:p>
                <a:pPr marL="155448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.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𝑡𝑜𝑝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)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6002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[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sym typeface="Consolas"/>
                      </a:rPr>
                      <m:t>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 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1143000" lvl="2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Push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𝑗</m:t>
                    </m:r>
                  </m:oMath>
                </a14:m>
                <a:r>
                  <a:rPr lang="en-US" sz="2400" dirty="0">
                    <a:latin typeface="Lato" panose="020F0502020204030203" pitchFamily="34" charset="0"/>
                    <a:sym typeface="Consolas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Consolas"/>
                      </a:rPr>
                      <m:t>𝑆</m:t>
                    </m:r>
                  </m:oMath>
                </a14:m>
                <a:endParaRPr lang="en-US" sz="2400" dirty="0">
                  <a:latin typeface="Lato" panose="020F0502020204030203" pitchFamily="34" charset="0"/>
                  <a:sym typeface="Consolas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37D293BB-818C-1B60-5AB1-0821F99D1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2090055"/>
              </a:xfrm>
              <a:prstGeom prst="rect">
                <a:avLst/>
              </a:prstGeom>
              <a:blipFill>
                <a:blip r:embed="rId3"/>
                <a:stretch>
                  <a:fillRect l="-783" t="-54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2DD6BD0-BB10-9FA1-2E9E-3B3C71432BAD}"/>
              </a:ext>
            </a:extLst>
          </p:cNvPr>
          <p:cNvCxnSpPr>
            <a:cxnSpLocks/>
          </p:cNvCxnSpPr>
          <p:nvPr/>
        </p:nvCxnSpPr>
        <p:spPr>
          <a:xfrm flipV="1">
            <a:off x="2147969" y="5678708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DE6B04E-0A04-B02F-D670-A74C64809945}"/>
              </a:ext>
            </a:extLst>
          </p:cNvPr>
          <p:cNvSpPr/>
          <p:nvPr/>
        </p:nvSpPr>
        <p:spPr>
          <a:xfrm>
            <a:off x="2496312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2DB854-CD49-8D7E-A6F2-65887DD9B739}"/>
              </a:ext>
            </a:extLst>
          </p:cNvPr>
          <p:cNvSpPr/>
          <p:nvPr/>
        </p:nvSpPr>
        <p:spPr>
          <a:xfrm>
            <a:off x="2877312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D76141-878F-431C-4866-E833ED00917B}"/>
              </a:ext>
            </a:extLst>
          </p:cNvPr>
          <p:cNvSpPr/>
          <p:nvPr/>
        </p:nvSpPr>
        <p:spPr>
          <a:xfrm>
            <a:off x="3258312" y="4892044"/>
            <a:ext cx="381000" cy="7866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414302-8247-F75F-029C-D84E3E0CDAB0}"/>
              </a:ext>
            </a:extLst>
          </p:cNvPr>
          <p:cNvSpPr/>
          <p:nvPr/>
        </p:nvSpPr>
        <p:spPr>
          <a:xfrm>
            <a:off x="3639312" y="4462272"/>
            <a:ext cx="381000" cy="12164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913DE-EF99-0C2E-31C9-7335679E601C}"/>
              </a:ext>
            </a:extLst>
          </p:cNvPr>
          <p:cNvSpPr/>
          <p:nvPr/>
        </p:nvSpPr>
        <p:spPr>
          <a:xfrm>
            <a:off x="4020312" y="3871690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72C7E-0A03-E086-BEBE-D7BCF79894E7}"/>
              </a:ext>
            </a:extLst>
          </p:cNvPr>
          <p:cNvSpPr/>
          <p:nvPr/>
        </p:nvSpPr>
        <p:spPr>
          <a:xfrm>
            <a:off x="4401312" y="5079999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C5ED9B-FAFE-1511-A7F0-0A79A67AFD11}"/>
              </a:ext>
            </a:extLst>
          </p:cNvPr>
          <p:cNvSpPr/>
          <p:nvPr/>
        </p:nvSpPr>
        <p:spPr>
          <a:xfrm>
            <a:off x="4787754" y="4677224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C7041-3B9B-4F92-BE4E-A461C6100ED0}"/>
              </a:ext>
            </a:extLst>
          </p:cNvPr>
          <p:cNvSpPr/>
          <p:nvPr/>
        </p:nvSpPr>
        <p:spPr>
          <a:xfrm>
            <a:off x="5168754" y="4285339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C0BCD8-438B-30D1-3C5A-A3F33B6F043B}"/>
              </a:ext>
            </a:extLst>
          </p:cNvPr>
          <p:cNvSpPr/>
          <p:nvPr/>
        </p:nvSpPr>
        <p:spPr>
          <a:xfrm>
            <a:off x="5549754" y="5079999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F0FA95-E228-9724-7E46-B87E0A39F081}"/>
              </a:ext>
            </a:extLst>
          </p:cNvPr>
          <p:cNvSpPr/>
          <p:nvPr/>
        </p:nvSpPr>
        <p:spPr>
          <a:xfrm>
            <a:off x="5930754" y="4677224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50D1B1-39D1-C18F-E318-72F2758F74F0}"/>
              </a:ext>
            </a:extLst>
          </p:cNvPr>
          <p:cNvSpPr txBox="1"/>
          <p:nvPr/>
        </p:nvSpPr>
        <p:spPr>
          <a:xfrm>
            <a:off x="2496311" y="5765796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CDF6AF3-B4B6-85E0-791C-AA9CD16B6A60}"/>
              </a:ext>
            </a:extLst>
          </p:cNvPr>
          <p:cNvSpPr/>
          <p:nvPr/>
        </p:nvSpPr>
        <p:spPr>
          <a:xfrm>
            <a:off x="7321951" y="2881596"/>
            <a:ext cx="1373993" cy="2807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413372-9149-06F0-5D57-7564E8CEA986}"/>
              </a:ext>
            </a:extLst>
          </p:cNvPr>
          <p:cNvSpPr/>
          <p:nvPr/>
        </p:nvSpPr>
        <p:spPr>
          <a:xfrm>
            <a:off x="7493507" y="5076802"/>
            <a:ext cx="1030879" cy="4603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Lato" panose="020F0502020204030203" pitchFamily="34" charset="0"/>
              </a:rPr>
              <a:t>3</a:t>
            </a:r>
            <a:endParaRPr lang="vi-VN" sz="2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675E0E-870D-0568-4872-2548159C80AD}"/>
                  </a:ext>
                </a:extLst>
              </p:cNvPr>
              <p:cNvSpPr txBox="1"/>
              <p:nvPr/>
            </p:nvSpPr>
            <p:spPr>
              <a:xfrm>
                <a:off x="9171432" y="2478024"/>
                <a:ext cx="21823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latin typeface="Lato" panose="020F050202020403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vi-VN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675E0E-870D-0568-4872-2548159C8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432" y="2478024"/>
                <a:ext cx="2182367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F7CCE8-8E9C-A142-E025-7792456E01B8}"/>
              </a:ext>
            </a:extLst>
          </p:cNvPr>
          <p:cNvCxnSpPr>
            <a:cxnSpLocks/>
          </p:cNvCxnSpPr>
          <p:nvPr/>
        </p:nvCxnSpPr>
        <p:spPr>
          <a:xfrm flipV="1">
            <a:off x="4587240" y="6104350"/>
            <a:ext cx="0" cy="33931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4">
            <a:extLst>
              <a:ext uri="{FF2B5EF4-FFF2-40B4-BE49-F238E27FC236}">
                <a16:creationId xmlns:a16="http://schemas.microsoft.com/office/drawing/2014/main" id="{28A39349-1075-04FB-075D-DA98E43CB7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92531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0">
          <a:extLst>
            <a:ext uri="{FF2B5EF4-FFF2-40B4-BE49-F238E27FC236}">
              <a16:creationId xmlns:a16="http://schemas.microsoft.com/office/drawing/2014/main" id="{530DF10F-0A7D-1BCE-E685-F3F5EEAE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A6B800-5BCB-78F3-27EE-D9AD80B7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40E1-6877-5F39-E58C-B28B5629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CD4B4363-9D62-670A-A120-BD07938B45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14300" marR="0" lvl="0" indent="0" algn="l" rtl="0" eaLnBrk="1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  <a:defRPr sz="2400" b="0" i="0" u="none" strike="noStrike" cap="none">
                    <a:solidFill>
                      <a:schemeClr val="dk1"/>
                    </a:solidFill>
                    <a:latin typeface="+mj-lt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 indent="-342900" algn="just">
                  <a:spcBef>
                    <a:spcPts val="0"/>
                  </a:spcBef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Solving histogram problem</a:t>
                </a:r>
                <a:endParaRPr lang="en-US" sz="2400" dirty="0">
                  <a:latin typeface="Lato" panose="020F0502020204030203" pitchFamily="34" charset="0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: </a:t>
                </a:r>
              </a:p>
              <a:p>
                <a:pPr marL="9144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Explore columns from right to left, maintain a stack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containing indices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of columns waiting for the computation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9144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For each column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:</a:t>
                </a:r>
              </a:p>
              <a:p>
                <a:pPr marL="11430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while h[j] &lt; h[</a:t>
                </a:r>
                <a:r>
                  <a:rPr lang="en-US" dirty="0" err="1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S.top</a:t>
                </a: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] do</a:t>
                </a:r>
              </a:p>
              <a:p>
                <a:pPr marL="13716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pop an index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(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= 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.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𝑡𝑜𝑝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13716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assign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𝐿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] =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𝑗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11430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Push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Lato" panose="020F0502020204030203" pitchFamily="34" charset="0"/>
                    <a:ea typeface="Arial"/>
                    <a:cs typeface="Arial"/>
                    <a:sym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𝑆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  <a:p>
                <a:pPr marL="342900" indent="-342900"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Lato" panose="020F0502020204030203" pitchFamily="34" charset="0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 Placeholder 4">
                <a:extLst>
                  <a:ext uri="{FF2B5EF4-FFF2-40B4-BE49-F238E27FC236}">
                    <a16:creationId xmlns:a16="http://schemas.microsoft.com/office/drawing/2014/main" id="{CD4B4363-9D62-670A-A120-BD07938B4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88533"/>
                <a:ext cx="6483751" cy="4984835"/>
              </a:xfrm>
              <a:prstGeom prst="rect">
                <a:avLst/>
              </a:prstGeom>
              <a:blipFill>
                <a:blip r:embed="rId3"/>
                <a:stretch>
                  <a:fillRect l="-783" t="-1777" r="-15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8F0756-FCD7-107C-FA42-62F31D4CFB61}"/>
              </a:ext>
            </a:extLst>
          </p:cNvPr>
          <p:cNvCxnSpPr>
            <a:cxnSpLocks/>
          </p:cNvCxnSpPr>
          <p:nvPr/>
        </p:nvCxnSpPr>
        <p:spPr>
          <a:xfrm flipV="1">
            <a:off x="7424057" y="3243941"/>
            <a:ext cx="4593770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94F77E4-E34A-FFD9-1DAA-B5CE67E86942}"/>
              </a:ext>
            </a:extLst>
          </p:cNvPr>
          <p:cNvSpPr/>
          <p:nvPr/>
        </p:nvSpPr>
        <p:spPr>
          <a:xfrm>
            <a:off x="7772400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0A953-8452-B0A9-1608-9DDC6A0DFAFD}"/>
              </a:ext>
            </a:extLst>
          </p:cNvPr>
          <p:cNvSpPr/>
          <p:nvPr/>
        </p:nvSpPr>
        <p:spPr>
          <a:xfrm>
            <a:off x="8153400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516DA-7A21-3F25-069B-66240BF097F8}"/>
              </a:ext>
            </a:extLst>
          </p:cNvPr>
          <p:cNvSpPr/>
          <p:nvPr/>
        </p:nvSpPr>
        <p:spPr>
          <a:xfrm>
            <a:off x="8534400" y="1153886"/>
            <a:ext cx="381000" cy="2090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3F5B1-4D97-08FF-3D7C-5DC82574FB86}"/>
              </a:ext>
            </a:extLst>
          </p:cNvPr>
          <p:cNvSpPr/>
          <p:nvPr/>
        </p:nvSpPr>
        <p:spPr>
          <a:xfrm>
            <a:off x="8915400" y="1850572"/>
            <a:ext cx="381000" cy="13933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41C25-976F-1F42-7F6C-A1E43BB04011}"/>
              </a:ext>
            </a:extLst>
          </p:cNvPr>
          <p:cNvSpPr/>
          <p:nvPr/>
        </p:nvSpPr>
        <p:spPr>
          <a:xfrm>
            <a:off x="9296400" y="1436923"/>
            <a:ext cx="381000" cy="18070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2887F-5C7E-C043-DB00-DEE403E2B5BF}"/>
              </a:ext>
            </a:extLst>
          </p:cNvPr>
          <p:cNvSpPr/>
          <p:nvPr/>
        </p:nvSpPr>
        <p:spPr>
          <a:xfrm>
            <a:off x="9677400" y="2645232"/>
            <a:ext cx="386442" cy="59871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7CAA99-B575-5FAA-8301-CB713FD18753}"/>
              </a:ext>
            </a:extLst>
          </p:cNvPr>
          <p:cNvSpPr/>
          <p:nvPr/>
        </p:nvSpPr>
        <p:spPr>
          <a:xfrm>
            <a:off x="10063842" y="2242457"/>
            <a:ext cx="375558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014CD-89D3-EE5C-2F00-D99CD03B6E22}"/>
              </a:ext>
            </a:extLst>
          </p:cNvPr>
          <p:cNvSpPr/>
          <p:nvPr/>
        </p:nvSpPr>
        <p:spPr>
          <a:xfrm>
            <a:off x="10444842" y="1850572"/>
            <a:ext cx="381000" cy="139337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52641-2D2F-73FD-D608-F364E5D03D0C}"/>
              </a:ext>
            </a:extLst>
          </p:cNvPr>
          <p:cNvSpPr/>
          <p:nvPr/>
        </p:nvSpPr>
        <p:spPr>
          <a:xfrm>
            <a:off x="10825842" y="2645232"/>
            <a:ext cx="381000" cy="598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D903C4-11A4-049C-AB5F-4DA2DD9F43AC}"/>
              </a:ext>
            </a:extLst>
          </p:cNvPr>
          <p:cNvSpPr/>
          <p:nvPr/>
        </p:nvSpPr>
        <p:spPr>
          <a:xfrm>
            <a:off x="11206842" y="2242457"/>
            <a:ext cx="381000" cy="1001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1BE42-B316-D187-56CD-DD614E877A59}"/>
              </a:ext>
            </a:extLst>
          </p:cNvPr>
          <p:cNvSpPr txBox="1"/>
          <p:nvPr/>
        </p:nvSpPr>
        <p:spPr>
          <a:xfrm>
            <a:off x="7772399" y="3331029"/>
            <a:ext cx="407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Lato" panose="020F0502020204030203" pitchFamily="34" charset="0"/>
              </a:rPr>
              <a:t>1     2     3     4    5     6    7     8     9    10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2A889-F138-1A00-DA4E-E31719508C8C}"/>
              </a:ext>
            </a:extLst>
          </p:cNvPr>
          <p:cNvSpPr/>
          <p:nvPr/>
        </p:nvSpPr>
        <p:spPr>
          <a:xfrm>
            <a:off x="8153400" y="1850572"/>
            <a:ext cx="1524000" cy="1393369"/>
          </a:xfrm>
          <a:prstGeom prst="rect">
            <a:avLst/>
          </a:prstGeom>
          <a:noFill/>
          <a:ln w="635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5C6A7CCB-B097-9C30-4520-E9D63652550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6389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1B4694-AD36-4EDC-B399-8C5A4DD447DB}"/>
</file>

<file path=customXml/itemProps2.xml><?xml version="1.0" encoding="utf-8"?>
<ds:datastoreItem xmlns:ds="http://schemas.openxmlformats.org/officeDocument/2006/customXml" ds:itemID="{0EF73BE9-5711-49A4-BA42-7DC702B06D5F}"/>
</file>

<file path=customXml/itemProps3.xml><?xml version="1.0" encoding="utf-8"?>
<ds:datastoreItem xmlns:ds="http://schemas.openxmlformats.org/officeDocument/2006/customXml" ds:itemID="{FFE84934-10AF-4B7F-B4BE-427C8D232C71}"/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1483</Words>
  <Application>Microsoft Macintosh PowerPoint</Application>
  <PresentationFormat>Widescreen</PresentationFormat>
  <Paragraphs>253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Lato</vt:lpstr>
      <vt:lpstr>Wingdings</vt:lpstr>
      <vt:lpstr>Office Theme</vt:lpstr>
      <vt:lpstr>PowerPoint Presentation</vt:lpstr>
      <vt:lpstr>PowerPoint Presentation</vt:lpstr>
      <vt:lpstr>Largest black sub-rectangle</vt:lpstr>
      <vt:lpstr>Largest black sub-rectangle</vt:lpstr>
      <vt:lpstr>Largest black sub-rectangle</vt:lpstr>
      <vt:lpstr>Largest black sub-rectangle</vt:lpstr>
      <vt:lpstr>Largest black sub-rectangle</vt:lpstr>
      <vt:lpstr>Largest black sub-rectangle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Method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15</cp:revision>
  <dcterms:created xsi:type="dcterms:W3CDTF">2021-05-28T04:32:29Z</dcterms:created>
  <dcterms:modified xsi:type="dcterms:W3CDTF">2025-09-24T15:18:15Z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