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9" r:id="rId2"/>
    <p:sldId id="257" r:id="rId3"/>
    <p:sldId id="267" r:id="rId4"/>
    <p:sldId id="276" r:id="rId5"/>
    <p:sldId id="277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150" autoAdjust="0"/>
    <p:restoredTop sz="94660"/>
  </p:normalViewPr>
  <p:slideViewPr>
    <p:cSldViewPr snapToGrid="0">
      <p:cViewPr>
        <p:scale>
          <a:sx n="71" d="100"/>
          <a:sy n="71" d="100"/>
        </p:scale>
        <p:origin x="144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customXml" Target="../customXml/item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9/24/25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9/24/25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9/24/25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9/24/25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9/24/25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b="0" dirty="0"/>
              <a:t>Applied Algorithm Lab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dirty="0"/>
              <a:t>MAZE</a:t>
            </a:r>
            <a:endParaRPr lang="en-US" sz="2800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9456B-FA05-C19B-1DCF-B44B19060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4C0F0-B926-19EB-DADD-8A1C2696B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MAZE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317B8-E0B2-079F-749C-BE33BF7010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Find the shortest path to get out of a maze</a:t>
            </a:r>
          </a:p>
          <a:p>
            <a:r>
              <a:rPr lang="en-US" dirty="0"/>
              <a:t>A rectangular maze is represented by a 0-1 </a:t>
            </a:r>
            <a:r>
              <a:rPr lang="en-US" dirty="0" err="1"/>
              <a:t>NxM</a:t>
            </a:r>
            <a:r>
              <a:rPr lang="en-US" dirty="0"/>
              <a:t> matrix in which</a:t>
            </a:r>
          </a:p>
          <a:p>
            <a:pPr marL="0" indent="0">
              <a:buNone/>
            </a:pPr>
            <a:r>
              <a:rPr lang="en-US" dirty="0"/>
              <a:t>	A[</a:t>
            </a:r>
            <a:r>
              <a:rPr lang="en-US" dirty="0" err="1"/>
              <a:t>i,j</a:t>
            </a:r>
            <a:r>
              <a:rPr lang="en-US" dirty="0"/>
              <a:t>] = 1 represents cell (</a:t>
            </a:r>
            <a:r>
              <a:rPr lang="en-US" dirty="0" err="1"/>
              <a:t>i,j</a:t>
            </a:r>
            <a:r>
              <a:rPr lang="en-US" dirty="0"/>
              <a:t>) as a brick wall, and </a:t>
            </a:r>
          </a:p>
          <a:p>
            <a:pPr marL="0" indent="0">
              <a:buNone/>
            </a:pPr>
            <a:r>
              <a:rPr lang="en-US" dirty="0"/>
              <a:t>	A[</a:t>
            </a:r>
            <a:r>
              <a:rPr lang="en-US" dirty="0" err="1"/>
              <a:t>i,j</a:t>
            </a:r>
            <a:r>
              <a:rPr lang="en-US" dirty="0"/>
              <a:t>] = 0 represents cell (</a:t>
            </a:r>
            <a:r>
              <a:rPr lang="en-US" dirty="0" err="1"/>
              <a:t>i,j</a:t>
            </a:r>
            <a:r>
              <a:rPr lang="en-US" dirty="0"/>
              <a:t>) as an empty cell</a:t>
            </a:r>
          </a:p>
          <a:p>
            <a:pPr marL="0" indent="0">
              <a:buNone/>
            </a:pPr>
            <a:r>
              <a:rPr lang="en-US" dirty="0"/>
              <a:t>    From an empty cell, we can move to 1 of 4 neighboring cells (up, down, left, right) if that cell is empty. </a:t>
            </a:r>
          </a:p>
          <a:p>
            <a:pPr marL="0" indent="0">
              <a:buNone/>
            </a:pPr>
            <a:r>
              <a:rPr lang="en-US" dirty="0"/>
              <a:t>    Starting from an empty cell in the maze, find the shortest path out of the maze.</a:t>
            </a:r>
          </a:p>
          <a:p>
            <a:r>
              <a:rPr lang="en-US" dirty="0"/>
              <a:t>Input: the matrix representing the maze, the starting cell.</a:t>
            </a:r>
          </a:p>
          <a:p>
            <a:r>
              <a:rPr lang="en-US" dirty="0"/>
              <a:t>Output: the shortest path’s length, or -1 for non-existing cases.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902F2-37D3-F833-3327-9AE8A2C9A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829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5945D-0F17-6AAE-2F9B-BEC19B2FC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FC74-6501-7679-E312-5387CA0C3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MAZE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61097-CC27-6E0A-42E9-0260BE8E8F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F78C9-F47F-DDC0-1777-E80C7496C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4" name="Google Shape;92;p2">
            <a:extLst>
              <a:ext uri="{FF2B5EF4-FFF2-40B4-BE49-F238E27FC236}">
                <a16:creationId xmlns:a16="http://schemas.microsoft.com/office/drawing/2014/main" id="{499A24D9-1546-638B-4FFB-2464CFEE4F89}"/>
              </a:ext>
            </a:extLst>
          </p:cNvPr>
          <p:cNvGraphicFramePr/>
          <p:nvPr/>
        </p:nvGraphicFramePr>
        <p:xfrm>
          <a:off x="852972" y="1683761"/>
          <a:ext cx="10515600" cy="44501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7552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3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u="none" strike="noStrike" cap="none" dirty="0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stdin</a:t>
                      </a:r>
                      <a:endParaRPr sz="2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 err="1">
                          <a:solidFill>
                            <a:schemeClr val="dk1"/>
                          </a:solidFill>
                          <a:latin typeface="Lato" panose="020F0502020204030203" pitchFamily="34" charset="0"/>
                        </a:rPr>
                        <a:t>stdout</a:t>
                      </a:r>
                      <a:endParaRPr sz="2800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8 12 5 6</a:t>
                      </a:r>
                      <a:endParaRPr sz="2800" b="0" i="0" dirty="0">
                        <a:latin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1 1 0 0 0 0 1 0 0 0 0 1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1 0 0 0 1 1 0 1 0 0 1 1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0 0 1 0 0 0 0 0 0 0 0 0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1 0 0 0 0 0 1 0 0 1 0 1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1 0 0 1 0 0 0 0 0 1 0 0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1 0 1 0 1 0 0 0 1 0 1 0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0 0 0 0 1 0 1 0 0 0 0 0</a:t>
                      </a:r>
                      <a:endParaRPr sz="28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1 0 1 1 0 1 1 1 0 1 0 1</a:t>
                      </a:r>
                      <a:endParaRPr sz="28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i="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2800" b="0" i="0" dirty="0">
                        <a:latin typeface="Lato" panose="020F0502020204030203" pitchFamily="34" charset="0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800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307C2501-CA7F-1F06-4B84-4955CBA41254}"/>
              </a:ext>
            </a:extLst>
          </p:cNvPr>
          <p:cNvSpPr/>
          <p:nvPr/>
        </p:nvSpPr>
        <p:spPr>
          <a:xfrm>
            <a:off x="2162908" y="4396154"/>
            <a:ext cx="351692" cy="40444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VN" dirty="0">
              <a:latin typeface="Lato" panose="020F0502020204030203" pitchFamily="34" charset="0"/>
            </a:endParaRPr>
          </a:p>
        </p:txBody>
      </p:sp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B61CCE2C-E898-0BBD-1359-000FAE208851}"/>
              </a:ext>
            </a:extLst>
          </p:cNvPr>
          <p:cNvCxnSpPr>
            <a:cxnSpLocks/>
          </p:cNvCxnSpPr>
          <p:nvPr/>
        </p:nvCxnSpPr>
        <p:spPr>
          <a:xfrm rot="16200000" flipV="1">
            <a:off x="1369098" y="3263862"/>
            <a:ext cx="1429358" cy="509954"/>
          </a:xfrm>
          <a:prstGeom prst="bentConnector3">
            <a:avLst>
              <a:gd name="adj1" fmla="val 34007"/>
            </a:avLst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87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0AE9E-87B5-6E0C-1099-C16F3EF7E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91560-A83D-21D5-F2D2-F794CCE4E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MAZE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98D39-0EE4-1D17-6112-473CB1E43F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/>
              <a:t>Idea to solve: Use BFS and queue:</a:t>
            </a:r>
          </a:p>
          <a:p>
            <a:pPr lvl="1"/>
            <a:r>
              <a:rPr lang="en-US" sz="2800" dirty="0"/>
              <a:t>use a queue to store the cell to visit</a:t>
            </a:r>
          </a:p>
          <a:p>
            <a:pPr lvl="1"/>
            <a:r>
              <a:rPr lang="en-US" sz="2800" dirty="0"/>
              <a:t>start from the starting cell</a:t>
            </a:r>
          </a:p>
          <a:p>
            <a:pPr lvl="1"/>
            <a:r>
              <a:rPr lang="en-US" sz="2800" dirty="0"/>
              <a:t>add cell that can be visited by the current cell to the node</a:t>
            </a:r>
          </a:p>
          <a:p>
            <a:pPr lvl="1"/>
            <a:r>
              <a:rPr lang="en-US" sz="2800" dirty="0"/>
              <a:t>termination conditions: the cell is on the edge, or the queue is empty (return -1)</a:t>
            </a:r>
          </a:p>
          <a:p>
            <a:pPr lvl="1"/>
            <a:r>
              <a:rPr lang="en-US" sz="2800" dirty="0"/>
              <a:t>to return answer: use a matrix to store the length of the path from source for each visited cell in the maze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E454D-F507-B3A0-B6CB-606F90099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400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17EF184-ACDE-4C81-ADFE-19F5B2157ED1}"/>
</file>

<file path=customXml/itemProps2.xml><?xml version="1.0" encoding="utf-8"?>
<ds:datastoreItem xmlns:ds="http://schemas.openxmlformats.org/officeDocument/2006/customXml" ds:itemID="{83447693-F22F-4A45-B488-5E063A2328D9}"/>
</file>

<file path=customXml/itemProps3.xml><?xml version="1.0" encoding="utf-8"?>
<ds:datastoreItem xmlns:ds="http://schemas.openxmlformats.org/officeDocument/2006/customXml" ds:itemID="{E02F2B5A-FB1A-43A4-A8D7-E06CE583A509}"/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337</Words>
  <Application>Microsoft Macintosh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Lato</vt:lpstr>
      <vt:lpstr>Office Theme</vt:lpstr>
      <vt:lpstr>PowerPoint Presentation</vt:lpstr>
      <vt:lpstr>PowerPoint Presentation</vt:lpstr>
      <vt:lpstr>MAZE</vt:lpstr>
      <vt:lpstr>MAZE</vt:lpstr>
      <vt:lpstr>MAZE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Minh Huyen</cp:lastModifiedBy>
  <cp:revision>13</cp:revision>
  <dcterms:created xsi:type="dcterms:W3CDTF">2021-05-28T04:32:29Z</dcterms:created>
  <dcterms:modified xsi:type="dcterms:W3CDTF">2025-09-24T15:07:24Z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