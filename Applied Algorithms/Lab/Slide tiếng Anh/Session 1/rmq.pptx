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73" r:id="rId4"/>
    <p:sldId id="278" r:id="rId5"/>
    <p:sldId id="279" r:id="rId6"/>
    <p:sldId id="280" r:id="rId7"/>
    <p:sldId id="28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150" autoAdjust="0"/>
    <p:restoredTop sz="94660"/>
  </p:normalViewPr>
  <p:slideViewPr>
    <p:cSldViewPr snapToGrid="0">
      <p:cViewPr>
        <p:scale>
          <a:sx n="71" d="100"/>
          <a:sy n="71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Range minimum query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4859-A3DE-B9DC-4EB0-993B73F2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DE24-0179-EDD4-0D2C-B89B80FF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4A766-4C09-4502-5068-ABFBB6819E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Calculate the sum of the minimal numbers in some intervals of a given sequence</a:t>
            </a:r>
          </a:p>
          <a:p>
            <a:r>
              <a:rPr lang="en-US" sz="3200" dirty="0">
                <a:sym typeface="Arial"/>
              </a:rPr>
              <a:t>Given a sequence of n integers a</a:t>
            </a:r>
            <a:r>
              <a:rPr lang="en-US" sz="3200" baseline="-25000" dirty="0">
                <a:sym typeface="Arial"/>
              </a:rPr>
              <a:t>0</a:t>
            </a:r>
            <a:r>
              <a:rPr lang="en-US" sz="3200" dirty="0">
                <a:sym typeface="Arial"/>
              </a:rPr>
              <a:t>, …, a</a:t>
            </a:r>
            <a:r>
              <a:rPr lang="en-US" sz="3200" baseline="-25000" dirty="0">
                <a:sym typeface="Arial"/>
              </a:rPr>
              <a:t>n-1</a:t>
            </a:r>
            <a:r>
              <a:rPr lang="en-US" sz="3200" dirty="0">
                <a:sym typeface="Arial"/>
              </a:rPr>
              <a:t>. </a:t>
            </a:r>
          </a:p>
          <a:p>
            <a:pPr marL="0" indent="0">
              <a:buNone/>
            </a:pPr>
            <a:r>
              <a:rPr lang="en-US" sz="3200" dirty="0">
                <a:sym typeface="Arial"/>
              </a:rPr>
              <a:t>	Denote </a:t>
            </a:r>
            <a:r>
              <a:rPr lang="en-US" sz="3200" dirty="0" err="1">
                <a:solidFill>
                  <a:srgbClr val="C00000"/>
                </a:solidFill>
                <a:sym typeface="Arial"/>
              </a:rPr>
              <a:t>rmq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(</a:t>
            </a:r>
            <a:r>
              <a:rPr lang="en-US" sz="3200" dirty="0" err="1">
                <a:solidFill>
                  <a:srgbClr val="C00000"/>
                </a:solidFill>
                <a:sym typeface="Arial"/>
              </a:rPr>
              <a:t>i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, j): </a:t>
            </a:r>
            <a:r>
              <a:rPr lang="en-US" sz="3200" dirty="0">
                <a:sym typeface="Arial"/>
              </a:rPr>
              <a:t>the minimum of a</a:t>
            </a:r>
            <a:r>
              <a:rPr lang="en-US" sz="3200" baseline="-25000" dirty="0">
                <a:sym typeface="Arial"/>
              </a:rPr>
              <a:t>i</a:t>
            </a:r>
            <a:r>
              <a:rPr lang="en-US" sz="3200" dirty="0">
                <a:sym typeface="Arial"/>
              </a:rPr>
              <a:t>, a</a:t>
            </a:r>
            <a:r>
              <a:rPr lang="en-US" sz="3200" baseline="-25000" dirty="0">
                <a:sym typeface="Arial"/>
              </a:rPr>
              <a:t>i+1</a:t>
            </a:r>
            <a:r>
              <a:rPr lang="en-US" sz="3200" dirty="0">
                <a:sym typeface="Arial"/>
              </a:rPr>
              <a:t>, . . ., </a:t>
            </a:r>
            <a:r>
              <a:rPr lang="en-US" sz="3200" dirty="0" err="1">
                <a:sym typeface="Arial"/>
              </a:rPr>
              <a:t>a</a:t>
            </a:r>
            <a:r>
              <a:rPr lang="en-US" sz="3200" baseline="-25000" dirty="0" err="1">
                <a:sym typeface="Arial"/>
              </a:rPr>
              <a:t>j</a:t>
            </a:r>
            <a:r>
              <a:rPr lang="en-US" sz="3200" dirty="0">
                <a:sym typeface="Arial"/>
              </a:rPr>
              <a:t>. </a:t>
            </a:r>
          </a:p>
          <a:p>
            <a:pPr marL="0" indent="0">
              <a:buNone/>
            </a:pPr>
            <a:r>
              <a:rPr lang="en-US" sz="3200" dirty="0">
                <a:sym typeface="Arial"/>
              </a:rPr>
              <a:t>	Given m pairs (i</a:t>
            </a:r>
            <a:r>
              <a:rPr lang="en-US" sz="3200" baseline="-25000" dirty="0">
                <a:sym typeface="Arial"/>
              </a:rPr>
              <a:t>1</a:t>
            </a:r>
            <a:r>
              <a:rPr lang="en-US" sz="3200" dirty="0">
                <a:sym typeface="Arial"/>
              </a:rPr>
              <a:t>, j</a:t>
            </a:r>
            <a:r>
              <a:rPr lang="en-US" sz="3200" baseline="-25000" dirty="0">
                <a:sym typeface="Arial"/>
              </a:rPr>
              <a:t>1</a:t>
            </a:r>
            <a:r>
              <a:rPr lang="en-US" sz="3200" dirty="0">
                <a:sym typeface="Arial"/>
              </a:rPr>
              <a:t>),. . ., (</a:t>
            </a:r>
            <a:r>
              <a:rPr lang="en-US" sz="3200" dirty="0" err="1">
                <a:sym typeface="Arial"/>
              </a:rPr>
              <a:t>i</a:t>
            </a:r>
            <a:r>
              <a:rPr lang="en-US" sz="3200" baseline="-25000" dirty="0" err="1">
                <a:sym typeface="Arial"/>
              </a:rPr>
              <a:t>m</a:t>
            </a:r>
            <a:r>
              <a:rPr lang="en-US" sz="3200" dirty="0">
                <a:sym typeface="Arial"/>
              </a:rPr>
              <a:t>, </a:t>
            </a:r>
            <a:r>
              <a:rPr lang="en-US" sz="3200" dirty="0" err="1">
                <a:sym typeface="Arial"/>
              </a:rPr>
              <a:t>j</a:t>
            </a:r>
            <a:r>
              <a:rPr lang="en-US" sz="3200" baseline="-25000" dirty="0" err="1">
                <a:sym typeface="Arial"/>
              </a:rPr>
              <a:t>m</a:t>
            </a:r>
            <a:r>
              <a:rPr lang="en-US" sz="3200" dirty="0">
                <a:sym typeface="Arial"/>
              </a:rPr>
              <a:t>) </a:t>
            </a:r>
          </a:p>
          <a:p>
            <a:pPr marL="0" indent="0">
              <a:buNone/>
            </a:pPr>
            <a:r>
              <a:rPr lang="en-US" sz="3200" dirty="0">
                <a:sym typeface="Arial"/>
              </a:rPr>
              <a:t>	Compute the sum: 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Q = </a:t>
            </a:r>
            <a:r>
              <a:rPr lang="en-US" sz="3200" dirty="0" err="1">
                <a:solidFill>
                  <a:srgbClr val="C00000"/>
                </a:solidFill>
                <a:sym typeface="Arial"/>
              </a:rPr>
              <a:t>rmq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(i</a:t>
            </a:r>
            <a:r>
              <a:rPr lang="en-US" sz="3200" baseline="-25000" dirty="0">
                <a:solidFill>
                  <a:srgbClr val="C00000"/>
                </a:solidFill>
                <a:sym typeface="Arial"/>
              </a:rPr>
              <a:t>1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, j</a:t>
            </a:r>
            <a:r>
              <a:rPr lang="en-US" sz="3200" baseline="-25000" dirty="0">
                <a:solidFill>
                  <a:srgbClr val="C00000"/>
                </a:solidFill>
                <a:sym typeface="Arial"/>
              </a:rPr>
              <a:t>1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) + . . . + </a:t>
            </a:r>
            <a:r>
              <a:rPr lang="en-US" sz="3200" dirty="0" err="1">
                <a:solidFill>
                  <a:srgbClr val="C00000"/>
                </a:solidFill>
                <a:sym typeface="Arial"/>
              </a:rPr>
              <a:t>rmq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(</a:t>
            </a:r>
            <a:r>
              <a:rPr lang="en-US" sz="3200" dirty="0" err="1">
                <a:solidFill>
                  <a:srgbClr val="C00000"/>
                </a:solidFill>
                <a:sym typeface="Arial"/>
              </a:rPr>
              <a:t>i</a:t>
            </a:r>
            <a:r>
              <a:rPr lang="en-US" sz="3200" baseline="-25000" dirty="0" err="1">
                <a:solidFill>
                  <a:srgbClr val="C00000"/>
                </a:solidFill>
                <a:sym typeface="Arial"/>
              </a:rPr>
              <a:t>m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, </a:t>
            </a:r>
            <a:r>
              <a:rPr lang="en-US" sz="3200" dirty="0" err="1">
                <a:solidFill>
                  <a:srgbClr val="C00000"/>
                </a:solidFill>
                <a:sym typeface="Arial"/>
              </a:rPr>
              <a:t>j</a:t>
            </a:r>
            <a:r>
              <a:rPr lang="en-US" sz="3200" baseline="-25000" dirty="0" err="1">
                <a:solidFill>
                  <a:srgbClr val="C00000"/>
                </a:solidFill>
                <a:sym typeface="Arial"/>
              </a:rPr>
              <a:t>m</a:t>
            </a:r>
            <a:r>
              <a:rPr lang="en-US" sz="3200" dirty="0">
                <a:solidFill>
                  <a:srgbClr val="C00000"/>
                </a:solidFill>
                <a:sym typeface="Arial"/>
              </a:rPr>
              <a:t>)</a:t>
            </a:r>
          </a:p>
          <a:p>
            <a:r>
              <a:rPr lang="en-US" sz="3200" dirty="0"/>
              <a:t>Input: the sequence and the intervals</a:t>
            </a:r>
          </a:p>
          <a:p>
            <a:r>
              <a:rPr lang="en-US" sz="3200" dirty="0"/>
              <a:t>Output: the sum</a:t>
            </a: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18D6-2435-2643-8530-D2BF7236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2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F5E1-B80C-953D-293B-B67FB462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5D0-12F2-A336-2536-2D6050E9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86895-8E5F-1E87-3C6F-80474A782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5BFCF-A1DF-1DEF-A8FD-BCFEFF98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69CC5D74-04F0-678C-64CF-765A8BB8FDD4}"/>
              </a:ext>
            </a:extLst>
          </p:cNvPr>
          <p:cNvGraphicFramePr/>
          <p:nvPr/>
        </p:nvGraphicFramePr>
        <p:xfrm>
          <a:off x="837601" y="1909235"/>
          <a:ext cx="10515600" cy="35966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stdout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2 4 6 1 6 8 7 3 3 5 8 9 1 2 6 4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1 5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0 9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1 15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6 10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800" b="0" i="0" dirty="0">
                        <a:solidFill>
                          <a:schemeClr val="dk1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Calibri"/>
                        </a:rPr>
                        <a:t>Explain: 1+1+1+3 = 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64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418A9-12F7-7056-FBF2-023B7544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26E1-2D9A-2903-C52E-36BFB845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3D3E4-3ADF-043F-2882-36C703BD6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Idea to solve #1:</a:t>
            </a:r>
          </a:p>
          <a:p>
            <a:pPr lvl="1"/>
            <a:r>
              <a:rPr lang="en-US" sz="2800" dirty="0">
                <a:sym typeface="Arial"/>
              </a:rPr>
              <a:t>for each pair of (</a:t>
            </a:r>
            <a:r>
              <a:rPr lang="en-US" sz="2800" dirty="0" err="1">
                <a:sym typeface="Arial"/>
              </a:rPr>
              <a:t>i</a:t>
            </a:r>
            <a:r>
              <a:rPr lang="en-US" sz="2800" dirty="0">
                <a:sym typeface="Arial"/>
              </a:rPr>
              <a:t>, j), find the minimum number in the interval</a:t>
            </a:r>
          </a:p>
          <a:p>
            <a:pPr lvl="1"/>
            <a:r>
              <a:rPr lang="en-US" sz="2800" dirty="0">
                <a:sym typeface="Arial"/>
              </a:rPr>
              <a:t>sum over all pair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-&gt; easy, but too many comparisons, high complexity as the number of pairs goes higher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27BC-2935-E8E1-0224-E42B943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8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1F6D-421B-5A4F-8F11-41E05E7F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634E-B596-F0AA-F75B-81C111EC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602479-AFB2-5856-53B2-A4AEFBAFE6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3200" dirty="0">
                    <a:sym typeface="Arial"/>
                  </a:rPr>
                  <a:t>Idea to solve #2: pre-processing and store some minimum for less-complicated comparisons for answers (faster lookups)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>
                    <a:sym typeface="Arial"/>
                  </a:rPr>
                  <a:t>Build a table 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[</m:t>
                    </m:r>
                    <m:r>
                      <a:rPr lang="en-US" sz="2800" dirty="0" err="1" smtClean="0"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][</m:t>
                    </m:r>
                    <m:sSub>
                      <m:sSubPr>
                        <m:ctrlPr>
                          <a:rPr lang="vi-VN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log</m:t>
                        </m:r>
                      </m:e>
                      <m:sub>
                        <m:r>
                          <a:rPr lang="vi-VN" sz="2800" dirty="0" smtClean="0"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]</m:t>
                    </m:r>
                  </m:oMath>
                </a14:m>
                <a:r>
                  <a:rPr lang="en-US" sz="2800" dirty="0">
                    <a:sym typeface="Arial"/>
                  </a:rPr>
                  <a:t> that: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800" dirty="0">
                    <a:sym typeface="Arial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800" dirty="0">
                    <a:sym typeface="Arial"/>
                  </a:rPr>
                  <a:t> is the index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min</m:t>
                    </m:r>
                    <m:r>
                      <a:rPr lang="vi-VN" sz="2800" dirty="0" smtClean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{</m:t>
                    </m:r>
                    <m:sSub>
                      <m:sSubPr>
                        <m:ctrlPr>
                          <a:rPr lang="en-US" sz="2800" i="1" dirty="0" err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800" dirty="0" err="1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dirty="0" err="1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vi-VN" sz="2800" dirty="0"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, … , 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vi-VN" sz="2800" dirty="0"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sSup>
                          <m:sSupPr>
                            <m:ctrlPr>
                              <a:rPr lang="vi-VN" sz="2800" i="1" dirty="0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𝑡</m:t>
                            </m:r>
                          </m:sup>
                        </m:sSup>
                        <m:r>
                          <a:rPr lang="vi-VN" sz="2800" dirty="0"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}</m:t>
                    </m:r>
                  </m:oMath>
                </a14:m>
                <a:endParaRPr lang="en-US" sz="2800" dirty="0">
                  <a:sym typeface="Arial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800" dirty="0">
                    <a:sym typeface="Arial"/>
                  </a:rPr>
                  <a:t>Then we can answer faster: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latin typeface="Cambria Math" panose="02040503050406030204" pitchFamily="18" charset="0"/>
                          <a:sym typeface="Arial"/>
                        </a:rPr>
                        <m:t>𝑟𝑚𝑞</m:t>
                      </m:r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800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en-US" sz="2800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r>
                            <a:rPr lang="en-US" sz="2800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</m:e>
                      </m:d>
                      <m:r>
                        <a:rPr lang="en-US" sz="2800" dirty="0" smtClean="0"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unc>
                        <m:funcPr>
                          <m:ctrlPr>
                            <a:rPr lang="vi-VN" sz="2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 sz="2800" dirty="0" smtClean="0">
                              <a:latin typeface="Cambria Math" panose="02040503050406030204" pitchFamily="18" charset="0"/>
                              <a:sym typeface="Arial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vi-VN" sz="280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800" i="1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𝑀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𝑖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vi-VN" sz="2800" i="1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vi-VN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𝑀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𝑗</m:t>
                                      </m:r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vi-VN" sz="2800" i="1" dirty="0"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vi-VN" sz="2800" dirty="0"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vi-VN" sz="2800" dirty="0"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+1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sym typeface="Arial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800" dirty="0">
                    <a:sym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𝑘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 =</m:t>
                    </m:r>
                    <m:d>
                      <m:dPr>
                        <m:begChr m:val="⌊"/>
                        <m:endChr m:val="⌋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sym typeface="Arial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  <a:sym typeface="Arial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(</m:t>
                            </m:r>
                            <m:r>
                              <a:rPr lang="en-US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+1)</m:t>
                            </m:r>
                          </m:e>
                        </m:func>
                      </m:e>
                    </m:d>
                  </m:oMath>
                </a14:m>
                <a:endParaRPr lang="en-US" sz="2800" dirty="0">
                  <a:sym typeface="Arial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602479-AFB2-5856-53B2-A4AEFBAFE6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11" t="-2564" r="-55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93969-0BDA-099D-7929-52A66930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FA02AC-FDF7-6069-ADFA-1F958008782B}"/>
                  </a:ext>
                </a:extLst>
              </p:cNvPr>
              <p:cNvSpPr txBox="1"/>
              <p:nvPr/>
            </p:nvSpPr>
            <p:spPr>
              <a:xfrm>
                <a:off x="5632618" y="5672502"/>
                <a:ext cx="2825361" cy="3865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… 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sz="1800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FA02AC-FDF7-6069-ADFA-1F9580087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618" y="5672502"/>
                <a:ext cx="2825361" cy="386581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E57DBD-BCC2-F571-7D19-5D7DD831FF2C}"/>
                  </a:ext>
                </a:extLst>
              </p:cNvPr>
              <p:cNvSpPr txBox="1"/>
              <p:nvPr/>
            </p:nvSpPr>
            <p:spPr>
              <a:xfrm>
                <a:off x="9281630" y="5382506"/>
                <a:ext cx="2190522" cy="41787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vi-VN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sSup>
                            <m:sSupPr>
                              <m:ctrlP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p>
                          </m:sSup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,…, </m:t>
                      </m:r>
                      <m:sSub>
                        <m:sSubPr>
                          <m:ctrlP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E57DBD-BCC2-F571-7D19-5D7DD831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630" y="5382506"/>
                <a:ext cx="2190522" cy="417871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1128F2-B9F2-E0B8-13B6-7538F5934D2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837129" y="4509370"/>
            <a:ext cx="1208170" cy="11631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40400D-6FC6-ED5D-AA4A-72F53CA72FAF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853819" y="4509370"/>
            <a:ext cx="2523072" cy="873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B3F310-2725-8AE5-869E-8A98E3462B3C}"/>
                  </a:ext>
                </a:extLst>
              </p:cNvPr>
              <p:cNvSpPr txBox="1"/>
              <p:nvPr/>
            </p:nvSpPr>
            <p:spPr>
              <a:xfrm>
                <a:off x="1081526" y="5481680"/>
                <a:ext cx="3074719" cy="3816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i="1" dirty="0" smtClean="0">
                          <a:latin typeface="Cambria Math" panose="02040503050406030204" pitchFamily="18" charset="0"/>
                          <a:sym typeface="Arial"/>
                        </a:rPr>
                        <m:t>𝑖</m:t>
                      </m:r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p>
                        <m:sSupPr>
                          <m:ctrlP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e>
                        <m:sup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p>
                      </m:sSup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−1≥ </m:t>
                      </m:r>
                      <m:r>
                        <a:rPr lang="vi-VN" i="1" dirty="0">
                          <a:latin typeface="Cambria Math" panose="02040503050406030204" pitchFamily="18" charset="0"/>
                          <a:sym typeface="Arial"/>
                        </a:rPr>
                        <m:t>𝑗</m:t>
                      </m:r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−</m:t>
                      </m:r>
                      <m:sSup>
                        <m:sSupPr>
                          <m:ctrlP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e>
                        <m:sup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VN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B3F310-2725-8AE5-869E-8A98E346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26" y="5481680"/>
                <a:ext cx="3074719" cy="381643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407D7B-29CE-B63B-1E62-9C99FAFDDC60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618886" y="5085567"/>
            <a:ext cx="675459" cy="396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490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0133-6FAE-1CB3-0E7F-C5552D0E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A0F5-07C5-E0E3-9137-848669FB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6A2B72-FC09-748B-A073-97EFFEED382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5305228"/>
              </a:xfrm>
            </p:spPr>
            <p:txBody>
              <a:bodyPr/>
              <a:lstStyle/>
              <a:p>
                <a:r>
                  <a:rPr lang="en-US" sz="3200" dirty="0">
                    <a:sym typeface="Arial"/>
                  </a:rPr>
                  <a:t>Idea to solve #2</a:t>
                </a:r>
                <a:r>
                  <a:rPr lang="vi-VN" sz="3200" dirty="0">
                    <a:sym typeface="Arial"/>
                  </a:rPr>
                  <a:t>: after determine M, it only takes O(1) for each rmq query, compare to O(n) as in idea #1</a:t>
                </a:r>
              </a:p>
              <a:p>
                <a:r>
                  <a:rPr lang="vi-VN" sz="3200" dirty="0">
                    <a:sym typeface="Arial"/>
                  </a:rPr>
                  <a:t>To build M: use recursion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storing the index of each element.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Recursive case: Uses previous results to compute larger ranges:</a:t>
                </a: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:r>
                  <a:rPr lang="en-US" dirty="0"/>
                  <a:t> 	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the index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vi-V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vi-VN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vi-V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vi-VN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vi-VN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  <m:r>
                          <a:rPr lang="vi-VN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vi-VN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vi-VN" dirty="0" smtClean="0">
                            <a:latin typeface="Cambria Math" panose="02040503050406030204" pitchFamily="18" charset="0"/>
                          </a:rPr>
                          <m:t>−1]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vi-VN" dirty="0">
                    <a:sym typeface="Arial"/>
                  </a:rPr>
                  <a:t>Complexity: O(n log n)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6A2B72-FC09-748B-A073-97EFFEED3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5305228"/>
              </a:xfrm>
              <a:blipFill>
                <a:blip r:embed="rId2"/>
                <a:stretch>
                  <a:fillRect l="-1211" t="-238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8FCF8-46F9-36E2-988A-AA9F1C60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064989-40FE-E065-8BCB-718CDF600030}"/>
                  </a:ext>
                </a:extLst>
              </p:cNvPr>
              <p:cNvSpPr txBox="1"/>
              <p:nvPr/>
            </p:nvSpPr>
            <p:spPr>
              <a:xfrm>
                <a:off x="3742247" y="4741647"/>
                <a:ext cx="2825361" cy="396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… 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  <m:r>
                                <a:rPr lang="vi-VN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064989-40FE-E065-8BCB-718CDF600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247" y="4741647"/>
                <a:ext cx="2825361" cy="396775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A470D0-09D1-E793-55AE-2CB7E629978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154928" y="4460789"/>
            <a:ext cx="2002617" cy="2808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36C03-F3B9-96AD-D845-93838ADC5603}"/>
                  </a:ext>
                </a:extLst>
              </p:cNvPr>
              <p:cNvSpPr txBox="1"/>
              <p:nvPr/>
            </p:nvSpPr>
            <p:spPr>
              <a:xfrm>
                <a:off x="7702750" y="5138422"/>
                <a:ext cx="2825361" cy="396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  <m:r>
                                <a:rPr lang="vi-VN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… 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36C03-F3B9-96AD-D845-93838ADC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50" y="5138422"/>
                <a:ext cx="2825361" cy="396775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2299BF-EBF3-ADCA-1AF6-904195946EA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993275" y="4460789"/>
            <a:ext cx="122156" cy="6776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41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FFD605-940F-4E1F-8FC7-D8B22031BAAB}"/>
</file>

<file path=customXml/itemProps2.xml><?xml version="1.0" encoding="utf-8"?>
<ds:datastoreItem xmlns:ds="http://schemas.openxmlformats.org/officeDocument/2006/customXml" ds:itemID="{F786D770-3516-4EC7-B0F0-738CBFFDE134}"/>
</file>

<file path=customXml/itemProps3.xml><?xml version="1.0" encoding="utf-8"?>
<ds:datastoreItem xmlns:ds="http://schemas.openxmlformats.org/officeDocument/2006/customXml" ds:itemID="{9C213FD8-23C0-43F9-A76B-3B16F906D24F}"/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411</Words>
  <Application>Microsoft Macintosh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Range minimum query</vt:lpstr>
      <vt:lpstr>Range minimum query</vt:lpstr>
      <vt:lpstr>Range minimum query</vt:lpstr>
      <vt:lpstr>Range minimum query</vt:lpstr>
      <vt:lpstr>Range minimum query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14</cp:revision>
  <dcterms:created xsi:type="dcterms:W3CDTF">2021-05-28T04:32:29Z</dcterms:created>
  <dcterms:modified xsi:type="dcterms:W3CDTF">2025-09-24T15:08:43Z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