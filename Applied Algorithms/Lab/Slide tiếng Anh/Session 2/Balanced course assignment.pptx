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268" r:id="rId4"/>
    <p:sldId id="269" r:id="rId5"/>
    <p:sldId id="27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47" autoAdjust="0"/>
    <p:restoredTop sz="94660"/>
  </p:normalViewPr>
  <p:slideViewPr>
    <p:cSldViewPr snapToGrid="0">
      <p:cViewPr>
        <p:scale>
          <a:sx n="71" d="100"/>
          <a:sy n="71" d="100"/>
        </p:scale>
        <p:origin x="1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3" y="3365399"/>
            <a:ext cx="7932613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Balanced course assignment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88472-76DB-0B84-7522-F565FC6B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19C9-8077-6DA8-BA87-7257A234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Balanced course assignment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CE02798-F6B8-27D9-43CE-02AA8363E6F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2800" dirty="0"/>
                  <a:t>Assign courses to teachers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time-conflict and preference conditions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Input &amp; Constraints: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teachers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{1,2,…,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courses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{1,2,…,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Each teacher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has a preference list which is courses he/she can teach. </a:t>
                </a:r>
              </a:p>
              <a:p>
                <a:pPr lvl="1"/>
                <a:r>
                  <a:rPr lang="en-US" dirty="0"/>
                  <a:t>There is a list of pairs of conflicting two courses that cannot be assigned to the same teacher. </a:t>
                </a:r>
              </a:p>
              <a:p>
                <a:pPr lvl="1"/>
                <a:r>
                  <a:rPr lang="en-US" dirty="0"/>
                  <a:t>The load of a teacher is the number of courses assigned to her/him.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Objective: </a:t>
                </a:r>
                <a:r>
                  <a:rPr lang="en-US" dirty="0"/>
                  <a:t>Minimize the maximum load of a teacher.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Output: </a:t>
                </a:r>
                <a:r>
                  <a:rPr lang="en-US" dirty="0"/>
                  <a:t>The maximum load, or -1 for non-existing cases.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lvl="1"/>
                <a:endParaRPr lang="en-US" sz="2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CE02798-F6B8-27D9-43CE-02AA8363E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 r="-11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ECE53-A314-2E03-DA1A-6284F524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96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1C6B-1895-52E4-DD49-0BB39B67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2D23-0386-F7FF-9997-75F6FD84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Balanced course assignment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535B6-BF19-2C63-B912-6F4F73DB8E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Example</a:t>
            </a:r>
          </a:p>
          <a:p>
            <a:pPr lvl="1"/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9A8E6-895D-69B0-ECBE-C73C879B5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31A5C821-55C1-4586-782D-180EAC986BB1}"/>
              </a:ext>
            </a:extLst>
          </p:cNvPr>
          <p:cNvGraphicFramePr/>
          <p:nvPr/>
        </p:nvGraphicFramePr>
        <p:xfrm>
          <a:off x="2668959" y="928509"/>
          <a:ext cx="8622496" cy="53035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48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3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8774">
                <a:tc>
                  <a:txBody>
                    <a:bodyPr/>
                    <a:lstStyle/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4 12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5 1 3 5 10 12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5 9 3 4 8 12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6 1 2 3 4 9 7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7 1 2 3 5 6 10 11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1 2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1 3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1 5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2 4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2 5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3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Explain: Courses of teachers: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1: 1 10 12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2: 3 4 8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3: 2 7 9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4: 5 6 11 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436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DE66-34E1-3BA5-6035-82A8AD4D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EC29-4651-A1E4-A39B-F5B750DC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Balanced course assignment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1703C-DCB0-5C6B-623E-A5A1BB499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Idea to solve: Backtracking and Branch and bound</a:t>
            </a:r>
          </a:p>
          <a:p>
            <a:pPr lvl="1"/>
            <a:r>
              <a:rPr lang="en-US" dirty="0"/>
              <a:t>To store the solution: An array Sol[N]. </a:t>
            </a:r>
          </a:p>
          <a:p>
            <a:pPr lvl="2"/>
            <a:r>
              <a:rPr lang="en-US" sz="2400" dirty="0">
                <a:solidFill>
                  <a:srgbClr val="6A9955"/>
                </a:solidFill>
                <a:latin typeface="JetBrains Mono Medium" panose="02000009000000000000" pitchFamily="2" charset="0"/>
              </a:rPr>
              <a:t>S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ol[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i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] = j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iff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we arrange teacher j teaches subject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i</a:t>
            </a:r>
            <a:endParaRPr lang="en-US" sz="2400" b="0" dirty="0">
              <a:solidFill>
                <a:srgbClr val="CCCCCC"/>
              </a:solidFill>
              <a:effectLst/>
              <a:latin typeface="JetBrains Mono Medium" panose="02000009000000000000" pitchFamily="2" charset="0"/>
            </a:endParaRPr>
          </a:p>
          <a:p>
            <a:pPr lvl="2"/>
            <a:r>
              <a:rPr lang="en-US" sz="2400" dirty="0"/>
              <a:t>To compare the objective: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nbTeach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[j] = number of subjects teacher j teaches</a:t>
            </a:r>
          </a:p>
          <a:p>
            <a:pPr lvl="2"/>
            <a:r>
              <a:rPr lang="en-US" sz="2400" dirty="0"/>
              <a:t>A variable </a:t>
            </a:r>
            <a:r>
              <a:rPr lang="en-US" sz="2400" dirty="0" err="1"/>
              <a:t>maxLoad</a:t>
            </a:r>
            <a:r>
              <a:rPr lang="en-US" sz="2400" dirty="0"/>
              <a:t> to store current solution’s maximum load</a:t>
            </a:r>
          </a:p>
          <a:p>
            <a:pPr lvl="1"/>
            <a:r>
              <a:rPr lang="en-US" dirty="0"/>
              <a:t>programming: write functions:</a:t>
            </a:r>
          </a:p>
          <a:p>
            <a:pPr lvl="2"/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JetBrains Mono Medium" panose="02000009000000000000" pitchFamily="2" charset="0"/>
              </a:rPr>
              <a:t>Try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 Medium" panose="02000009000000000000" pitchFamily="2" charset="0"/>
              </a:rPr>
              <a:t>k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// select teacher for course k</a:t>
            </a:r>
            <a:endParaRPr lang="en-US" b="0" dirty="0">
              <a:solidFill>
                <a:srgbClr val="CCCCCC"/>
              </a:solidFill>
              <a:effectLst/>
              <a:latin typeface="JetBrains Mono Medium" panose="02000009000000000000" pitchFamily="2" charset="0"/>
            </a:endParaRPr>
          </a:p>
          <a:p>
            <a:pPr lvl="2"/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bool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JetBrains Mono Medium" panose="02000009000000000000" pitchFamily="2" charset="0"/>
              </a:rPr>
              <a:t>check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 Medium" panose="02000009000000000000" pitchFamily="2" charset="0"/>
              </a:rPr>
              <a:t>j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 Medium" panose="02000009000000000000" pitchFamily="2" charset="0"/>
              </a:rPr>
              <a:t>k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// check if teacher j can teach course k </a:t>
            </a:r>
            <a:endParaRPr lang="en-US" b="0" dirty="0">
              <a:solidFill>
                <a:srgbClr val="CCCCCC"/>
              </a:solidFill>
              <a:effectLst/>
              <a:latin typeface="JetBrains Mono Medium" panose="02000009000000000000" pitchFamily="2" charset="0"/>
            </a:endParaRPr>
          </a:p>
          <a:p>
            <a:pPr lvl="2"/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JetBrains Mono Medium" panose="02000009000000000000" pitchFamily="2" charset="0"/>
              </a:rPr>
              <a:t>solution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() </a:t>
            </a:r>
            <a:r>
              <a:rPr lang="en-US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// change the current solution if find a better</a:t>
            </a:r>
            <a:endParaRPr lang="en-US" dirty="0"/>
          </a:p>
          <a:p>
            <a:pPr lvl="1"/>
            <a:r>
              <a:rPr lang="en-US" dirty="0"/>
              <a:t>Branch and bound (in Try()): if one teacher has </a:t>
            </a:r>
            <a:r>
              <a:rPr lang="en-US" dirty="0" err="1"/>
              <a:t>nbTeach</a:t>
            </a:r>
            <a:r>
              <a:rPr lang="en-US" dirty="0"/>
              <a:t>[] larger than </a:t>
            </a:r>
            <a:r>
              <a:rPr lang="en-US" dirty="0" err="1"/>
              <a:t>maxLoad</a:t>
            </a:r>
            <a:r>
              <a:rPr lang="en-US" dirty="0"/>
              <a:t>: move to the </a:t>
            </a:r>
            <a:r>
              <a:rPr lang="en-US" dirty="0" err="1"/>
              <a:t>bext</a:t>
            </a:r>
            <a:r>
              <a:rPr lang="en-US" dirty="0"/>
              <a:t> branch.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3681-147C-3D78-9C4A-97DBD244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5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FECAAD-683D-499F-8249-E0F03024DEAB}"/>
</file>

<file path=customXml/itemProps2.xml><?xml version="1.0" encoding="utf-8"?>
<ds:datastoreItem xmlns:ds="http://schemas.openxmlformats.org/officeDocument/2006/customXml" ds:itemID="{CF2FF567-F19A-453B-956E-CB07B9D9B972}"/>
</file>

<file path=customXml/itemProps3.xml><?xml version="1.0" encoding="utf-8"?>
<ds:datastoreItem xmlns:ds="http://schemas.openxmlformats.org/officeDocument/2006/customXml" ds:itemID="{B3E8FBD6-0EFA-4595-ADDF-2223B041C0F0}"/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333</Words>
  <Application>Microsoft Macintosh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JetBrains Mono Medium</vt:lpstr>
      <vt:lpstr>Lato</vt:lpstr>
      <vt:lpstr>Office Theme</vt:lpstr>
      <vt:lpstr>PowerPoint Presentation</vt:lpstr>
      <vt:lpstr>PowerPoint Presentation</vt:lpstr>
      <vt:lpstr>Balanced course assignment</vt:lpstr>
      <vt:lpstr>Balanced course assignment</vt:lpstr>
      <vt:lpstr>Balanced course assignment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17</cp:revision>
  <dcterms:created xsi:type="dcterms:W3CDTF">2021-05-28T04:32:29Z</dcterms:created>
  <dcterms:modified xsi:type="dcterms:W3CDTF">2025-09-24T15:20:32Z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