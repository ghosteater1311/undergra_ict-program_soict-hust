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9" r:id="rId2"/>
    <p:sldId id="257" r:id="rId3"/>
    <p:sldId id="272" r:id="rId4"/>
    <p:sldId id="274" r:id="rId5"/>
    <p:sldId id="27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547" autoAdjust="0"/>
    <p:restoredTop sz="94660"/>
  </p:normalViewPr>
  <p:slideViewPr>
    <p:cSldViewPr snapToGrid="0">
      <p:cViewPr>
        <p:scale>
          <a:sx n="71" d="100"/>
          <a:sy n="71" d="100"/>
        </p:scale>
        <p:origin x="14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3" y="3365399"/>
            <a:ext cx="7932613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CBUS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6AA4-C664-2791-9E42-E67FC3B7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2826-2D5C-7FDE-DFEF-C2157BF1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CBUS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09BFEE-98AC-3FF0-58F6-2AA50D9C59A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vi-VN" dirty="0"/>
                  <a:t>Find the best route for a bus serving some passengers</a:t>
                </a:r>
              </a:p>
              <a:p>
                <a:r>
                  <a:rPr lang="vi-VN" dirty="0"/>
                  <a:t>There are </a:t>
                </a:r>
                <a14:m>
                  <m:oMath xmlns:m="http://schemas.openxmlformats.org/officeDocument/2006/math">
                    <m:r>
                      <a:rPr lang="vi-V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dirty="0"/>
                  <a:t> passengers. The passenger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dirty="0"/>
                  <a:t> </a:t>
                </a:r>
                <a:r>
                  <a:rPr lang="en-US" dirty="0">
                    <a:sym typeface="Arial"/>
                  </a:rPr>
                  <a:t>travel from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Arial"/>
                      </a:rPr>
                      <m:t>𝑖</m:t>
                    </m:r>
                  </m:oMath>
                </a14:m>
                <a:r>
                  <a:rPr lang="en-US" dirty="0">
                    <a:sym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Arial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</m:oMath>
                </a14:m>
                <a:endParaRPr lang="vi-VN" dirty="0"/>
              </a:p>
              <a:p>
                <a:pPr marL="0" indent="0">
                  <a:buNone/>
                </a:pPr>
                <a:r>
                  <a:rPr lang="vi-VN" dirty="0"/>
                  <a:t>	Transportation: a bus with capacity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vi-VN" dirty="0"/>
              </a:p>
              <a:p>
                <a:r>
                  <a:rPr lang="vi-VN" b="1" dirty="0">
                    <a:solidFill>
                      <a:srgbClr val="C00000"/>
                    </a:solidFill>
                  </a:rPr>
                  <a:t>Input:</a:t>
                </a:r>
                <a:r>
                  <a:rPr lang="vi-VN" dirty="0"/>
                  <a:t>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dirty="0"/>
                  <a:t>and the distance matrix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[1..2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][1..2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vi-VN" dirty="0"/>
              </a:p>
              <a:p>
                <a:r>
                  <a:rPr lang="vi-VN" b="1" dirty="0">
                    <a:solidFill>
                      <a:srgbClr val="C00000"/>
                    </a:solidFill>
                  </a:rPr>
                  <a:t>Output:</a:t>
                </a:r>
                <a:r>
                  <a:rPr lang="vi-VN" dirty="0"/>
                  <a:t> the minimum length for the bus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09BFEE-98AC-3FF0-58F6-2AA50D9C59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81" t="-230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86D8F-AE94-954A-3168-CCD17E52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15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C3D23-B6B3-4775-5860-4F2EEAAF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1612-B958-67F4-D4BD-802D7BC03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CBUS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A271F-5F67-FAA7-6CA6-82E885FC5F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dirty="0"/>
              <a:t>Example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43D75-83F4-A37A-8AD1-411D62E4D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0E4F015B-36D7-49AA-7F92-8173DAE5CC7A}"/>
              </a:ext>
            </a:extLst>
          </p:cNvPr>
          <p:cNvGraphicFramePr/>
          <p:nvPr/>
        </p:nvGraphicFramePr>
        <p:xfrm>
          <a:off x="852972" y="1683761"/>
          <a:ext cx="10515600" cy="40233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295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9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</a:rPr>
                        <a:t>stdin</a:t>
                      </a:r>
                      <a:endParaRPr sz="2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</a:rPr>
                        <a:t>stdout</a:t>
                      </a:r>
                      <a:endParaRPr sz="2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3  2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0  8  5  1  10  5  9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9  0  5  6  6  2  8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2  2  0  3  8  7  2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5  3  4  0  3  2  7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9  6  8  7  0  9  10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3  8  10  6  5  0  2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3  4  4  5  2  2  0</a:t>
                      </a:r>
                      <a:endParaRPr sz="2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1"/>
                          </a:solidFill>
                        </a:rPr>
                        <a:t>25</a:t>
                      </a:r>
                      <a:endParaRPr sz="2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60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BC610-46BD-BDB9-C62D-8EC6C512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7867D-8D7F-D522-DB07-5DA54A642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CBUS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B4E1F-800E-CD44-74A4-CC0E7B479F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dirty="0"/>
              <a:t>Idea to solve: backtracking and branch &amp; bound, similar to TSP</a:t>
            </a:r>
          </a:p>
          <a:p>
            <a:pPr lvl="1"/>
            <a:r>
              <a:rPr lang="en-VN" dirty="0"/>
              <a:t>An array x[1..2n] - </a:t>
            </a:r>
            <a:r>
              <a:rPr lang="en-US" dirty="0"/>
              <a:t>permutation of 1,…,2n representing the locations of our bus</a:t>
            </a:r>
          </a:p>
          <a:p>
            <a:pPr lvl="1"/>
            <a:r>
              <a:rPr lang="en-VN" dirty="0"/>
              <a:t>Supporting variables:</a:t>
            </a:r>
          </a:p>
          <a:p>
            <a:pPr lvl="2"/>
            <a:r>
              <a:rPr lang="vi-VN" dirty="0">
                <a:solidFill>
                  <a:schemeClr val="dk1"/>
                </a:solidFill>
                <a:sym typeface="Arial"/>
              </a:rPr>
              <a:t>Marking array: 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appear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[1..2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n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]</a:t>
            </a:r>
          </a:p>
          <a:p>
            <a:pPr marL="914400" lvl="2" indent="0">
              <a:buNone/>
            </a:pP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 	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appear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[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v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] = true means that 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v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 has appear in the route.</a:t>
            </a:r>
            <a:endParaRPr lang="vi-VN" dirty="0">
              <a:sym typeface="Arial"/>
            </a:endParaRPr>
          </a:p>
          <a:p>
            <a:pPr lvl="2"/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load: number of passengers in the bus</a:t>
            </a:r>
          </a:p>
          <a:p>
            <a:pPr lvl="1"/>
            <a:r>
              <a:rPr lang="vi-VN" dirty="0">
                <a:solidFill>
                  <a:schemeClr val="dk1"/>
                </a:solidFill>
                <a:sym typeface="Arial"/>
              </a:rPr>
              <a:t>Programming:</a:t>
            </a:r>
          </a:p>
          <a:p>
            <a:pPr lvl="2"/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Try(k): select value for 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x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[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k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]</a:t>
            </a:r>
          </a:p>
          <a:p>
            <a:pPr lvl="1"/>
            <a:r>
              <a:rPr lang="vi-VN" sz="2400" b="0" i="0" u="none" strike="noStrike" cap="none" dirty="0">
                <a:solidFill>
                  <a:schemeClr val="dk1"/>
                </a:solidFill>
                <a:sym typeface="Arial"/>
              </a:rPr>
              <a:t>Branch and bound: similar to the solution of TSP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5A2D-718B-2761-E8BA-A117B2A1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50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57420D-BEAF-403D-9366-E0F7608960F9}"/>
</file>

<file path=customXml/itemProps2.xml><?xml version="1.0" encoding="utf-8"?>
<ds:datastoreItem xmlns:ds="http://schemas.openxmlformats.org/officeDocument/2006/customXml" ds:itemID="{BEB58175-1909-45C9-B4DB-4DAAA7E17BCA}"/>
</file>

<file path=customXml/itemProps3.xml><?xml version="1.0" encoding="utf-8"?>
<ds:datastoreItem xmlns:ds="http://schemas.openxmlformats.org/officeDocument/2006/customXml" ds:itemID="{53818D1C-E390-427B-815A-39F09D1D6D45}"/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227</Words>
  <Application>Microsoft Macintosh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Lato</vt:lpstr>
      <vt:lpstr>Office Theme</vt:lpstr>
      <vt:lpstr>PowerPoint Presentation</vt:lpstr>
      <vt:lpstr>PowerPoint Presentation</vt:lpstr>
      <vt:lpstr>CBUS</vt:lpstr>
      <vt:lpstr>CBUS</vt:lpstr>
      <vt:lpstr>CBUS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18</cp:revision>
  <dcterms:created xsi:type="dcterms:W3CDTF">2021-05-28T04:32:29Z</dcterms:created>
  <dcterms:modified xsi:type="dcterms:W3CDTF">2025-09-24T15:21:19Z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