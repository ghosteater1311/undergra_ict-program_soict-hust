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9" r:id="rId2"/>
    <p:sldId id="257" r:id="rId3"/>
    <p:sldId id="258" r:id="rId4"/>
    <p:sldId id="265" r:id="rId5"/>
    <p:sldId id="266" r:id="rId6"/>
    <p:sldId id="277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DFC55-B52D-4F73-9DDF-9BB15F125E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C6814-8C30-4B37-9E07-93EF4771A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3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34926-CABF-7EF1-268B-BE560B307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6DB97-092E-24B4-9BDF-5F887C979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4988D-E243-6595-7F38-B591A32B6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4F3C1-BA00-60D5-EF1D-425917A2A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59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5A88C67-891B-E0E3-0604-FADAFCCE5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72776C3-30BE-D83A-9E5D-7B1312D1E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CEC02F6-69A4-537D-ABA5-65145764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CD63D8B-9665-9A56-0A12-E8FF0FE9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1A8D061-0FCE-9317-4EAA-6E26A213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6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DD37677-6F6E-0384-F280-BC93D0DB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945AD44-48AD-3AB1-ED8A-D055350F5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95C99C1-5AC9-3888-6320-26FB23B6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DCA72DE-D391-3FDA-ACA3-6EE573E3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8CFFA1C-0C0B-F983-8FE9-BCCC93A7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0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E59518-1D55-B371-FB25-4A4B845B0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7639ED3-A704-C410-4C46-1A001708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1241A85-3FE7-2636-A5C0-66BFBBEB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86D3A45-4C10-1F73-16F1-3DD9EE23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A8744F6-43AC-C97D-DCC4-628D5CFD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6C08695-C0D7-A1CE-946E-6AC7710D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9EF6B95-A06F-BE47-A1E2-4A02E050F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4C69F6-BBCE-95B4-A177-15128C079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41B1BCD-5DF5-4991-3DC9-D4E0FC53F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E2065E37-9A90-8B50-A4B7-D4D4DEDB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8F1983A-0612-5FBB-7A70-0EEFAC7A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4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C81E0EE-F1C5-8C9E-E316-DED07E66E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82EB30A-DD97-7909-2036-29BD155D3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0978100-8BE8-F35A-6AAB-F89F1F8AA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827D3673-7478-DC2E-D816-B6090DC2B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2E12D4A7-3BFD-CC41-0584-3EAE95DDF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0DDCBCA4-DC25-A5B1-7639-6BF02B4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CF2C9BE7-FF7E-E325-B189-AB4DACC96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D7BEB403-E2D8-B8EC-D1D9-0D1F1C16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71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6FD3CBD-2813-8F96-DD31-4AB03BE10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D5921CAC-E52E-AE98-C407-0647A2B7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36479D51-982D-4E74-7A6D-7A4A9E07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9970CD80-021C-10E8-92AE-1B65EE8B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58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09AA53B-D6A7-BB26-698A-CC6D3C8A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E21DF8FE-8BBD-C314-DCEE-A62CDC66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B18B79C-75DD-1407-D387-305A1A80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1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8660E28-B210-0729-B6EC-8EF6474D0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CEA2F69-BFD3-D42E-F260-99A65038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F40A34D-EDF3-5891-A0A3-4993A91BF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329596E2-1862-E50D-7629-EC9668E1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9374F86-8E17-44B0-976C-69A5616E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6D6B729-CAAC-A6C5-9CFE-27D0BCAD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4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F58DD64-BC83-EE87-04D8-CD3F6B10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51925A14-3639-EC6A-629F-7F6BFF024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F650622-51B7-3AF2-EA16-BCBD3E6A5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F323D3C-200F-98CD-DF24-93DDC69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885521D-3E1C-445C-A1B5-DA1F1B0C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F982A607-89F7-BEF0-4784-0D40DFD5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2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4255527-00C6-DB8F-5C57-4A32F0E07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2F8A0689-2245-FEE6-97C7-C14516335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4FFA54D-6707-50FF-5219-41DA0C33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726568D-658F-3023-8B94-C6BEB377B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D758BEC-5EC2-C182-8DCA-D843E654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9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886025FF-C3DF-747E-48A4-3ACDEDFB4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0EC2FA4D-9D1C-E810-DD4A-75421B848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B4FF88A-2FF1-00A0-766D-A36E35A07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BD1C252-FECF-7217-D320-9E8157ED7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A728DCC-0BBD-E469-CC1B-F2EE9B8D7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5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372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594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565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7B0FD760-3672-8D0E-6CF7-9058FBB2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24DC5CA-2F07-D49E-F6D4-89248CD14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5D82162-080E-C394-A410-AC3F8CC84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11D3658-43F3-659C-19D3-B1E39D09F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9C44EB4-E7E6-6FC3-8CE3-99458DB09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13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Applied Algorithm Lab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Disjoint segment</a:t>
            </a:r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1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D019-96A4-4D1E-AFB5-09D65C86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Disjoint segment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726603-7893-4AE0-9532-68058044B69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sz="3200" dirty="0"/>
                  <a:t>Find maximal number of disjoint segments from a given set.</a:t>
                </a:r>
              </a:p>
              <a:p>
                <a:r>
                  <a:rPr lang="en-US" sz="3200" b="1" dirty="0"/>
                  <a:t>Input:</a:t>
                </a:r>
                <a:r>
                  <a:rPr lang="en-US" sz="3200" dirty="0"/>
                  <a:t>  A line and </a:t>
                </a:r>
                <a:r>
                  <a:rPr lang="en-VN" sz="3200" dirty="0"/>
                  <a:t>a set of segments on the line: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3200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vi-VN" sz="3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vi-VN" sz="3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vi-VN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vi-VN" sz="3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32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vi-VN" sz="32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vi-VN" sz="32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vi-VN" sz="3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3200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vi-VN" sz="32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vi-VN" sz="3200" b="0" i="1" dirty="0" smtClean="0">
                              <a:latin typeface="Cambria Math" panose="02040503050406030204" pitchFamily="18" charset="0"/>
                            </a:rPr>
                            <m:t>;…;</m:t>
                          </m:r>
                          <m:d>
                            <m:dPr>
                              <m:ctrlPr>
                                <a:rPr lang="vi-VN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vi-VN" sz="3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32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vi-VN" sz="3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vi-VN" sz="3200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vi-VN" sz="3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3200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vi-VN" sz="3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vi-VN" sz="32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vi-VN" sz="3200" i="1" dirty="0">
                          <a:latin typeface="Cambria Math" panose="02040503050406030204" pitchFamily="18" charset="0"/>
                        </a:rPr>
                        <m:t>where</m:t>
                      </m:r>
                      <m:r>
                        <a:rPr lang="vi-VN" sz="3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3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vi-VN" sz="3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vi-VN" sz="32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vi-VN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3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vi-VN" sz="3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VN" sz="3200" i="1" dirty="0"/>
              </a:p>
              <a:p>
                <a:r>
                  <a:rPr lang="en-US" sz="3200" b="1" dirty="0"/>
                  <a:t>Objective: </a:t>
                </a:r>
                <a:r>
                  <a:rPr lang="en-US" sz="3200" dirty="0"/>
                  <a:t>Find a subset of X containing disjoint segment and largest cardinality</a:t>
                </a:r>
                <a:endParaRPr lang="en-US" sz="3200" b="1" dirty="0"/>
              </a:p>
              <a:p>
                <a:r>
                  <a:rPr lang="en-US" sz="3200" b="1" dirty="0"/>
                  <a:t>Output: </a:t>
                </a:r>
                <a:r>
                  <a:rPr lang="en-VN" sz="3200" dirty="0"/>
                  <a:t>the </a:t>
                </a:r>
                <a:r>
                  <a:rPr lang="en-US" sz="3200" dirty="0"/>
                  <a:t>largest cardinality found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726603-7893-4AE0-9532-68058044B6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211" t="-2564" r="-66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677A-4F02-4478-B9B8-685D0B62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52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C5497-E8B9-5C39-827C-EAFCF5EFD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0AADB-4C78-6231-EBC4-E3B7E7372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Disjoint segment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ED602-54EA-147C-34D0-D5E1D3F491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VN" sz="3200" dirty="0"/>
              <a:t>Example</a:t>
            </a:r>
            <a:endParaRPr lang="en-US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71C16-B31B-78D5-9F26-9C3CF03C5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4" name="Google Shape;92;p2">
            <a:extLst>
              <a:ext uri="{FF2B5EF4-FFF2-40B4-BE49-F238E27FC236}">
                <a16:creationId xmlns:a16="http://schemas.microsoft.com/office/drawing/2014/main" id="{C325F0B6-2F04-EDDC-2737-9C0DAE721767}"/>
              </a:ext>
            </a:extLst>
          </p:cNvPr>
          <p:cNvGraphicFramePr/>
          <p:nvPr/>
        </p:nvGraphicFramePr>
        <p:xfrm>
          <a:off x="852972" y="1683761"/>
          <a:ext cx="10515600" cy="408434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08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7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3200" u="none" strike="noStrike" cap="none">
                          <a:solidFill>
                            <a:schemeClr val="dk1"/>
                          </a:solidFill>
                        </a:rPr>
                        <a:t>stdin</a:t>
                      </a:r>
                      <a:endParaRPr sz="32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3200" u="none" strike="noStrike" cap="none">
                          <a:solidFill>
                            <a:schemeClr val="dk1"/>
                          </a:solidFill>
                        </a:rPr>
                        <a:t>stdout</a:t>
                      </a:r>
                      <a:endParaRPr sz="3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200" u="none" strike="noStrike" cap="none" dirty="0"/>
                        <a:t>6</a:t>
                      </a:r>
                      <a:endParaRPr sz="3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200" u="none" strike="noStrike" cap="none" dirty="0"/>
                        <a:t>0 10</a:t>
                      </a:r>
                      <a:endParaRPr sz="3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200" u="none" strike="noStrike" cap="none" dirty="0"/>
                        <a:t>3 7</a:t>
                      </a:r>
                      <a:endParaRPr sz="3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200" u="none" strike="noStrike" cap="none" dirty="0"/>
                        <a:t>6 14</a:t>
                      </a:r>
                      <a:endParaRPr sz="3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200" u="none" strike="noStrike" cap="none" dirty="0"/>
                        <a:t>9 11</a:t>
                      </a:r>
                      <a:endParaRPr sz="3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200" u="none" strike="noStrike" cap="none" dirty="0"/>
                        <a:t>12 15</a:t>
                      </a:r>
                      <a:endParaRPr sz="3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200" u="none" strike="noStrike" cap="none" dirty="0"/>
                        <a:t>17 19</a:t>
                      </a:r>
                      <a:endParaRPr sz="32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3200" u="none" strike="noStrike" cap="none" dirty="0">
                          <a:solidFill>
                            <a:schemeClr val="dk1"/>
                          </a:solidFill>
                        </a:rPr>
                        <a:t>4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lang="vi-VN" sz="32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VN" sz="3200" u="none" strike="noStrike" cap="none" dirty="0">
                          <a:solidFill>
                            <a:schemeClr val="dk1"/>
                          </a:solidFill>
                        </a:rPr>
                        <a:t>Explain: (3,7), (9,11), (12,15), (17,19)</a:t>
                      </a:r>
                      <a:endParaRPr sz="32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243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BE8BD18-9640-3CEC-FC6E-4245A00EC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B780-5C67-C0B6-4CCC-F8C5A1FE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26191"/>
            <a:ext cx="11514528" cy="436098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Disjoint segment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EEE4F-865A-2DC9-B5D7-28A895C764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VN" dirty="0"/>
              <a:t>Idea to solve: use greedy approach</a:t>
            </a:r>
          </a:p>
          <a:p>
            <a:pPr lvl="1"/>
            <a:r>
              <a:rPr lang="en-VN" dirty="0"/>
              <a:t>Nhận xét: Chọn từ trái sang phải: Đoạn nào kết thúc sớm thì ưu tiên chọn trước, vì có thể “tiết kiệm” được không gian cho các đoạn phía sau</a:t>
            </a:r>
          </a:p>
          <a:p>
            <a:pPr lvl="1"/>
            <a:r>
              <a:rPr lang="vi-VN" dirty="0">
                <a:sym typeface="Arial"/>
              </a:rPr>
              <a:t>Sắp xếp các đoạn tăng dần theo điểm kết thúc</a:t>
            </a:r>
          </a:p>
          <a:p>
            <a:pPr lvl="1"/>
            <a:r>
              <a:rPr lang="vi-VN" dirty="0">
                <a:sym typeface="Arial"/>
              </a:rPr>
              <a:t>Duyệt qua các đoạn và kiểm tra xem 1 đoạn có thoả mãn yêu cầu không, nếu có thì sẽ chọn vào tập con cần tìm</a:t>
            </a:r>
          </a:p>
          <a:p>
            <a:pPr lvl="1"/>
            <a:r>
              <a:rPr lang="vi-VN" dirty="0">
                <a:sym typeface="Arial"/>
              </a:rPr>
              <a:t>Biến phụ trợ:</a:t>
            </a:r>
            <a:r>
              <a:rPr lang="vi-VN" sz="1800" dirty="0">
                <a:latin typeface="+mn-lt"/>
                <a:ea typeface="+mn-ea"/>
                <a:cs typeface="+mn-cs"/>
                <a:sym typeface="Arial"/>
              </a:rPr>
              <a:t> </a:t>
            </a:r>
          </a:p>
          <a:p>
            <a:pPr marL="457200" lvl="1" indent="0">
              <a:buNone/>
            </a:pPr>
            <a:r>
              <a:rPr lang="vi-VN" dirty="0">
                <a:sym typeface="Arial"/>
              </a:rPr>
              <a:t>	last: lưu điểm kết thúc của đoạn trước đó ta đã chọn</a:t>
            </a:r>
          </a:p>
          <a:p>
            <a:pPr lvl="1"/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con: begin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&gt; last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021F7-5634-A58F-B4BD-126D86DCC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343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5335E-8193-F147-AD29-F2993F409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EC769-FEBB-224C-8046-8640C3E6D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26191"/>
            <a:ext cx="11514528" cy="436098"/>
          </a:xfrm>
        </p:spPr>
        <p:txBody>
          <a:bodyPr>
            <a:normAutofit fontScale="90000"/>
          </a:bodyPr>
          <a:lstStyle/>
          <a:p>
            <a:r>
              <a:rPr lang="en-US" sz="2800" b="1"/>
              <a:t>Disjoint </a:t>
            </a:r>
            <a:r>
              <a:rPr lang="en-US" sz="2800" b="1" dirty="0"/>
              <a:t>segment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22035-97E2-B644-D00B-F3E15A50F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VN" dirty="0"/>
              <a:t>Idea to solve: use greedy approach</a:t>
            </a:r>
          </a:p>
          <a:p>
            <a:pPr lvl="1"/>
            <a:r>
              <a:rPr lang="en-US" b="1" dirty="0"/>
              <a:t>Observation</a:t>
            </a:r>
            <a:endParaRPr lang="en-US" dirty="0"/>
          </a:p>
          <a:p>
            <a:pPr lvl="2"/>
            <a:r>
              <a:rPr lang="en-US" dirty="0"/>
              <a:t>Choose from left to right: prioritize the interval that ends earliest → this “saves space” for later intervals.</a:t>
            </a:r>
          </a:p>
          <a:p>
            <a:pPr lvl="2"/>
            <a:r>
              <a:rPr lang="en-US" dirty="0"/>
              <a:t>Sort the intervals in ascending order of their end time.</a:t>
            </a:r>
          </a:p>
          <a:p>
            <a:pPr lvl="2"/>
            <a:r>
              <a:rPr lang="en-US" dirty="0"/>
              <a:t>Traverse through the intervals and check if an interval satisfies the condition; if yes, add it to the subset.</a:t>
            </a:r>
          </a:p>
          <a:p>
            <a:pPr lvl="1"/>
            <a:r>
              <a:rPr lang="en-US" b="1" dirty="0"/>
              <a:t>Auxiliary variable</a:t>
            </a:r>
            <a:endParaRPr lang="en-US" dirty="0"/>
          </a:p>
          <a:p>
            <a:pPr lvl="2"/>
            <a:r>
              <a:rPr lang="en-US" dirty="0"/>
              <a:t>last: stores the end point of the previously selected interval.</a:t>
            </a:r>
          </a:p>
          <a:p>
            <a:pPr lvl="1"/>
            <a:r>
              <a:rPr lang="en-US" b="1" dirty="0"/>
              <a:t>Selection condition</a:t>
            </a:r>
            <a:endParaRPr lang="en-US" dirty="0"/>
          </a:p>
          <a:p>
            <a:pPr lvl="2"/>
            <a:r>
              <a:rPr lang="en-US" dirty="0"/>
              <a:t>An interval is selected if begin &gt; last.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C2684-9CE6-0A7A-8233-AB3B0D47A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1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95177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F713783-27A8-4E32-9254-F8AE924F3D0F}"/>
</file>

<file path=customXml/itemProps2.xml><?xml version="1.0" encoding="utf-8"?>
<ds:datastoreItem xmlns:ds="http://schemas.openxmlformats.org/officeDocument/2006/customXml" ds:itemID="{B18C8F8D-6C48-40AE-9ABB-00571A4FC94F}"/>
</file>

<file path=customXml/itemProps3.xml><?xml version="1.0" encoding="utf-8"?>
<ds:datastoreItem xmlns:ds="http://schemas.openxmlformats.org/officeDocument/2006/customXml" ds:itemID="{20187391-5A6A-441A-A03E-74E1AC5E9B2D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305</Words>
  <Application>Microsoft Office PowerPoint</Application>
  <PresentationFormat>Màn hình rộng</PresentationFormat>
  <Paragraphs>49</Paragraphs>
  <Slides>7</Slides>
  <Notes>2</Notes>
  <HiddenSlides>1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Lato</vt:lpstr>
      <vt:lpstr>Times New Roman</vt:lpstr>
      <vt:lpstr>Chủ đề Office</vt:lpstr>
      <vt:lpstr>Bản trình bày PowerPoint</vt:lpstr>
      <vt:lpstr>Bản trình bày PowerPoint</vt:lpstr>
      <vt:lpstr>Disjoint segment</vt:lpstr>
      <vt:lpstr>Disjoint segment</vt:lpstr>
      <vt:lpstr>Disjoint segment</vt:lpstr>
      <vt:lpstr>Disjoint segment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1</cp:revision>
  <dcterms:created xsi:type="dcterms:W3CDTF">2025-09-24T15:02:19Z</dcterms:created>
  <dcterms:modified xsi:type="dcterms:W3CDTF">2025-09-24T15:04:12Z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