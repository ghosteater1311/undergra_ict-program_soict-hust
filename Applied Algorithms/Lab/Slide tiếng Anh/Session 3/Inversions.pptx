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57" r:id="rId3"/>
    <p:sldId id="268" r:id="rId4"/>
    <p:sldId id="269" r:id="rId5"/>
    <p:sldId id="278" r:id="rId6"/>
    <p:sldId id="274" r:id="rId7"/>
    <p:sldId id="279" r:id="rId8"/>
    <p:sldId id="275" r:id="rId9"/>
    <p:sldId id="28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4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Inversions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B116-EF6D-6B3F-0CC5-F9B4A2C5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43C5-09D1-0646-E2DE-32712960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CB8630-9EEB-1AE4-EDD2-C129BBB46BC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VN" dirty="0"/>
                  <a:t>Count the number of inversions (số cặp nghịch thế) of a permutation</a:t>
                </a:r>
              </a:p>
              <a:p>
                <a:r>
                  <a:rPr lang="en-VN" sz="2800" dirty="0"/>
                  <a:t>Input: </a:t>
                </a:r>
                <a:r>
                  <a:rPr lang="en-US" sz="2800" b="0" i="0" dirty="0">
                    <a:sym typeface="Arial"/>
                  </a:rPr>
                  <a:t>a sequence of integers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𝑎</m:t>
                    </m:r>
                    <m:r>
                      <a:rPr lang="en-US" sz="2800" b="0" i="1" baseline="-25000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1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,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𝑎</m:t>
                    </m:r>
                    <m:r>
                      <a:rPr lang="en-US" sz="2800" b="0" i="1" baseline="-25000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2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,…,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𝑎𝑛</m:t>
                    </m:r>
                  </m:oMath>
                </a14:m>
                <a:r>
                  <a:rPr lang="en-US" sz="2800" b="0" i="0" dirty="0">
                    <a:sym typeface="Arial"/>
                  </a:rPr>
                  <a:t>. </a:t>
                </a:r>
              </a:p>
              <a:p>
                <a:r>
                  <a:rPr lang="en-US" dirty="0">
                    <a:sym typeface="Arial"/>
                  </a:rPr>
                  <a:t>Output: The number of pairs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Arial"/>
                      </a:rPr>
                      <m:t>𝑖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Arial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800" dirty="0"/>
                  <a:t>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 </a:t>
                </a:r>
              </a:p>
              <a:p>
                <a:endParaRPr lang="en-US" dirty="0"/>
              </a:p>
              <a:p>
                <a:r>
                  <a:rPr lang="en-US" sz="2800" dirty="0"/>
                  <a:t>Example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CB8630-9EEB-1AE4-EDD2-C129BBB46B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CC871-2914-711A-DEED-10F151BB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Google Shape;87;p1">
            <a:extLst>
              <a:ext uri="{FF2B5EF4-FFF2-40B4-BE49-F238E27FC236}">
                <a16:creationId xmlns:a16="http://schemas.microsoft.com/office/drawing/2014/main" id="{8FF53726-F9CD-F11B-9F3C-B87AD88B44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023" y="3886200"/>
            <a:ext cx="6233208" cy="13891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966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65D155-8DEA-01F3-9E2A-71703AB6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5E5A-5D1C-C02A-8428-4A8D9A5C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E5598-9614-0D5A-F70C-E46570D4CA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en-VN" dirty="0"/>
              <a:t>Idea to solve</a:t>
            </a:r>
            <a:r>
              <a:rPr lang="vi-VN" dirty="0"/>
              <a:t> #1: Duyệt toàn bộ từ trái sang</a:t>
            </a:r>
          </a:p>
          <a:p>
            <a:pPr lvl="1"/>
            <a:r>
              <a:rPr lang="vi-VN" dirty="0"/>
              <a:t>Tại mỗi điểm: đếm số phần tử bên phải nhỏ hơn: chính là số nghịch thế</a:t>
            </a:r>
          </a:p>
          <a:p>
            <a:pPr lvl="1"/>
            <a:r>
              <a:rPr lang="vi-VN" dirty="0"/>
              <a:t>Độ phức tạp: O(n</a:t>
            </a:r>
            <a:r>
              <a:rPr lang="vi-VN" baseline="30000" dirty="0"/>
              <a:t>2</a:t>
            </a:r>
            <a:r>
              <a:rPr lang="vi-VN" dirty="0"/>
              <a:t>)</a:t>
            </a:r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BCF4A-4FB8-F172-8190-8C6E083C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8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C280-5BA1-995D-6FFE-088E919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EAB5-DE83-901A-F87A-98C1FF44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20962-ED45-4C79-3006-43AEFAA87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en-VN" dirty="0"/>
              <a:t>Idea to solve</a:t>
            </a:r>
            <a:r>
              <a:rPr lang="vi-VN" dirty="0"/>
              <a:t> #1: Brute-force from left -&gt; right</a:t>
            </a:r>
          </a:p>
          <a:p>
            <a:pPr lvl="1"/>
            <a:r>
              <a:rPr lang="vi-VN" dirty="0"/>
              <a:t>At each element: count number of its right elements smaller than it -&gt; number of inversions</a:t>
            </a:r>
          </a:p>
          <a:p>
            <a:pPr lvl="1"/>
            <a:r>
              <a:rPr lang="vi-VN" dirty="0"/>
              <a:t>Complexity: O(n</a:t>
            </a:r>
            <a:r>
              <a:rPr lang="vi-VN" baseline="30000" dirty="0"/>
              <a:t>2</a:t>
            </a:r>
            <a:r>
              <a:rPr lang="vi-VN" dirty="0"/>
              <a:t>)</a:t>
            </a:r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AC626-6648-3531-B69F-323C17FE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7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904D5-005F-5376-3A74-2F5FAC76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E48A-BE30-8983-8CC9-EDBF8722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1C4CE-F4D5-0CAD-066F-8D4F41882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en-VN" dirty="0"/>
              <a:t>Idea to solve #2: similar to merge sort</a:t>
            </a:r>
          </a:p>
          <a:p>
            <a:pPr lvl="1"/>
            <a:r>
              <a:rPr lang="en-VN" dirty="0"/>
              <a:t>Fix the code mergeSort to sort and count inversions at the same time</a:t>
            </a:r>
          </a:p>
          <a:p>
            <a:pPr lvl="1"/>
            <a:r>
              <a:rPr lang="en-US" dirty="0"/>
              <a:t>Idea of </a:t>
            </a:r>
            <a:r>
              <a:rPr lang="en-US" dirty="0" err="1"/>
              <a:t>mergeSort</a:t>
            </a:r>
            <a:r>
              <a:rPr lang="en-US" dirty="0"/>
              <a:t>(int left, int right):</a:t>
            </a:r>
          </a:p>
          <a:p>
            <a:pPr lvl="2"/>
            <a:r>
              <a:rPr lang="en-US" sz="2400" dirty="0"/>
              <a:t>divide the array into 2 parts</a:t>
            </a:r>
          </a:p>
          <a:p>
            <a:pPr lvl="2"/>
            <a:r>
              <a:rPr lang="en-US" sz="2400" dirty="0"/>
              <a:t>Sort the subarray (left, mid) and subarray (mid +1, right)</a:t>
            </a:r>
          </a:p>
          <a:p>
            <a:pPr lvl="2"/>
            <a:r>
              <a:rPr lang="en-US" sz="2400" dirty="0"/>
              <a:t>Merge the two subarrays</a:t>
            </a:r>
          </a:p>
          <a:p>
            <a:pPr lvl="2"/>
            <a:r>
              <a:rPr lang="en-US" sz="2400" dirty="0"/>
              <a:t>Complexity: O(n log n)</a:t>
            </a:r>
            <a:endParaRPr lang="en-V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4D424-DC96-C84C-47B8-0522D8C5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4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0580FC-9285-C617-291E-D7E2A59C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CFFE-0FAE-C216-0136-CE54C5FE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11669-94F0-F797-09C0-97295B99A9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en-VN" dirty="0"/>
              <a:t>Idea to solve #2: similar to merge sort</a:t>
            </a:r>
          </a:p>
          <a:p>
            <a:pPr lvl="1"/>
            <a:r>
              <a:rPr lang="en-VN" dirty="0"/>
              <a:t>Chỉnh sửa lại code mergeSort để vừa sắp xếp vừa đếm số nghịch thế</a:t>
            </a:r>
          </a:p>
          <a:p>
            <a:pPr lvl="1"/>
            <a:r>
              <a:rPr lang="en-US" dirty="0" err="1"/>
              <a:t>Ý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mergeSort</a:t>
            </a:r>
            <a:r>
              <a:rPr lang="en-US" dirty="0"/>
              <a:t>(int left, int right):</a:t>
            </a:r>
          </a:p>
          <a:p>
            <a:pPr lvl="2"/>
            <a:r>
              <a:rPr lang="en-US" sz="2400" dirty="0"/>
              <a:t>Chia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2 </a:t>
            </a:r>
            <a:r>
              <a:rPr lang="en-US" sz="2400" dirty="0" err="1"/>
              <a:t>phần</a:t>
            </a:r>
            <a:endParaRPr lang="en-US" sz="2400" dirty="0"/>
          </a:p>
          <a:p>
            <a:pPr lvl="2"/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 </a:t>
            </a:r>
            <a:r>
              <a:rPr lang="en-US" sz="2400" dirty="0" err="1"/>
              <a:t>mảng</a:t>
            </a:r>
            <a:r>
              <a:rPr lang="en-US" sz="2400" dirty="0"/>
              <a:t> (left, mid) </a:t>
            </a:r>
            <a:r>
              <a:rPr lang="en-US" sz="2400" dirty="0" err="1"/>
              <a:t>và</a:t>
            </a:r>
            <a:r>
              <a:rPr lang="en-US" sz="2400" dirty="0"/>
              <a:t> (mid +1, right)</a:t>
            </a:r>
          </a:p>
          <a:p>
            <a:pPr lvl="2"/>
            <a:r>
              <a:rPr lang="en-US" sz="2400" dirty="0" err="1"/>
              <a:t>Trộn</a:t>
            </a:r>
            <a:r>
              <a:rPr lang="en-US" sz="2400" dirty="0"/>
              <a:t> 2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endParaRPr lang="en-US" sz="2400" dirty="0"/>
          </a:p>
          <a:p>
            <a:pPr lvl="2"/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phức</a:t>
            </a:r>
            <a:r>
              <a:rPr lang="en-US" sz="2400" dirty="0"/>
              <a:t> </a:t>
            </a:r>
            <a:r>
              <a:rPr lang="en-US" sz="2400" dirty="0" err="1"/>
              <a:t>tạp</a:t>
            </a:r>
            <a:r>
              <a:rPr lang="en-US" sz="2400" dirty="0"/>
              <a:t> : O(n log n)</a:t>
            </a:r>
            <a:endParaRPr lang="en-V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D952-8514-19EB-253F-5F950AF0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6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7D9A9F-FAAD-2B62-A71C-E8E541E1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AB80-A8CC-590F-29A9-D2012F1D3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9CC55-F0A3-A52C-8FFE-E7F4AA217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en-VN" dirty="0"/>
              <a:t>Idea to solve #2: similar to merge sort</a:t>
            </a:r>
          </a:p>
          <a:p>
            <a:pPr lvl="1"/>
            <a:r>
              <a:rPr lang="vi-VN" dirty="0"/>
              <a:t>Code Merge sort:</a:t>
            </a:r>
          </a:p>
          <a:p>
            <a:pPr lvl="1"/>
            <a:r>
              <a:rPr lang="vi-VN" dirty="0"/>
              <a:t>Chỉnh sửa code để vừa đếm, vừa sắp xếp </a:t>
            </a:r>
            <a:endParaRPr lang="en-V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006C8-48FB-AC38-D871-9F0874AF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252B90-EA91-27B9-E18C-41036F062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868573"/>
            <a:ext cx="5270500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1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98DBB-4A77-664C-16AF-CF3ED7B5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775F-5066-70FB-7113-94DD5A54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4AC4-5EB0-CD53-CF80-046FF3AE57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6583961" cy="5460365"/>
          </a:xfrm>
        </p:spPr>
        <p:txBody>
          <a:bodyPr/>
          <a:lstStyle/>
          <a:p>
            <a:r>
              <a:rPr lang="en-VN" dirty="0"/>
              <a:t>Idea to solve #2: similar to merge sort</a:t>
            </a:r>
          </a:p>
          <a:p>
            <a:pPr lvl="1"/>
            <a:r>
              <a:rPr lang="vi-VN" dirty="0"/>
              <a:t>Code Merge sort:</a:t>
            </a:r>
          </a:p>
          <a:p>
            <a:pPr lvl="1"/>
            <a:r>
              <a:rPr lang="en-VN" dirty="0"/>
              <a:t>Fix the code mergeSort to sort and count inversions at the same time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21D8-9B75-5CB9-7752-91F60259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FCF0EDF-322A-84A1-1446-B28F7B471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868573"/>
            <a:ext cx="5270500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7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535776-4339-457A-BAB0-1B4D69A3FFE2}"/>
</file>

<file path=customXml/itemProps2.xml><?xml version="1.0" encoding="utf-8"?>
<ds:datastoreItem xmlns:ds="http://schemas.openxmlformats.org/officeDocument/2006/customXml" ds:itemID="{582FAE0E-A0E2-402D-9F63-D9D9A8E97C79}"/>
</file>

<file path=customXml/itemProps3.xml><?xml version="1.0" encoding="utf-8"?>
<ds:datastoreItem xmlns:ds="http://schemas.openxmlformats.org/officeDocument/2006/customXml" ds:itemID="{24AF0DBC-7243-483E-A103-4C61777ACB2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336</Words>
  <Application>Microsoft Office PowerPoint</Application>
  <PresentationFormat>Màn hình rộng</PresentationFormat>
  <Paragraphs>50</Paragraphs>
  <Slides>10</Slides>
  <Notes>0</Notes>
  <HiddenSlides>3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Inversions</vt:lpstr>
      <vt:lpstr>Inversions</vt:lpstr>
      <vt:lpstr>Inversions</vt:lpstr>
      <vt:lpstr>Inversions</vt:lpstr>
      <vt:lpstr>Inversions</vt:lpstr>
      <vt:lpstr>Inversions</vt:lpstr>
      <vt:lpstr>Inversions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2</cp:revision>
  <dcterms:created xsi:type="dcterms:W3CDTF">2025-09-24T15:02:19Z</dcterms:created>
  <dcterms:modified xsi:type="dcterms:W3CDTF">2025-09-24T15:06:08Z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