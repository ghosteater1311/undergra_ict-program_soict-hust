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9" r:id="rId2"/>
    <p:sldId id="257" r:id="rId3"/>
    <p:sldId id="268" r:id="rId4"/>
    <p:sldId id="269" r:id="rId5"/>
    <p:sldId id="270" r:id="rId6"/>
    <p:sldId id="272" r:id="rId7"/>
    <p:sldId id="27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DFC55-B52D-4F73-9DDF-9BB15F125EF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9C6814-8C30-4B37-9E07-93EF4771A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838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5A88C67-891B-E0E3-0604-FADAFCCE5B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B72776C3-30BE-D83A-9E5D-7B1312D1E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CEC02F6-69A4-537D-ABA5-651457641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CD63D8B-9665-9A56-0A12-E8FF0FE99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11A8D061-0FCE-9317-4EAA-6E26A2135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67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DD37677-6F6E-0384-F280-BC93D0DBE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3945AD44-48AD-3AB1-ED8A-D055350F5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95C99C1-5AC9-3888-6320-26FB23B6B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DCA72DE-D391-3FDA-ACA3-6EE573E37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B8CFFA1C-0C0B-F983-8FE9-BCCC93A73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003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DE59518-1D55-B371-FB25-4A4B845B0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07639ED3-A704-C410-4C46-1A001708A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B1241A85-3FE7-2636-A5C0-66BFBBEB4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B86D3A45-4C10-1F73-16F1-3DD9EE235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A8744F6-43AC-C97D-DCC4-628D5CFD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6C08695-C0D7-A1CE-946E-6AC7710D4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9EF6B95-A06F-BE47-A1E2-4A02E050FD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ED4C69F6-BBCE-95B4-A177-15128C079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841B1BCD-5DF5-4991-3DC9-D4E0FC53F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E2065E37-9A90-8B50-A4B7-D4D4DEDB0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B8F1983A-0612-5FBB-7A70-0EEFAC7AA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843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C81E0EE-F1C5-8C9E-E316-DED07E66E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282EB30A-DD97-7909-2036-29BD155D3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F0978100-8BE8-F35A-6AAB-F89F1F8AA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827D3673-7478-DC2E-D816-B6090DC2B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2E12D4A7-3BFD-CC41-0584-3EAE95DDF1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0DDCBCA4-DC25-A5B1-7639-6BF02B47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CF2C9BE7-FF7E-E325-B189-AB4DACC96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D7BEB403-E2D8-B8EC-D1D9-0D1F1C161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371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6FD3CBD-2813-8F96-DD31-4AB03BE10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D5921CAC-E52E-AE98-C407-0647A2B7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36479D51-982D-4E74-7A6D-7A4A9E07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9970CD80-021C-10E8-92AE-1B65EE8BF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858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509AA53B-D6A7-BB26-698A-CC6D3C8A8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E21DF8FE-8BBD-C314-DCEE-A62CDC667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B18B79C-75DD-1407-D387-305A1A804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10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8660E28-B210-0729-B6EC-8EF6474D0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CEA2F69-BFD3-D42E-F260-99A65038C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F40A34D-EDF3-5891-A0A3-4993A91BF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329596E2-1862-E50D-7629-EC9668E17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19374F86-8E17-44B0-976C-69A5616EF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06D6B729-CAAC-A6C5-9CFE-27D0BCAD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842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F58DD64-BC83-EE87-04D8-CD3F6B10C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51925A14-3639-EC6A-629F-7F6BFF0244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F650622-51B7-3AF2-EA16-BCBD3E6A5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FF323D3C-200F-98CD-DF24-93DDC69F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7885521D-3E1C-445C-A1B5-DA1F1B0C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F982A607-89F7-BEF0-4784-0D40DFD5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23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4255527-00C6-DB8F-5C57-4A32F0E07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2F8A0689-2245-FEE6-97C7-C14516335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4FFA54D-6707-50FF-5219-41DA0C33F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726568D-658F-3023-8B94-C6BEB377B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D758BEC-5EC2-C182-8DCA-D843E654A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9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886025FF-C3DF-747E-48A4-3ACDEDFB4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0EC2FA4D-9D1C-E810-DD4A-75421B848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B4FF88A-2FF1-00A0-766D-A36E35A07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8BD1C252-FECF-7217-D320-9E8157ED7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A728DCC-0BBD-E469-CC1B-F2EE9B8D7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5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0372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594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90784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7B0FD760-3672-8D0E-6CF7-9058FBB27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924DC5CA-2F07-D49E-F6D4-89248CD14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5D82162-080E-C394-A410-AC3F8CC845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11D3658-43F3-659C-19D3-B1E39D09F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9C44EB4-E7E6-6FC3-8CE3-99458DB095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1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13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Applied Algorithm Lab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Gold mining</a:t>
            </a:r>
          </a:p>
          <a:p>
            <a:endParaRPr lang="en-US" sz="2800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1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1F17D-AF36-42FD-3BC7-FFD7A0407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6E113-B690-C686-B041-191ACAFBC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Gold mining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0686F4-0B48-50BD-AB7D-E6FC457934EF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Given</a:t>
                </a:r>
                <a14:m>
                  <m:oMath xmlns:m="http://schemas.openxmlformats.org/officeDocument/2006/math">
                    <m:r>
                      <a:rPr lang="vi-V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gold warehouse in a straight line</a:t>
                </a:r>
              </a:p>
              <a:p>
                <a:pPr lvl="1"/>
                <a:r>
                  <a:rPr lang="en-US" dirty="0"/>
                  <a:t>Warehouse</a:t>
                </a:r>
                <a14:m>
                  <m:oMath xmlns:m="http://schemas.openxmlformats.org/officeDocument/2006/math">
                    <m:r>
                      <a:rPr lang="vi-V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stores an amount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located at point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in the line</a:t>
                </a:r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Objective:</a:t>
                </a:r>
                <a:r>
                  <a:rPr lang="en-US" dirty="0"/>
                  <a:t> Find a subset of warehouse with largest sum of amount</a:t>
                </a:r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Constraint:</a:t>
                </a:r>
                <a:r>
                  <a:rPr lang="en-US" dirty="0"/>
                  <a:t> distance between 2 warehouses must be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Output: </a:t>
                </a:r>
                <a:r>
                  <a:rPr lang="en-US" dirty="0"/>
                  <a:t>The amount found</a:t>
                </a:r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Example: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					</a:t>
                </a:r>
              </a:p>
              <a:p>
                <a:pPr marL="0" indent="0">
                  <a:buNone/>
                </a:pPr>
                <a:r>
                  <a:rPr lang="en-US" sz="2400" dirty="0"/>
                  <a:t>					explain: 3+9+7=19</a:t>
                </a:r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0686F4-0B48-50BD-AB7D-E6FC457934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953" t="-3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9FD64-3016-96CF-AEE0-A09FC3346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Picture 5" descr="A close-up of numbers&#10;&#10;AI-generated content may be incorrect.">
            <a:extLst>
              <a:ext uri="{FF2B5EF4-FFF2-40B4-BE49-F238E27FC236}">
                <a16:creationId xmlns:a16="http://schemas.microsoft.com/office/drawing/2014/main" id="{8243BCE6-9AC7-F196-45CD-E4DF9157FE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764" y="4010591"/>
            <a:ext cx="1872554" cy="1616310"/>
          </a:xfrm>
          <a:prstGeom prst="rect">
            <a:avLst/>
          </a:prstGeom>
        </p:spPr>
      </p:pic>
      <p:pic>
        <p:nvPicPr>
          <p:cNvPr id="8" name="Picture 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50E0D23B-4CFC-AA68-029D-073DCB2D55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544" y="4123324"/>
            <a:ext cx="1872553" cy="114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508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91F14-015F-24CD-C922-B9CFF2A75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2070B-57A9-E874-C7E4-783FA8D39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Gold mining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DDE0E5-CF7A-5DD0-C6A8-7D9D7598B768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Idea to solve #1: </a:t>
                </a:r>
                <a:r>
                  <a:rPr lang="en-US" dirty="0"/>
                  <a:t>Backtracking and Branch and bound</a:t>
                </a:r>
              </a:p>
              <a:p>
                <a:pPr lvl="1"/>
                <a:r>
                  <a:rPr lang="vi-VN" dirty="0"/>
                  <a:t>List all ways to choose a subset of gold warehouse	</a:t>
                </a:r>
              </a:p>
              <a:p>
                <a:pPr lvl="2"/>
                <a:r>
                  <a:rPr lang="vi-VN" dirty="0"/>
                  <a:t>For each case, check if 2 consecutive warehouse has distance in [L1, L2]</a:t>
                </a:r>
              </a:p>
              <a:p>
                <a:pPr lvl="2"/>
                <a:r>
                  <a:rPr lang="vi-VN" dirty="0"/>
                  <a:t>if all pair satisfy distance constraint, update the amount if needed</a:t>
                </a:r>
              </a:p>
              <a:p>
                <a:pPr lvl="1"/>
                <a:r>
                  <a:rPr lang="vi-VN" dirty="0"/>
                  <a:t>Complexity: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ar-AE" b="0" i="1" smtClean="0">
                        <a:latin typeface="Cambria Math" panose="02040503050406030204" pitchFamily="18" charset="0"/>
                      </a:rPr>
                      <m:t> ∗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vi-VN" b="0" dirty="0"/>
              </a:p>
              <a:p>
                <a:pPr lvl="1"/>
                <a:r>
                  <a:rPr lang="vi-VN" dirty="0"/>
                  <a:t>Some BnB technique can be applied:</a:t>
                </a:r>
              </a:p>
              <a:p>
                <a:pPr lvl="2"/>
                <a:r>
                  <a:rPr lang="vi-VN" dirty="0"/>
                  <a:t>While considering the i warehouse, the next ware house must be in [i + L1, i + L2].</a:t>
                </a:r>
              </a:p>
              <a:p>
                <a:pPr lvl="2"/>
                <a:r>
                  <a:rPr lang="vi-VN" dirty="0"/>
                  <a:t>Apply BnB for objective function</a:t>
                </a:r>
              </a:p>
              <a:p>
                <a:pPr lvl="2"/>
                <a:r>
                  <a:rPr lang="vi-VN" dirty="0"/>
                  <a:t>still can not pass full testcases…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DDE0E5-CF7A-5DD0-C6A8-7D9D7598B7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881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34FF5-3581-41FE-E19E-0DAF55D83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384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C40F8-9628-2F65-ED34-C58C0ABBD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DD030-3F91-C1AA-0719-73725A211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Gold mining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3304CB-105D-7183-56D3-514B3ABF994C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338736" y="1058844"/>
                <a:ext cx="11853264" cy="4909124"/>
              </a:xfrm>
            </p:spPr>
            <p:txBody>
              <a:bodyPr/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Idea to solve #</a:t>
                </a:r>
                <a:r>
                  <a:rPr lang="vi-VN" b="1" dirty="0">
                    <a:solidFill>
                      <a:srgbClr val="C00000"/>
                    </a:solidFill>
                  </a:rPr>
                  <a:t>2: </a:t>
                </a:r>
                <a:r>
                  <a:rPr lang="vi-VN" dirty="0"/>
                  <a:t>Dynamic programming: Consider choosing warehoue i</a:t>
                </a:r>
              </a:p>
              <a:p>
                <a:pPr lvl="1"/>
                <a:r>
                  <a:rPr lang="en-US" dirty="0"/>
                  <a:t>Let F[</a:t>
                </a:r>
                <a:r>
                  <a:rPr lang="en-US" dirty="0" err="1"/>
                  <a:t>i</a:t>
                </a:r>
                <a:r>
                  <a:rPr lang="en-US" dirty="0"/>
                  <a:t>] be maximal amount available if we choose some warehouses from 1 to i-1 </a:t>
                </a:r>
                <a:r>
                  <a:rPr lang="en-US" b="1" dirty="0">
                    <a:solidFill>
                      <a:srgbClr val="C00000"/>
                    </a:solidFill>
                  </a:rPr>
                  <a:t>and choose warehouse </a:t>
                </a:r>
                <a:r>
                  <a:rPr lang="en-US" b="1" dirty="0" err="1">
                    <a:solidFill>
                      <a:srgbClr val="C00000"/>
                    </a:solidFill>
                  </a:rPr>
                  <a:t>i</a:t>
                </a:r>
                <a:r>
                  <a:rPr lang="en-US" b="1" dirty="0">
                    <a:solidFill>
                      <a:srgbClr val="C00000"/>
                    </a:solidFill>
                  </a:rPr>
                  <a:t>.</a:t>
                </a:r>
              </a:p>
              <a:p>
                <a:pPr lvl="1"/>
                <a:r>
                  <a:rPr lang="en-US" dirty="0"/>
                  <a:t>Base case: F[</a:t>
                </a:r>
                <a:r>
                  <a:rPr lang="en-US" dirty="0" err="1"/>
                  <a:t>i</a:t>
                </a:r>
                <a:r>
                  <a:rPr lang="en-US" dirty="0"/>
                  <a:t>] = a[</a:t>
                </a:r>
                <a:r>
                  <a:rPr lang="en-US" dirty="0" err="1"/>
                  <a:t>i</a:t>
                </a:r>
                <a:r>
                  <a:rPr lang="en-US" dirty="0"/>
                  <a:t>].</a:t>
                </a:r>
              </a:p>
              <a:p>
                <a:pPr lvl="1"/>
                <a:r>
                  <a:rPr lang="en-US" dirty="0"/>
                  <a:t>Formula: </a:t>
                </a:r>
              </a:p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 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0"/>
                  </a:spcBef>
                  <a:buFontTx/>
                  <a:buChar char="-"/>
                </a:pPr>
                <a:endParaRPr lang="en-US" sz="2000" dirty="0"/>
              </a:p>
              <a:p>
                <a:pPr lvl="1">
                  <a:spcBef>
                    <a:spcPts val="0"/>
                  </a:spcBef>
                </a:pPr>
                <a:r>
                  <a:rPr lang="en-US" dirty="0"/>
                  <a:t>return:</a:t>
                </a:r>
              </a:p>
              <a:p>
                <a:pPr marL="457200" lvl="1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000" b="0" dirty="0">
                  <a:ea typeface="Cambria Math" panose="02040503050406030204" pitchFamily="18" charset="0"/>
                </a:endParaRPr>
              </a:p>
              <a:p>
                <a:pPr marL="457200" lvl="1" indent="0">
                  <a:spcBef>
                    <a:spcPts val="0"/>
                  </a:spcBef>
                  <a:buNone/>
                </a:pPr>
                <a:endParaRPr lang="en-US" sz="2000" dirty="0"/>
              </a:p>
              <a:p>
                <a:pPr lvl="1">
                  <a:spcBef>
                    <a:spcPts val="0"/>
                  </a:spcBef>
                </a:pPr>
                <a:r>
                  <a:rPr lang="en-US" dirty="0"/>
                  <a:t>Complexity: </a:t>
                </a:r>
                <a:r>
                  <a:rPr lang="en-US" sz="2000" dirty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).</a:t>
                </a:r>
              </a:p>
              <a:p>
                <a:endParaRPr lang="vi-VN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3304CB-105D-7183-56D3-514B3ABF99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338736" y="1058844"/>
                <a:ext cx="11853264" cy="4909124"/>
              </a:xfrm>
              <a:blipFill>
                <a:blip r:embed="rId2"/>
                <a:stretch>
                  <a:fillRect l="-856" t="-2326" r="-42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0AED7-04F3-6F38-FC8B-42A50052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403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C8510-5E31-ED8F-524D-5A1C377B8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E105B-BB8B-839B-5D08-2B671D64F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Gold mining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80132-F9C1-2B82-A27E-3BD6032772D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Idea to solve #</a:t>
            </a:r>
            <a:r>
              <a:rPr lang="vi-VN" b="1" dirty="0">
                <a:solidFill>
                  <a:srgbClr val="C00000"/>
                </a:solidFill>
              </a:rPr>
              <a:t>3: </a:t>
            </a:r>
            <a:r>
              <a:rPr lang="vi-VN" dirty="0"/>
              <a:t>Dynamic programming</a:t>
            </a:r>
            <a:r>
              <a:rPr lang="en-VN" dirty="0"/>
              <a:t> with priority queue</a:t>
            </a:r>
          </a:p>
          <a:p>
            <a:pPr lvl="1"/>
            <a:r>
              <a:rPr lang="en-US" sz="2400" dirty="0"/>
              <a:t>Priority queue: a queue with order. The element are sorted in order of priority</a:t>
            </a:r>
          </a:p>
          <a:p>
            <a:pPr lvl="1"/>
            <a:r>
              <a:rPr lang="en-US" dirty="0"/>
              <a:t>Improve to idea #2: </a:t>
            </a:r>
          </a:p>
          <a:p>
            <a:pPr lvl="2"/>
            <a:r>
              <a:rPr lang="en-US" sz="2400" dirty="0"/>
              <a:t>An element in priority queue: (j, F[j]) with F[j] be the priority.</a:t>
            </a:r>
          </a:p>
          <a:p>
            <a:pPr lvl="2"/>
            <a:r>
              <a:rPr lang="en-US" sz="2400" dirty="0"/>
              <a:t>element with big F[j] will be in the front</a:t>
            </a:r>
          </a:p>
          <a:p>
            <a:pPr lvl="2"/>
            <a:r>
              <a:rPr lang="en-US" sz="2400" dirty="0"/>
              <a:t>Considering ware house </a:t>
            </a:r>
            <a:r>
              <a:rPr lang="en-US" sz="2400" dirty="0" err="1"/>
              <a:t>i</a:t>
            </a:r>
            <a:r>
              <a:rPr lang="en-US" sz="2400" dirty="0"/>
              <a:t>: add (</a:t>
            </a:r>
            <a:r>
              <a:rPr lang="en-US" sz="2400" dirty="0" err="1"/>
              <a:t>i</a:t>
            </a:r>
            <a:r>
              <a:rPr lang="en-US" sz="2400" dirty="0"/>
              <a:t> – L1, F[</a:t>
            </a:r>
            <a:r>
              <a:rPr lang="en-US" sz="2400" dirty="0" err="1"/>
              <a:t>i</a:t>
            </a:r>
            <a:r>
              <a:rPr lang="en-US" sz="2400" dirty="0"/>
              <a:t> – L1]) to the queue.</a:t>
            </a:r>
          </a:p>
          <a:p>
            <a:pPr lvl="2"/>
            <a:r>
              <a:rPr lang="en-US" sz="2400" dirty="0"/>
              <a:t>Remove the top element of queue if  </a:t>
            </a:r>
            <a:r>
              <a:rPr lang="en-US" sz="2400" dirty="0" err="1"/>
              <a:t>i</a:t>
            </a:r>
            <a:r>
              <a:rPr lang="en-US" sz="2400" dirty="0"/>
              <a:t> – </a:t>
            </a:r>
            <a:r>
              <a:rPr lang="en-US" sz="2400" dirty="0" err="1"/>
              <a:t>i.top</a:t>
            </a:r>
            <a:r>
              <a:rPr lang="en-US" sz="2400" dirty="0"/>
              <a:t> &gt; L2.</a:t>
            </a:r>
          </a:p>
          <a:p>
            <a:pPr lvl="2"/>
            <a:r>
              <a:rPr lang="en-US" sz="2400" dirty="0"/>
              <a:t>F[</a:t>
            </a:r>
            <a:r>
              <a:rPr lang="en-US" sz="2400" dirty="0" err="1"/>
              <a:t>i</a:t>
            </a:r>
            <a:r>
              <a:rPr lang="en-US" sz="2400" dirty="0"/>
              <a:t>] = a[</a:t>
            </a:r>
            <a:r>
              <a:rPr lang="en-US" sz="2400" dirty="0" err="1"/>
              <a:t>i</a:t>
            </a:r>
            <a:r>
              <a:rPr lang="en-US" sz="2400" dirty="0"/>
              <a:t>] + </a:t>
            </a:r>
            <a:r>
              <a:rPr lang="en-US" sz="2400" dirty="0" err="1"/>
              <a:t>F.top</a:t>
            </a:r>
            <a:r>
              <a:rPr lang="en-US" sz="2400" dirty="0"/>
              <a:t>.</a:t>
            </a:r>
          </a:p>
          <a:p>
            <a:pPr lvl="1"/>
            <a:r>
              <a:rPr lang="en-US" dirty="0"/>
              <a:t>Complexity: O(n*log(n)).</a:t>
            </a:r>
          </a:p>
          <a:p>
            <a:endParaRPr lang="vi-VN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7DFAA-E50F-DDCB-78E5-8006B4C97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85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4A209-7425-E9CA-5136-1F7CC8BB7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E2A68-15B3-9AD8-EAEF-BAFACD63B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Gold </a:t>
            </a:r>
            <a:r>
              <a:rPr lang="en-US" dirty="0"/>
              <a:t>mining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B15B22-AA14-6B0A-9E3C-C566240809AE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Idea to solve #</a:t>
                </a:r>
                <a:r>
                  <a:rPr lang="vi-VN" dirty="0"/>
                  <a:t>2: Dynamic programming</a:t>
                </a:r>
                <a:r>
                  <a:rPr lang="en-VN" dirty="0"/>
                  <a:t> with dequeue</a:t>
                </a:r>
              </a:p>
              <a:p>
                <a:pPr lvl="1"/>
                <a:r>
                  <a:rPr lang="en-US" dirty="0"/>
                  <a:t>D</a:t>
                </a:r>
                <a:r>
                  <a:rPr lang="en-US" sz="2400" dirty="0"/>
                  <a:t>equeue: a combination of stack and queue -&gt; element can be add or remove in both the back and front of dequeue</a:t>
                </a:r>
              </a:p>
              <a:p>
                <a:pPr lvl="1"/>
                <a:r>
                  <a:rPr lang="en-US" sz="2400" dirty="0"/>
                  <a:t>Operation: </a:t>
                </a:r>
                <a:r>
                  <a:rPr lang="en-US" sz="2400" dirty="0" err="1"/>
                  <a:t>push_back</a:t>
                </a:r>
                <a:r>
                  <a:rPr lang="en-US" sz="2400" dirty="0"/>
                  <a:t>(), </a:t>
                </a:r>
                <a:r>
                  <a:rPr lang="en-US" sz="2400" dirty="0" err="1"/>
                  <a:t>push_front</a:t>
                </a:r>
                <a:r>
                  <a:rPr lang="en-US" sz="2400" dirty="0"/>
                  <a:t>(), </a:t>
                </a:r>
                <a:r>
                  <a:rPr lang="en-US" sz="2400" dirty="0" err="1"/>
                  <a:t>pop_back</a:t>
                </a:r>
                <a:r>
                  <a:rPr lang="en-US" sz="2400" dirty="0"/>
                  <a:t>(), </a:t>
                </a:r>
                <a:r>
                  <a:rPr lang="en-US" sz="2400" dirty="0" err="1"/>
                  <a:t>pop_front</a:t>
                </a:r>
                <a:r>
                  <a:rPr lang="en-US" sz="2400" dirty="0"/>
                  <a:t>()</a:t>
                </a:r>
                <a:endParaRPr lang="en-US" dirty="0"/>
              </a:p>
              <a:p>
                <a:pPr lvl="1"/>
                <a:r>
                  <a:rPr lang="en-US" dirty="0"/>
                  <a:t>Improvement: </a:t>
                </a:r>
                <a:r>
                  <a:rPr lang="en-US" sz="2400" dirty="0"/>
                  <a:t>Element in queue: (x, F[x]). Traverse F[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 in order.</a:t>
                </a:r>
              </a:p>
              <a:p>
                <a:pPr lvl="2"/>
                <a:r>
                  <a:rPr lang="en-US" sz="2400" dirty="0"/>
                  <a:t>Remove all element j that F[j]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400" dirty="0"/>
                  <a:t>, then add F[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 – L1] to the queue.</a:t>
                </a:r>
              </a:p>
              <a:p>
                <a:pPr lvl="2"/>
                <a:r>
                  <a:rPr lang="en-US" sz="2400" dirty="0"/>
                  <a:t>Delete the top element of the queue until top &gt;= </a:t>
                </a:r>
                <a:r>
                  <a:rPr lang="en-US" sz="2400" dirty="0" err="1"/>
                  <a:t>i</a:t>
                </a:r>
                <a:r>
                  <a:rPr lang="en-US" sz="2400" dirty="0"/>
                  <a:t> – L2.</a:t>
                </a:r>
              </a:p>
              <a:p>
                <a:pPr lvl="2"/>
                <a:r>
                  <a:rPr lang="en-US" sz="2400" dirty="0"/>
                  <a:t>F[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 = F[top] + a[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].</a:t>
                </a:r>
              </a:p>
              <a:p>
                <a:pPr lvl="1"/>
                <a:r>
                  <a:rPr lang="en-US" dirty="0"/>
                  <a:t>Complexity: O(n).</a:t>
                </a:r>
              </a:p>
              <a:p>
                <a:endParaRPr lang="vi-VN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B15B22-AA14-6B0A-9E3C-C566240809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881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2F23C-32C3-0BFF-95F8-4B82585FB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249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395177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5D0B485-796D-4424-B3A8-755FE1DC96C2}"/>
</file>

<file path=customXml/itemProps2.xml><?xml version="1.0" encoding="utf-8"?>
<ds:datastoreItem xmlns:ds="http://schemas.openxmlformats.org/officeDocument/2006/customXml" ds:itemID="{904F9880-D6B6-4D2F-8484-90E79C1C60E9}"/>
</file>

<file path=customXml/itemProps3.xml><?xml version="1.0" encoding="utf-8"?>
<ds:datastoreItem xmlns:ds="http://schemas.openxmlformats.org/officeDocument/2006/customXml" ds:itemID="{A0AAEDE9-F9AB-4AA8-8627-3B8E40E82096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532</Words>
  <Application>Microsoft Office PowerPoint</Application>
  <PresentationFormat>Màn hình rộng</PresentationFormat>
  <Paragraphs>61</Paragraphs>
  <Slides>8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6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Lato</vt:lpstr>
      <vt:lpstr>Times New Roman</vt:lpstr>
      <vt:lpstr>Chủ đề Office</vt:lpstr>
      <vt:lpstr>Bản trình bày PowerPoint</vt:lpstr>
      <vt:lpstr>Bản trình bày PowerPoint</vt:lpstr>
      <vt:lpstr>Gold mining</vt:lpstr>
      <vt:lpstr>Gold mining</vt:lpstr>
      <vt:lpstr>Gold mining</vt:lpstr>
      <vt:lpstr>Gold mining</vt:lpstr>
      <vt:lpstr>Gold mining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Duc Duy</dc:creator>
  <cp:lastModifiedBy>Tran Duc Duy</cp:lastModifiedBy>
  <cp:revision>6</cp:revision>
  <dcterms:created xsi:type="dcterms:W3CDTF">2025-09-24T15:02:19Z</dcterms:created>
  <dcterms:modified xsi:type="dcterms:W3CDTF">2025-09-24T15:10:21Z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