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57" r:id="rId3"/>
    <p:sldId id="260" r:id="rId4"/>
    <p:sldId id="266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387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Max even sub-sequence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even sub-sequence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73E091-9DCD-4DE7-96D1-A93E44E0F5B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800" b="0" i="0" dirty="0">
                    <a:effectLst/>
                  </a:rPr>
                  <a:t>Given a sequence of n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effectLst/>
                        <a:latin typeface="Cambria Math" panose="02040503050406030204" pitchFamily="18" charset="0"/>
                      </a:rPr>
                      <m:t>, . . ., </m:t>
                    </m:r>
                    <m:sSub>
                      <m:sSubPr>
                        <m:ctrlPr>
                          <a:rPr lang="vi-VN" sz="28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b="0" i="0" dirty="0">
                    <a:effectLst/>
                  </a:rPr>
                  <a:t>. </a:t>
                </a:r>
              </a:p>
              <a:p>
                <a:r>
                  <a:rPr lang="en-US" sz="2800" b="0" i="0" dirty="0">
                    <a:effectLst/>
                  </a:rPr>
                  <a:t>A subsequence of a consists of continuous elements of a </a:t>
                </a:r>
              </a:p>
              <a:p>
                <a:pPr marL="0" indent="0">
                  <a:buNone/>
                </a:pPr>
                <a:r>
                  <a:rPr lang="en-US" dirty="0"/>
                  <a:t>           </a:t>
                </a:r>
                <a:r>
                  <a:rPr lang="en-US" sz="2800" b="0" i="0" dirty="0">
                    <a:effectLst/>
                  </a:rPr>
                  <a:t>(for example, ai, ai+1, . . . ,</a:t>
                </a:r>
                <a:r>
                  <a:rPr lang="en-US" sz="2800" b="0" i="0" dirty="0" err="1">
                    <a:effectLst/>
                  </a:rPr>
                  <a:t>aj</a:t>
                </a:r>
                <a:r>
                  <a:rPr lang="en-US" sz="2800" b="0" i="0" dirty="0">
                    <a:effectLst/>
                  </a:rPr>
                  <a:t>). </a:t>
                </a:r>
              </a:p>
              <a:p>
                <a:r>
                  <a:rPr lang="en-US" sz="2800" b="0" i="0" dirty="0">
                    <a:effectLst/>
                  </a:rPr>
                  <a:t>The weight of a subsequence is defined to be the sum of its elements. A subsequence is called even-subsequence if its weight is even. </a:t>
                </a:r>
              </a:p>
              <a:p>
                <a:r>
                  <a:rPr lang="en-US" sz="2800" b="0" i="0" dirty="0">
                    <a:effectLst/>
                  </a:rPr>
                  <a:t>Find the even-subsequence of a having largest weight.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73E091-9DCD-4DE7-96D1-A93E44E0F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A6AEF-4E08-74D9-81F3-4F4BFA76B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073"/>
          <a:stretch/>
        </p:blipFill>
        <p:spPr>
          <a:xfrm>
            <a:off x="2291827" y="4012168"/>
            <a:ext cx="2197100" cy="1152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BA0156-CF27-F097-41E5-7B55BE643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27"/>
          <a:stretch/>
        </p:blipFill>
        <p:spPr>
          <a:xfrm>
            <a:off x="7072545" y="4186766"/>
            <a:ext cx="2197100" cy="8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1DEE-5A7E-52B0-D679-8563293CE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5272-891A-5867-974A-2AF16EE7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Max </a:t>
            </a:r>
            <a:r>
              <a:rPr lang="en-US" dirty="0"/>
              <a:t>even sub-sequence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3B3726-5056-E636-1A21-9FE8A4FB53C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800" b="0" i="0" dirty="0">
                    <a:effectLst/>
                  </a:rPr>
                  <a:t>Idea to solve: dynamic programming</a:t>
                </a:r>
              </a:p>
              <a:p>
                <a:r>
                  <a:rPr lang="en-US" sz="2800" dirty="0"/>
                  <a:t>Construc</a:t>
                </a:r>
                <a:r>
                  <a:rPr lang="en-US" dirty="0"/>
                  <a:t>t a cumulative array </a:t>
                </a:r>
                <a:r>
                  <a:rPr lang="en-US" sz="2800" dirty="0"/>
                  <a:t>S, where S[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 is sum of from a[1] to a[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].</a:t>
                </a:r>
              </a:p>
              <a:p>
                <a:pPr lvl="1"/>
                <a:r>
                  <a:rPr lang="en-US" dirty="0"/>
                  <a:t>Let f[</a:t>
                </a:r>
                <a:r>
                  <a:rPr lang="en-US" dirty="0" err="1"/>
                  <a:t>i</a:t>
                </a:r>
                <a:r>
                  <a:rPr lang="en-US" dirty="0"/>
                  <a:t>][0] be minimal S[j] with 1 &lt;= j &lt;= </a:t>
                </a:r>
                <a:r>
                  <a:rPr lang="en-US" dirty="0" err="1"/>
                  <a:t>i</a:t>
                </a:r>
                <a:r>
                  <a:rPr lang="en-US" dirty="0"/>
                  <a:t> and j is even.</a:t>
                </a:r>
              </a:p>
              <a:p>
                <a:pPr lvl="1"/>
                <a:r>
                  <a:rPr lang="en-US" sz="2400" dirty="0"/>
                  <a:t>Let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][1] be </a:t>
                </a:r>
                <a:r>
                  <a:rPr lang="en-US" dirty="0"/>
                  <a:t>minimal S[j] with 1 &lt;= j &lt;= </a:t>
                </a:r>
                <a:r>
                  <a:rPr lang="en-US" dirty="0" err="1"/>
                  <a:t>i</a:t>
                </a:r>
                <a:r>
                  <a:rPr lang="en-US" dirty="0"/>
                  <a:t> and j is odd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US" dirty="0"/>
                  <a:t>Formula:</a:t>
                </a:r>
              </a:p>
              <a:p>
                <a:pPr lvl="2"/>
                <a:r>
                  <a:rPr lang="en-US" sz="2400" dirty="0"/>
                  <a:t>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][0] = min(S[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],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– 2][0]), with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is even;</a:t>
                </a:r>
              </a:p>
              <a:p>
                <a:pPr lvl="2"/>
                <a:r>
                  <a:rPr lang="en-US" sz="2400" dirty="0"/>
                  <a:t>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][1] = min(S[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],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– 2][1]), with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is odd;</a:t>
                </a:r>
                <a:endParaRPr lang="en-US" sz="2800" dirty="0"/>
              </a:p>
              <a:p>
                <a:r>
                  <a:rPr lang="en-US" dirty="0"/>
                  <a:t>Return:</a:t>
                </a:r>
              </a:p>
              <a:p>
                <a:pPr algn="ctr">
                  <a:spcBef>
                    <a:spcPts val="0"/>
                  </a:spcBef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:1→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%2]</m:t>
                        </m:r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>
                  <a:spcBef>
                    <a:spcPts val="0"/>
                  </a:spcBef>
                  <a:buNone/>
                </a:pPr>
                <a:endParaRPr lang="en-US" sz="2800" dirty="0"/>
              </a:p>
              <a:p>
                <a:pPr>
                  <a:spcBef>
                    <a:spcPts val="0"/>
                  </a:spcBef>
                </a:pPr>
                <a:r>
                  <a:rPr lang="en-US" sz="2800" dirty="0"/>
                  <a:t>Complexity:  O(n).</a:t>
                </a:r>
              </a:p>
              <a:p>
                <a:endParaRPr lang="en-US" sz="2800" b="0" i="0" dirty="0">
                  <a:effectLst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3B3726-5056-E636-1A21-9FE8A4FB5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45120-354B-3D5B-E444-CC62E2C6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24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2CC622-4DB6-4FCD-9D4F-E4CCEF71670F}"/>
</file>

<file path=customXml/itemProps2.xml><?xml version="1.0" encoding="utf-8"?>
<ds:datastoreItem xmlns:ds="http://schemas.openxmlformats.org/officeDocument/2006/customXml" ds:itemID="{08B08EF1-1CFE-4395-A393-283AE38B4CEB}"/>
</file>

<file path=customXml/itemProps3.xml><?xml version="1.0" encoding="utf-8"?>
<ds:datastoreItem xmlns:ds="http://schemas.openxmlformats.org/officeDocument/2006/customXml" ds:itemID="{7D06EC85-14AA-4D2F-B3D5-6DA043BE432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</Words>
  <Application>Microsoft Office PowerPoint</Application>
  <PresentationFormat>Màn hình rộng</PresentationFormat>
  <Paragraphs>25</Paragraphs>
  <Slides>5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Max even sub-sequence</vt:lpstr>
      <vt:lpstr>Max even sub-sequence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6</cp:revision>
  <dcterms:created xsi:type="dcterms:W3CDTF">2025-09-24T15:02:19Z</dcterms:created>
  <dcterms:modified xsi:type="dcterms:W3CDTF">2025-09-24T15:09:17Z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