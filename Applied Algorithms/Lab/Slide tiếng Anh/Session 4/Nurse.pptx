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57" r:id="rId3"/>
    <p:sldId id="278" r:id="rId4"/>
    <p:sldId id="279" r:id="rId5"/>
    <p:sldId id="285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10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Nurse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72BA-34E6-15A9-12F7-79004861F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62A3-4BA5-AA54-A741-75EDC4D2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AFEA26-FB69-8025-5B87-84B03BB309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Schedule working timetable for a nurse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consecutive days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effectLst/>
                        <a:latin typeface="Cambria Math" panose="02040503050406030204" pitchFamily="18" charset="0"/>
                      </a:rPr>
                      <m:t>1,…, </m:t>
                    </m:r>
                    <m:r>
                      <a:rPr lang="en-US" sz="2800" b="0" i="1" dirty="0" smtClean="0">
                        <a:effectLst/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800" b="0" i="0" dirty="0">
                    <a:effectLst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/>
                  <a:t>This is divided into series of consecutive working days (call </a:t>
                </a:r>
                <a:r>
                  <a:rPr lang="en-US" sz="2400" dirty="0">
                    <a:solidFill>
                      <a:srgbClr val="C00000"/>
                    </a:solidFill>
                  </a:rPr>
                  <a:t>working period</a:t>
                </a:r>
                <a:r>
                  <a:rPr lang="en-US" sz="2400" dirty="0"/>
                  <a:t>)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Constraints:</a:t>
                </a:r>
              </a:p>
              <a:p>
                <a:pPr lvl="1"/>
                <a:r>
                  <a:rPr lang="en-US" dirty="0"/>
                  <a:t>Only 1 day off between 2 working period</a:t>
                </a:r>
              </a:p>
              <a:p>
                <a:pPr lvl="1"/>
                <a:r>
                  <a:rPr lang="en-US" dirty="0"/>
                  <a:t>A working period has length in segment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b="0" i="0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m:rPr>
                            <m:sty m:val="p"/>
                          </m:rPr>
                          <a:rPr lang="vi-VN" i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Input: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Output: </a:t>
                </a:r>
                <a:r>
                  <a:rPr lang="en-US" dirty="0"/>
                  <a:t>Number of valid ways to schedule</a:t>
                </a:r>
              </a:p>
              <a:p>
                <a:r>
                  <a:rPr lang="en-US" dirty="0"/>
                  <a:t>Example: 	Input: 6 2 3</a:t>
                </a:r>
              </a:p>
              <a:p>
                <a:pPr marL="0" indent="0">
                  <a:buNone/>
                </a:pPr>
                <a:r>
                  <a:rPr lang="en-US" dirty="0"/>
                  <a:t>		Output: 4			Explain: 	110111 	111011</a:t>
                </a:r>
              </a:p>
              <a:p>
                <a:pPr marL="0" indent="0">
                  <a:buNone/>
                </a:pPr>
                <a:r>
                  <a:rPr lang="en-US" dirty="0"/>
                  <a:t>								110110	011011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AFEA26-FB69-8025-5B87-84B03BB309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 b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A740F-45A1-CEE5-FDB6-EC53BCC8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8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34D0-5508-3E6C-CB83-EE539F74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1371-72F6-43B0-390A-28FA8290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7262E-9450-5219-0592-352A67D0716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5" y="1058844"/>
                <a:ext cx="11687949" cy="4909124"/>
              </a:xfrm>
            </p:spPr>
            <p:txBody>
              <a:bodyPr/>
              <a:lstStyle/>
              <a:p>
                <a:r>
                  <a:rPr lang="en-VN" b="1" dirty="0">
                    <a:solidFill>
                      <a:srgbClr val="C00000"/>
                    </a:solidFill>
                  </a:rPr>
                  <a:t>Idea to solve #1: </a:t>
                </a:r>
                <a:r>
                  <a:rPr lang="en-VN" dirty="0"/>
                  <a:t>Brute-force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A timetable can be considered as a binary sequence with length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i="1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List all binary sequence and check if they are valid or not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Complexity: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(checking costs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>
                    <a:solidFill>
                      <a:srgbClr val="C00000"/>
                    </a:solidFill>
                  </a:rPr>
                  <a:t>Applying Branch and Bound technique: </a:t>
                </a:r>
                <a:r>
                  <a:rPr lang="en-US" dirty="0"/>
                  <a:t>after the first bit 1 must be K1 bit 1, if there are K2 bit 1 then the next bit must be 0 to separate 2 working periods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7262E-9450-5219-0592-352A67D07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5" y="1058844"/>
                <a:ext cx="11687949" cy="4909124"/>
              </a:xfrm>
              <a:blipFill>
                <a:blip r:embed="rId2"/>
                <a:stretch>
                  <a:fillRect l="-868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0DDE9-B4F6-1E2B-519D-94697D53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016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5A17-3A07-3838-ECF9-41F31D5E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FD40-73BB-6DBD-5DF5-7FE4298BC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Nurse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85BF7-E453-F8F7-41BE-405AFA4A07F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11661198" cy="5248966"/>
              </a:xfrm>
            </p:spPr>
            <p:txBody>
              <a:bodyPr/>
              <a:lstStyle/>
              <a:p>
                <a:r>
                  <a:rPr lang="en-VN" b="1" dirty="0">
                    <a:solidFill>
                      <a:srgbClr val="C00000"/>
                    </a:solidFill>
                  </a:rPr>
                  <a:t>Idea to solve #2: </a:t>
                </a:r>
                <a:r>
                  <a:rPr lang="en-VN" dirty="0"/>
                  <a:t>dynamic programming</a:t>
                </a:r>
              </a:p>
              <a:p>
                <a:pPr lvl="1"/>
                <a:r>
                  <a:rPr lang="en-VN" dirty="0"/>
                  <a:t>Consider the problem: Scheduling for day i depends on the earlier days</a:t>
                </a:r>
              </a:p>
              <a:p>
                <a:pPr lvl="1"/>
                <a:r>
                  <a:rPr lang="en-VN" dirty="0"/>
                  <a:t>Observe 2 cases: day i working and off</a:t>
                </a:r>
              </a:p>
              <a:p>
                <a:pPr lvl="1"/>
                <a:r>
                  <a:rPr lang="en-VN" dirty="0"/>
                  <a:t>Consider 2 arrays S</a:t>
                </a:r>
                <a:r>
                  <a:rPr lang="en-VN" baseline="-25000" dirty="0"/>
                  <a:t>0</a:t>
                </a:r>
                <a:r>
                  <a:rPr lang="en-VN" dirty="0"/>
                  <a:t>[N] and S</a:t>
                </a:r>
                <a:r>
                  <a:rPr lang="en-VN" baseline="-25000" dirty="0"/>
                  <a:t>1</a:t>
                </a:r>
                <a:r>
                  <a:rPr lang="en-VN" dirty="0"/>
                  <a:t>[N]</a:t>
                </a:r>
              </a:p>
              <a:p>
                <a:pPr lvl="2"/>
                <a:r>
                  <a:rPr lang="en-VN" sz="2400" dirty="0"/>
                  <a:t>S</a:t>
                </a:r>
                <a:r>
                  <a:rPr lang="en-VN" sz="2400" baseline="-25000" dirty="0"/>
                  <a:t>0</a:t>
                </a:r>
                <a:r>
                  <a:rPr lang="en-VN" sz="2400" dirty="0"/>
                  <a:t>[i]: number of ways to schedule i days that day i off</a:t>
                </a:r>
              </a:p>
              <a:p>
                <a:pPr lvl="2"/>
                <a:r>
                  <a:rPr lang="en-VN" sz="2400" dirty="0"/>
                  <a:t>S</a:t>
                </a:r>
                <a:r>
                  <a:rPr lang="en-VN" sz="2400" baseline="-25000" dirty="0"/>
                  <a:t>1</a:t>
                </a:r>
                <a:r>
                  <a:rPr lang="en-VN" sz="2400" dirty="0"/>
                  <a:t>[i]: number of ways to schedule i days that day i work</a:t>
                </a:r>
              </a:p>
              <a:p>
                <a:pPr lvl="1"/>
                <a:r>
                  <a:rPr lang="en-US" dirty="0"/>
                  <a:t>Recursive formula: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S</a:t>
                </a:r>
                <a:r>
                  <a:rPr lang="en-US" baseline="-25000" dirty="0"/>
                  <a:t>0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 = S</a:t>
                </a:r>
                <a:r>
                  <a:rPr lang="en-US" baseline="-25000" dirty="0"/>
                  <a:t>1</a:t>
                </a:r>
                <a:r>
                  <a:rPr lang="en-US" dirty="0"/>
                  <a:t>[i-1];                     </a:t>
                </a:r>
                <a:r>
                  <a:rPr lang="en-US" i="1" dirty="0">
                    <a:solidFill>
                      <a:srgbClr val="92D050"/>
                    </a:solidFill>
                  </a:rPr>
                  <a:t>// day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i</a:t>
                </a:r>
                <a:r>
                  <a:rPr lang="en-US" i="1" dirty="0">
                    <a:solidFill>
                      <a:srgbClr val="92D050"/>
                    </a:solidFill>
                  </a:rPr>
                  <a:t> off = day i-1 working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S</a:t>
                </a:r>
                <a:r>
                  <a:rPr lang="en-US" baseline="-25000" dirty="0"/>
                  <a:t>1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0</m:t>
                        </m:r>
                        <m:r>
                          <m:rPr>
                            <m:nor/>
                          </m:rPr>
                          <a:rPr lang="en-US" dirty="0"/>
                          <m:t>[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−</m:t>
                        </m:r>
                        <m:r>
                          <m:rPr>
                            <m:nor/>
                          </m:rPr>
                          <a:rPr lang="en-US" dirty="0"/>
                          <m:t>j</m:t>
                        </m:r>
                        <m:r>
                          <m:rPr>
                            <m:nor/>
                          </m:rPr>
                          <a:rPr lang="en-US" dirty="0"/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	        </a:t>
                </a:r>
                <a:r>
                  <a:rPr lang="en-US" i="1" dirty="0">
                    <a:solidFill>
                      <a:srgbClr val="92D050"/>
                    </a:solidFill>
                  </a:rPr>
                  <a:t>// day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i</a:t>
                </a:r>
                <a:r>
                  <a:rPr lang="en-US" i="1" dirty="0">
                    <a:solidFill>
                      <a:srgbClr val="92D050"/>
                    </a:solidFill>
                  </a:rPr>
                  <a:t> working= end of 1 working period</a:t>
                </a:r>
                <a:endParaRPr lang="en-US" dirty="0"/>
              </a:p>
              <a:p>
                <a:pPr lvl="1"/>
                <a:r>
                  <a:rPr lang="en-US" dirty="0"/>
                  <a:t>Base cases: S</a:t>
                </a:r>
                <a:r>
                  <a:rPr lang="en-US" baseline="-25000" dirty="0"/>
                  <a:t>0</a:t>
                </a:r>
                <a:r>
                  <a:rPr lang="en-US" dirty="0"/>
                  <a:t>[1] = S</a:t>
                </a:r>
                <a:r>
                  <a:rPr lang="en-US" baseline="-25000" dirty="0"/>
                  <a:t>1</a:t>
                </a:r>
                <a:r>
                  <a:rPr lang="en-US" dirty="0"/>
                  <a:t>[K1] = S</a:t>
                </a:r>
                <a:r>
                  <a:rPr lang="en-US" baseline="-25000" dirty="0"/>
                  <a:t>0</a:t>
                </a:r>
                <a:r>
                  <a:rPr lang="en-US" dirty="0"/>
                  <a:t>[0] =1;</a:t>
                </a:r>
              </a:p>
              <a:p>
                <a:pPr lvl="1"/>
                <a:r>
                  <a:rPr lang="en-US" dirty="0"/>
                  <a:t>return: S</a:t>
                </a:r>
                <a:r>
                  <a:rPr lang="en-US" baseline="-25000" dirty="0"/>
                  <a:t>0</a:t>
                </a:r>
                <a:r>
                  <a:rPr lang="en-US" dirty="0"/>
                  <a:t>[n] + S</a:t>
                </a:r>
                <a:r>
                  <a:rPr lang="en-US" baseline="-25000" dirty="0"/>
                  <a:t>1</a:t>
                </a:r>
                <a:r>
                  <a:rPr lang="en-US" dirty="0"/>
                  <a:t>[n]</a:t>
                </a:r>
              </a:p>
              <a:p>
                <a:pPr lvl="1"/>
                <a:r>
                  <a:rPr lang="en-US" dirty="0"/>
                  <a:t>Complexity: O(n(K2-K1))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85BF7-E453-F8F7-41BE-405AFA4A07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11661198" cy="5248966"/>
              </a:xfrm>
              <a:blipFill>
                <a:blip r:embed="rId2"/>
                <a:stretch>
                  <a:fillRect l="-871" t="-217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3A8F4-40B3-626C-8539-7E1AD74F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1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62CDADA-1AD6-499A-A16D-9F8A857C00DA}"/>
</file>

<file path=customXml/itemProps2.xml><?xml version="1.0" encoding="utf-8"?>
<ds:datastoreItem xmlns:ds="http://schemas.openxmlformats.org/officeDocument/2006/customXml" ds:itemID="{1282BDB0-EDA4-41D9-B76E-8B89BEB9C76D}"/>
</file>

<file path=customXml/itemProps3.xml><?xml version="1.0" encoding="utf-8"?>
<ds:datastoreItem xmlns:ds="http://schemas.openxmlformats.org/officeDocument/2006/customXml" ds:itemID="{6CB5A171-E78E-48A3-BF9F-35E135B73C2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341</Words>
  <Application>Microsoft Office PowerPoint</Application>
  <PresentationFormat>Màn hình rộng</PresentationFormat>
  <Paragraphs>38</Paragraphs>
  <Slides>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Nurse</vt:lpstr>
      <vt:lpstr>Nurse</vt:lpstr>
      <vt:lpstr>Nurse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4</cp:revision>
  <dcterms:created xsi:type="dcterms:W3CDTF">2025-09-24T15:02:19Z</dcterms:created>
  <dcterms:modified xsi:type="dcterms:W3CDTF">2025-09-24T15:08:25Z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