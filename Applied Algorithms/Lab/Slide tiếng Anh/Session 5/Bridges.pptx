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9" r:id="rId2"/>
    <p:sldId id="257" r:id="rId3"/>
    <p:sldId id="258" r:id="rId4"/>
    <p:sldId id="265" r:id="rId5"/>
    <p:sldId id="266" r:id="rId6"/>
    <p:sldId id="260" r:id="rId7"/>
    <p:sldId id="267" r:id="rId8"/>
    <p:sldId id="268" r:id="rId9"/>
    <p:sldId id="323" r:id="rId10"/>
    <p:sldId id="291" r:id="rId11"/>
    <p:sldId id="292" r:id="rId12"/>
    <p:sldId id="293" r:id="rId13"/>
    <p:sldId id="296" r:id="rId14"/>
    <p:sldId id="294" r:id="rId15"/>
    <p:sldId id="324" r:id="rId16"/>
    <p:sldId id="300" r:id="rId17"/>
    <p:sldId id="303" r:id="rId18"/>
    <p:sldId id="304" r:id="rId19"/>
    <p:sldId id="325" r:id="rId20"/>
    <p:sldId id="305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FC55-B52D-4F73-9DDF-9BB15F125EF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C6814-8C30-4B37-9E07-93EF4771A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3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5A88C67-891B-E0E3-0604-FADAFCCE5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72776C3-30BE-D83A-9E5D-7B1312D1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EC02F6-69A4-537D-ABA5-65145764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CD63D8B-9665-9A56-0A12-E8FF0FE99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1A8D061-0FCE-9317-4EAA-6E26A213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DD37677-6F6E-0384-F280-BC93D0D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945AD44-48AD-3AB1-ED8A-D055350F5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C99C1-5AC9-3888-6320-26FB23B6B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CA72DE-D391-3FDA-ACA3-6EE573E3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8CFFA1C-0C0B-F983-8FE9-BCCC93A7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0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E59518-1D55-B371-FB25-4A4B845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7639ED3-A704-C410-4C46-1A001708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1241A85-3FE7-2636-A5C0-66BFBBE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86D3A45-4C10-1F73-16F1-3DD9EE2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DA8744F6-43AC-C97D-DCC4-628D5CFD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C08695-C0D7-A1CE-946E-6AC7710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EF6B95-A06F-BE47-A1E2-4A02E05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ED4C69F6-BBCE-95B4-A177-15128C07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41B1BCD-5DF5-4991-3DC9-D4E0FC53F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E2065E37-9A90-8B50-A4B7-D4D4DEDB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8F1983A-0612-5FBB-7A70-0EEFAC7AA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C81E0EE-F1C5-8C9E-E316-DED07E66E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2EB30A-DD97-7909-2036-29BD155D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0978100-8BE8-F35A-6AAB-F89F1F8A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827D3673-7478-DC2E-D816-B6090DC2B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2E12D4A7-3BFD-CC41-0584-3EAE95DDF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DDCBCA4-DC25-A5B1-7639-6BF02B4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F2C9BE7-FF7E-E325-B189-AB4DACC9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D7BEB403-E2D8-B8EC-D1D9-0D1F1C16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FD3CBD-2813-8F96-DD31-4AB03BE10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D5921CAC-E52E-AE98-C407-0647A2B7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36479D51-982D-4E74-7A6D-7A4A9E07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9970CD80-021C-10E8-92AE-1B65EE8B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09AA53B-D6A7-BB26-698A-CC6D3C8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21DF8FE-8BBD-C314-DCEE-A62CDC66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B18B79C-75DD-1407-D387-305A1A80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1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660E28-B210-0729-B6EC-8EF6474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CEA2F69-BFD3-D42E-F260-99A65038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40A34D-EDF3-5891-A0A3-4993A91BF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29596E2-1862-E50D-7629-EC9668E1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9374F86-8E17-44B0-976C-69A5616E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6D6B729-CAAC-A6C5-9CFE-27D0BCAD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8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F58DD64-BC83-EE87-04D8-CD3F6B10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1925A14-3639-EC6A-629F-7F6BFF024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F650622-51B7-3AF2-EA16-BCBD3E6A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FF323D3C-200F-98CD-DF24-93DDC69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885521D-3E1C-445C-A1B5-DA1F1B0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F982A607-89F7-BEF0-4784-0D40DFD5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4255527-00C6-DB8F-5C57-4A32F0E0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2F8A0689-2245-FEE6-97C7-C1451633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4FFA54D-6707-50FF-5219-41DA0C33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726568D-658F-3023-8B94-C6BEB377B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D758BEC-5EC2-C182-8DCA-D843E654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9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86025FF-C3DF-747E-48A4-3ACDEDFB4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0EC2FA4D-9D1C-E810-DD4A-75421B84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B4FF88A-2FF1-00A0-766D-A36E35A07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D1C252-FECF-7217-D320-9E8157ED7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A728DCC-0BBD-E469-CC1B-F2EE9B8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37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4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94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413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B0FD760-3672-8D0E-6CF7-9058FBB2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24DC5CA-2F07-D49E-F6D4-89248CD1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5D82162-080E-C394-A410-AC3F8CC8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C0A8C-E777-49CD-B979-CC7D95C2E7C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11D3658-43F3-659C-19D3-B1E39D09F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9C44EB4-E7E6-6FC3-8CE3-99458DB09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CB4F4-21D8-4F32-B98E-A0A0CF8D8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1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Bridges</a:t>
            </a:r>
          </a:p>
          <a:p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Find articulation points and bridges of an undirected graph.</a:t>
            </a:r>
          </a:p>
          <a:p>
            <a:pPr lvl="1"/>
            <a:r>
              <a:rPr lang="en-US" dirty="0">
                <a:sym typeface="Arial"/>
              </a:rPr>
              <a:t>Definition: Remove articulation points/bridges -&gt; the number of connected components in the graph increase</a:t>
            </a:r>
          </a:p>
          <a:p>
            <a:r>
              <a:rPr lang="en-US" b="1" dirty="0">
                <a:solidFill>
                  <a:srgbClr val="C00000"/>
                </a:solidFill>
                <a:sym typeface="Arial"/>
              </a:rPr>
              <a:t>Input: </a:t>
            </a:r>
            <a:r>
              <a:rPr lang="en-US" dirty="0">
                <a:sym typeface="Arial"/>
              </a:rPr>
              <a:t>Edge list</a:t>
            </a:r>
          </a:p>
          <a:p>
            <a:pPr lvl="1"/>
            <a:r>
              <a:rPr lang="en-US" dirty="0">
                <a:sym typeface="Arial"/>
              </a:rPr>
              <a:t>Line 1 contains N, M</a:t>
            </a:r>
          </a:p>
          <a:p>
            <a:pPr lvl="1"/>
            <a:r>
              <a:rPr lang="en-US" dirty="0">
                <a:sym typeface="Arial"/>
              </a:rPr>
              <a:t>M lines follow, containing a pair of 2 integers a, b which is an undirected edge from a to b.</a:t>
            </a:r>
          </a:p>
          <a:p>
            <a:r>
              <a:rPr lang="en-US" b="1" dirty="0">
                <a:solidFill>
                  <a:srgbClr val="C00000"/>
                </a:solidFill>
                <a:sym typeface="Arial"/>
              </a:rPr>
              <a:t>Output:</a:t>
            </a:r>
            <a:endParaRPr lang="en-US" sz="2400" b="1" dirty="0">
              <a:solidFill>
                <a:srgbClr val="C00000"/>
              </a:solidFill>
              <a:sym typeface="Arial"/>
            </a:endParaRPr>
          </a:p>
          <a:p>
            <a:pPr lvl="1"/>
            <a:r>
              <a:rPr lang="en-US" dirty="0">
                <a:sym typeface="Arial"/>
              </a:rPr>
              <a:t>Number of articulation points and the number of bridges.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2A94-16D6-7EC5-778D-DD6B68B2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7259-8D3D-FD46-FA1D-4D005C06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F061A-22BD-2F46-7734-9E5F17BD84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Example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7DD84-B2DC-5211-16EE-BE23F733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Google Shape;93;g1b3968dca7a_0_6">
            <a:extLst>
              <a:ext uri="{FF2B5EF4-FFF2-40B4-BE49-F238E27FC236}">
                <a16:creationId xmlns:a16="http://schemas.microsoft.com/office/drawing/2014/main" id="{D5E0F2F2-E09E-2B22-D931-C6290C89C868}"/>
              </a:ext>
            </a:extLst>
          </p:cNvPr>
          <p:cNvGraphicFramePr/>
          <p:nvPr/>
        </p:nvGraphicFramePr>
        <p:xfrm>
          <a:off x="1568473" y="1488581"/>
          <a:ext cx="3880349" cy="47434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4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Input</a:t>
                      </a:r>
                      <a:endParaRPr sz="2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Output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8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10 12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1 10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10 2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10 3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2 4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4 5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5 2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3 6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6 7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7 3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7 8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8 9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9 7</a:t>
                      </a:r>
                      <a:endParaRPr sz="2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4 3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vi-VN"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2000" dirty="0"/>
                        <a:t>Explain: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A</a:t>
                      </a:r>
                      <a:r>
                        <a:rPr lang="en-VN" sz="2000" dirty="0"/>
                        <a:t>rticulation points: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2000" dirty="0"/>
                        <a:t>   10, 2, 3, 7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2000" dirty="0"/>
                        <a:t>Bridges: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2000" dirty="0"/>
                        <a:t>   (2-10), (10-3), (10-1)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Google Shape;100;g1b3968dca7a_0_15">
            <a:extLst>
              <a:ext uri="{FF2B5EF4-FFF2-40B4-BE49-F238E27FC236}">
                <a16:creationId xmlns:a16="http://schemas.microsoft.com/office/drawing/2014/main" id="{64E1D70A-94F1-15A2-4C73-4C3664741B6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l="9814" t="9069" r="8866" b="6419"/>
          <a:stretch/>
        </p:blipFill>
        <p:spPr>
          <a:xfrm>
            <a:off x="5953247" y="1615982"/>
            <a:ext cx="5617028" cy="43369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320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4F50-810C-0260-ACBE-EAA15FA67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B158-68BD-3F70-554E-795AEF9D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280E3-2FF7-CA03-F1A9-063B85CCC8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Idea to solve: DFS</a:t>
            </a:r>
          </a:p>
          <a:p>
            <a:pPr lvl="1"/>
            <a:r>
              <a:rPr lang="en-US" dirty="0">
                <a:sym typeface="Arial"/>
              </a:rPr>
              <a:t>Store graph in adjacency list:  </a:t>
            </a:r>
            <a:r>
              <a:rPr lang="en-US" dirty="0"/>
              <a:t>vector&lt;vector&lt;int&gt;&gt; adj(N);</a:t>
            </a:r>
          </a:p>
          <a:p>
            <a:pPr lvl="1"/>
            <a:endParaRPr lang="en-US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134A7-5B92-DAA0-5B82-3C9C27A83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/>
              <a:t>DFS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DFS tree and Num, Low structure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Finding bridges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Finding a</a:t>
            </a:r>
            <a:r>
              <a:rPr lang="vi-VN" sz="2400" dirty="0">
                <a:solidFill>
                  <a:schemeClr val="bg2">
                    <a:lumMod val="90000"/>
                  </a:schemeClr>
                </a:solidFill>
              </a:rPr>
              <a:t>rticulation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4F76EF-F552-B05E-9AC0-2F53B7D4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EEA53B-D427-9FDE-2692-475A02D43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Depth 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03C398D-BA41-EC32-FD5C-584302E262A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dirty="0"/>
                  <a:t>DFS is a basic graph traversing technique (to visit all nodes and edges in graph).</a:t>
                </a:r>
              </a:p>
              <a:p>
                <a:pPr lvl="1"/>
                <a:r>
                  <a:rPr lang="en-US" dirty="0"/>
                  <a:t>DFS can answer if there exist a path from node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t</a:t>
                </a:r>
                <a:r>
                  <a:rPr lang="en-US" dirty="0"/>
                  <a:t>o node</a:t>
                </a:r>
                <a14:m>
                  <m:oMath xmlns:m="http://schemas.openxmlformats.org/officeDocument/2006/math">
                    <m:r>
                      <a:rPr lang="vi-V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graph or not, and show the path if exists.</a:t>
                </a:r>
              </a:p>
              <a:p>
                <a:pPr lvl="1"/>
                <a:r>
                  <a:rPr lang="en-US" dirty="0"/>
                  <a:t>DFS can also answer from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we can goes to which nodes on graph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sz="2400" dirty="0"/>
                  <a:t>The traversing order in DFS follow LIFO – Last In First Out mechanism, start from some beginning node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dirty="0"/>
                  <a:t>We may use backtracking </a:t>
                </a:r>
                <a:r>
                  <a:rPr lang="en-US" dirty="0" err="1"/>
                  <a:t>recusion</a:t>
                </a:r>
                <a:r>
                  <a:rPr lang="en-US" dirty="0"/>
                  <a:t> or stack</a:t>
                </a:r>
              </a:p>
              <a:p>
                <a:r>
                  <a:rPr lang="en-US" sz="2400" dirty="0"/>
                  <a:t>Complexity: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is node set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is edge set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since each node and each edge is visited once.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03C398D-BA41-EC32-FD5C-584302E26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661" t="-1809" r="-33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6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943868-0306-4BE0-3D08-15BC1F28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534F37-3F2E-5174-2917-07CA95E7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Programming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18BA6-7917-FDDC-1F1A-D2232F2B63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8720" y="890420"/>
            <a:ext cx="7101840" cy="532750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DFS(u)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visit(u); // assign visited[u] = true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for v in A[u] do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not visited[v] then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DFS(v);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DFS(){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for u in V  do {   visited[u] = false;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for u in V do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if not visited[u] then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DFS(u);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}   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A9EA9A4-9A3C-42B3-444A-615EEFB4EA4A}"/>
              </a:ext>
            </a:extLst>
          </p:cNvPr>
          <p:cNvSpPr txBox="1">
            <a:spLocks/>
          </p:cNvSpPr>
          <p:nvPr/>
        </p:nvSpPr>
        <p:spPr>
          <a:xfrm>
            <a:off x="172720" y="944880"/>
            <a:ext cx="4714240" cy="50230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Graph G = (V, E) represented by adjacency lists A[1…n]</a:t>
            </a:r>
          </a:p>
          <a:p>
            <a:r>
              <a:rPr lang="en-US" sz="2000" dirty="0"/>
              <a:t>Marking array: </a:t>
            </a:r>
          </a:p>
          <a:p>
            <a:pPr lvl="1"/>
            <a:r>
              <a:rPr lang="en-US" sz="2000" dirty="0"/>
              <a:t>visited[u] = true, if u is visited</a:t>
            </a:r>
          </a:p>
          <a:p>
            <a:pPr lvl="1"/>
            <a:r>
              <a:rPr lang="en-US" sz="2000" dirty="0"/>
              <a:t>visited[u] = false, otherwise</a:t>
            </a:r>
          </a:p>
        </p:txBody>
      </p:sp>
    </p:spTree>
    <p:extLst>
      <p:ext uri="{BB962C8B-B14F-4D97-AF65-F5344CB8AC3E}">
        <p14:creationId xmlns:p14="http://schemas.microsoft.com/office/powerpoint/2010/main" val="693389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E99C-25EC-C9E0-1100-D4BAD7D9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4766-9386-0156-12D3-B7BC0EA1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66EC4-5646-FE0D-59C0-93DCADEAB0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DFS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DFS tree and Num, Low structure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Finding bridges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Finding a</a:t>
            </a:r>
            <a:r>
              <a:rPr lang="vi-VN" sz="2400" dirty="0">
                <a:solidFill>
                  <a:schemeClr val="bg2">
                    <a:lumMod val="90000"/>
                  </a:schemeClr>
                </a:solidFill>
              </a:rPr>
              <a:t>rticulation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7CB19-9B6C-2136-B7EA-7E5D7159A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893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7BD297-4598-4499-B77F-D00B64C9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7EC49E-CD56-D4BA-B4DA-0AACE1A1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DFS tree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61247-4C8B-31E5-A2F2-C1EDE27771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dirty="0"/>
              <a:t>Trace of the DF search will construct a tree, called DFS tree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48DD76-F7BC-8A11-CF89-A92A663D4D15}"/>
              </a:ext>
            </a:extLst>
          </p:cNvPr>
          <p:cNvSpPr/>
          <p:nvPr/>
        </p:nvSpPr>
        <p:spPr>
          <a:xfrm>
            <a:off x="2706757" y="18917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E2A867-B35F-4D78-3CB6-AE17030756B8}"/>
              </a:ext>
            </a:extLst>
          </p:cNvPr>
          <p:cNvSpPr/>
          <p:nvPr/>
        </p:nvSpPr>
        <p:spPr>
          <a:xfrm>
            <a:off x="1546131" y="30347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A2595D-93AB-0854-D994-FDE403862A74}"/>
              </a:ext>
            </a:extLst>
          </p:cNvPr>
          <p:cNvSpPr/>
          <p:nvPr/>
        </p:nvSpPr>
        <p:spPr>
          <a:xfrm>
            <a:off x="1639957" y="47873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C8FFEA-E869-852D-2F51-CF6A813387E8}"/>
              </a:ext>
            </a:extLst>
          </p:cNvPr>
          <p:cNvSpPr/>
          <p:nvPr/>
        </p:nvSpPr>
        <p:spPr>
          <a:xfrm>
            <a:off x="4017003" y="2908852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f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D3DA57-9368-14B6-957B-EAAE9CA54273}"/>
              </a:ext>
            </a:extLst>
          </p:cNvPr>
          <p:cNvSpPr/>
          <p:nvPr/>
        </p:nvSpPr>
        <p:spPr>
          <a:xfrm>
            <a:off x="4017003" y="47873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1EA7BF-F296-D8C6-531B-88041D8579F8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2131498" y="2412074"/>
            <a:ext cx="675692" cy="7119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0708F7-1FAF-EA34-14E0-7F71CF8D6DE8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1889031" y="3644348"/>
            <a:ext cx="93826" cy="1143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E903F1-2081-BF65-90F0-85F9E316D356}"/>
              </a:ext>
            </a:extLst>
          </p:cNvPr>
          <p:cNvCxnSpPr>
            <a:endCxn id="7" idx="6"/>
          </p:cNvCxnSpPr>
          <p:nvPr/>
        </p:nvCxnSpPr>
        <p:spPr>
          <a:xfrm flipH="1">
            <a:off x="2325757" y="5092148"/>
            <a:ext cx="16912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876A82-7C87-8F91-A044-57A3AF941D91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4359903" y="3518452"/>
            <a:ext cx="0" cy="1268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1E60F0-11EA-A869-CF04-691CEFD805EF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3292124" y="2412074"/>
            <a:ext cx="1067779" cy="4967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CBB3F5-9B32-3A49-C162-39461A59F3E9}"/>
              </a:ext>
            </a:extLst>
          </p:cNvPr>
          <p:cNvCxnSpPr>
            <a:stCxn id="5" idx="4"/>
            <a:endCxn id="7" idx="7"/>
          </p:cNvCxnSpPr>
          <p:nvPr/>
        </p:nvCxnSpPr>
        <p:spPr>
          <a:xfrm flipH="1">
            <a:off x="2225324" y="2501348"/>
            <a:ext cx="824333" cy="2375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A0071B-2BF6-9587-609C-2E2127C12950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3202058" y="2501348"/>
            <a:ext cx="915378" cy="2375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F4949F7-52D2-64B8-2C3A-6D395288AA39}"/>
              </a:ext>
            </a:extLst>
          </p:cNvPr>
          <p:cNvSpPr/>
          <p:nvPr/>
        </p:nvSpPr>
        <p:spPr>
          <a:xfrm>
            <a:off x="8453381" y="18917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DCC971-2E8E-34AE-2880-5B34EA0B66B4}"/>
              </a:ext>
            </a:extLst>
          </p:cNvPr>
          <p:cNvSpPr/>
          <p:nvPr/>
        </p:nvSpPr>
        <p:spPr>
          <a:xfrm>
            <a:off x="7386581" y="31109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4DC54F-BE3C-DE70-7F16-971EB4320FAB}"/>
              </a:ext>
            </a:extLst>
          </p:cNvPr>
          <p:cNvSpPr/>
          <p:nvPr/>
        </p:nvSpPr>
        <p:spPr>
          <a:xfrm>
            <a:off x="7386581" y="47873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A84769-4B14-14E7-C12E-1CC55ED7FE5D}"/>
              </a:ext>
            </a:extLst>
          </p:cNvPr>
          <p:cNvSpPr/>
          <p:nvPr/>
        </p:nvSpPr>
        <p:spPr>
          <a:xfrm>
            <a:off x="9367781" y="31109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f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A0D13B-3B9A-E97B-9A19-FC6068F0EAC3}"/>
              </a:ext>
            </a:extLst>
          </p:cNvPr>
          <p:cNvSpPr/>
          <p:nvPr/>
        </p:nvSpPr>
        <p:spPr>
          <a:xfrm>
            <a:off x="9420727" y="4858252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0DFDCD-9DA2-3140-352C-A2D97E478987}"/>
              </a:ext>
            </a:extLst>
          </p:cNvPr>
          <p:cNvCxnSpPr>
            <a:stCxn id="17" idx="3"/>
            <a:endCxn id="18" idx="7"/>
          </p:cNvCxnSpPr>
          <p:nvPr/>
        </p:nvCxnSpPr>
        <p:spPr>
          <a:xfrm flipH="1">
            <a:off x="7971948" y="2412074"/>
            <a:ext cx="581866" cy="788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E48275-7AD8-3E81-4835-2257B5867B76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>
            <a:off x="7729481" y="3720548"/>
            <a:ext cx="0" cy="1066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47418C-1BBD-17C4-D8D8-D80B31E44351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>
            <a:off x="9710681" y="3720548"/>
            <a:ext cx="52946" cy="11377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F60959-FD6E-7D1F-09FD-3C5AB192C6C8}"/>
              </a:ext>
            </a:extLst>
          </p:cNvPr>
          <p:cNvCxnSpPr>
            <a:stCxn id="17" idx="5"/>
            <a:endCxn id="20" idx="0"/>
          </p:cNvCxnSpPr>
          <p:nvPr/>
        </p:nvCxnSpPr>
        <p:spPr>
          <a:xfrm>
            <a:off x="9038748" y="2412074"/>
            <a:ext cx="671933" cy="6988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25AAF4C-0C20-E243-4D40-290561E4C086}"/>
              </a:ext>
            </a:extLst>
          </p:cNvPr>
          <p:cNvSpPr/>
          <p:nvPr/>
        </p:nvSpPr>
        <p:spPr>
          <a:xfrm>
            <a:off x="5282455" y="3213652"/>
            <a:ext cx="1182757" cy="4306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16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7BD297-4598-4499-B77F-D00B64C9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7EC49E-CD56-D4BA-B4DA-0AACE1A1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DFS tree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61247-4C8B-31E5-A2F2-C1EDE27771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4" y="1058844"/>
            <a:ext cx="8270455" cy="4631837"/>
          </a:xfrm>
        </p:spPr>
        <p:txBody>
          <a:bodyPr/>
          <a:lstStyle/>
          <a:p>
            <a:r>
              <a:rPr lang="en-US" sz="2400" dirty="0"/>
              <a:t>Trace of the DF search will construct DFS tree</a:t>
            </a:r>
          </a:p>
          <a:p>
            <a:r>
              <a:rPr lang="en-US" sz="2400" dirty="0"/>
              <a:t>Some type of edge in DFS:</a:t>
            </a:r>
          </a:p>
          <a:p>
            <a:pPr lvl="1"/>
            <a:r>
              <a:rPr lang="en-US" sz="2000" dirty="0"/>
              <a:t>Tree Edge: edge in DFS tree, </a:t>
            </a:r>
            <a:r>
              <a:rPr lang="en-US" sz="2000" i="1" dirty="0"/>
              <a:t>e.g. black edges in figure</a:t>
            </a:r>
          </a:p>
          <a:p>
            <a:pPr lvl="1"/>
            <a:r>
              <a:rPr lang="en-US" sz="2000" dirty="0"/>
              <a:t>Back Edge: edge from descendants to ancestors, </a:t>
            </a:r>
            <a:r>
              <a:rPr lang="en-US" sz="2000" i="1" dirty="0"/>
              <a:t>e.g. red edges</a:t>
            </a:r>
          </a:p>
          <a:p>
            <a:pPr lvl="1"/>
            <a:r>
              <a:rPr lang="en-US" sz="2000" dirty="0"/>
              <a:t>Forward Edge: edge from ancestors to descendants, </a:t>
            </a:r>
            <a:r>
              <a:rPr lang="en-US" sz="2000" i="1" dirty="0"/>
              <a:t>e.g. blue edges</a:t>
            </a:r>
          </a:p>
          <a:p>
            <a:pPr lvl="1"/>
            <a:r>
              <a:rPr lang="en-US" sz="2000" dirty="0"/>
              <a:t>Crossing Edge: edge between non-relational nodes, </a:t>
            </a:r>
            <a:r>
              <a:rPr lang="en-US" sz="2000" i="1" dirty="0"/>
              <a:t>e.g. purple edges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F4949F7-52D2-64B8-2C3A-6D395288AA39}"/>
              </a:ext>
            </a:extLst>
          </p:cNvPr>
          <p:cNvSpPr/>
          <p:nvPr/>
        </p:nvSpPr>
        <p:spPr>
          <a:xfrm>
            <a:off x="9534473" y="176815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DCC971-2E8E-34AE-2880-5B34EA0B66B4}"/>
              </a:ext>
            </a:extLst>
          </p:cNvPr>
          <p:cNvSpPr/>
          <p:nvPr/>
        </p:nvSpPr>
        <p:spPr>
          <a:xfrm>
            <a:off x="8467673" y="298735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4DC54F-BE3C-DE70-7F16-971EB4320FAB}"/>
              </a:ext>
            </a:extLst>
          </p:cNvPr>
          <p:cNvSpPr/>
          <p:nvPr/>
        </p:nvSpPr>
        <p:spPr>
          <a:xfrm>
            <a:off x="8467673" y="466375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A84769-4B14-14E7-C12E-1CC55ED7FE5D}"/>
              </a:ext>
            </a:extLst>
          </p:cNvPr>
          <p:cNvSpPr/>
          <p:nvPr/>
        </p:nvSpPr>
        <p:spPr>
          <a:xfrm>
            <a:off x="10802655" y="2869490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f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A0D13B-3B9A-E97B-9A19-FC6068F0EAC3}"/>
              </a:ext>
            </a:extLst>
          </p:cNvPr>
          <p:cNvSpPr/>
          <p:nvPr/>
        </p:nvSpPr>
        <p:spPr>
          <a:xfrm>
            <a:off x="10844719" y="466375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0DFDCD-9DA2-3140-352C-A2D97E478987}"/>
              </a:ext>
            </a:extLst>
          </p:cNvPr>
          <p:cNvCxnSpPr>
            <a:stCxn id="17" idx="3"/>
            <a:endCxn id="18" idx="7"/>
          </p:cNvCxnSpPr>
          <p:nvPr/>
        </p:nvCxnSpPr>
        <p:spPr>
          <a:xfrm flipH="1">
            <a:off x="9053040" y="2288484"/>
            <a:ext cx="581866" cy="7881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E48275-7AD8-3E81-4835-2257B5867B76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>
            <a:off x="8810573" y="3596958"/>
            <a:ext cx="0" cy="1066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F03361-15D8-2E33-1E07-EB0968CF109F}"/>
              </a:ext>
            </a:extLst>
          </p:cNvPr>
          <p:cNvCxnSpPr>
            <a:endCxn id="19" idx="6"/>
          </p:cNvCxnSpPr>
          <p:nvPr/>
        </p:nvCxnSpPr>
        <p:spPr>
          <a:xfrm flipH="1">
            <a:off x="9153473" y="4968558"/>
            <a:ext cx="1691246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47418C-1BBD-17C4-D8D8-D80B31E44351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>
            <a:off x="11145555" y="3479090"/>
            <a:ext cx="42064" cy="11846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F60959-FD6E-7D1F-09FD-3C5AB192C6C8}"/>
              </a:ext>
            </a:extLst>
          </p:cNvPr>
          <p:cNvCxnSpPr>
            <a:stCxn id="17" idx="5"/>
            <a:endCxn id="20" idx="0"/>
          </p:cNvCxnSpPr>
          <p:nvPr/>
        </p:nvCxnSpPr>
        <p:spPr>
          <a:xfrm>
            <a:off x="10119840" y="2288484"/>
            <a:ext cx="1025715" cy="581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C7A7FD-3C73-E6E8-2CEF-FD40A2822328}"/>
              </a:ext>
            </a:extLst>
          </p:cNvPr>
          <p:cNvCxnSpPr>
            <a:stCxn id="17" idx="4"/>
            <a:endCxn id="19" idx="7"/>
          </p:cNvCxnSpPr>
          <p:nvPr/>
        </p:nvCxnSpPr>
        <p:spPr>
          <a:xfrm flipH="1">
            <a:off x="9053040" y="2377758"/>
            <a:ext cx="824333" cy="2375274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3CE206-71AF-9D67-EFBE-BE4446A8CEDE}"/>
              </a:ext>
            </a:extLst>
          </p:cNvPr>
          <p:cNvCxnSpPr>
            <a:stCxn id="21" idx="1"/>
          </p:cNvCxnSpPr>
          <p:nvPr/>
        </p:nvCxnSpPr>
        <p:spPr>
          <a:xfrm flipH="1" flipV="1">
            <a:off x="10029774" y="2377758"/>
            <a:ext cx="915378" cy="23752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04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CAE1A-18BB-188D-6382-88CACEFD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8D07B6-0C44-4E23-499C-C71D6C982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DFS tree: Num and Low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78C4743-791B-10B0-B944-F5C0E4611E8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5" y="1058844"/>
                <a:ext cx="5270587" cy="4909124"/>
              </a:xfrm>
            </p:spPr>
            <p:txBody>
              <a:bodyPr/>
              <a:lstStyle/>
              <a:p>
                <a:r>
                  <a:rPr lang="en-US" sz="2000" dirty="0"/>
                  <a:t>Defining 2 arrays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𝑁𝑢𝑚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𝐿𝑜𝑤</m:t>
                    </m:r>
                  </m:oMath>
                </a14:m>
                <a:r>
                  <a:rPr lang="en-US" sz="2000" dirty="0"/>
                  <a:t> for each node of DFS tree.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]:</m:t>
                    </m:r>
                  </m:oMath>
                </a14:m>
                <a:r>
                  <a:rPr lang="en-US" sz="2000" dirty="0"/>
                  <a:t> visiting order of u in DFS traversal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: the minimum value of: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back edge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: </a:t>
                </a:r>
              </a:p>
              <a:p>
                <a:pPr marL="914400" lvl="2" indent="0">
                  <a:buNone/>
                </a:pPr>
                <a:r>
                  <a:rPr lang="vi-VN" sz="1600" dirty="0"/>
                  <a:t>~minimum num[v] where v and descendents can visit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78C4743-791B-10B0-B944-F5C0E4611E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5" y="1058844"/>
                <a:ext cx="5270587" cy="4909124"/>
              </a:xfrm>
              <a:blipFill>
                <a:blip r:embed="rId2"/>
                <a:stretch>
                  <a:fillRect l="-962" t="-1550" r="-24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554E381-9047-1651-9979-C1232FFB9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88"/>
          <a:stretch/>
        </p:blipFill>
        <p:spPr>
          <a:xfrm>
            <a:off x="6013577" y="1275705"/>
            <a:ext cx="5886134" cy="43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99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70B80-733F-38F8-13B4-84083D80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6D85C6-0920-4457-A721-EA5BB237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44169-92C1-0137-D34D-3D6F84D7F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42" y="1213712"/>
            <a:ext cx="6332769" cy="3185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9C2254-7012-AE3A-7138-196EEFE3C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098" y="4648146"/>
            <a:ext cx="6574413" cy="134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4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780253-28F3-A7A8-0E6D-AD07B1C0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4862F9-19B0-D40C-79E7-A479D050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DFS and Num, Low programming by recursion 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342D0D-C041-5CDF-E1D6-D765863226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8720" y="890420"/>
            <a:ext cx="7101840" cy="547990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DFS(u)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T += 1; Num[u] = T; Low[u] = T;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for v in A[u] do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v = p[u] continue;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Num[v] &gt; 0 then { // v was visited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Low[u] = min(Low[u], Num[v]);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 else {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p[v] = u;  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DFS(v);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Low[u] = min(Low[u], Low[v]);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14267CF-50BA-A5D2-4A21-5D8F32A508F6}"/>
              </a:ext>
            </a:extLst>
          </p:cNvPr>
          <p:cNvSpPr txBox="1">
            <a:spLocks/>
          </p:cNvSpPr>
          <p:nvPr/>
        </p:nvSpPr>
        <p:spPr>
          <a:xfrm>
            <a:off x="172720" y="944880"/>
            <a:ext cx="4714240" cy="50230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p[v]: father of v in DFS</a:t>
            </a:r>
          </a:p>
          <a:p>
            <a:r>
              <a:rPr lang="en-US" sz="2000" dirty="0"/>
              <a:t>Num[u] = 0: node u is not visited</a:t>
            </a:r>
          </a:p>
          <a:p>
            <a:r>
              <a:rPr lang="en-US" sz="2000" dirty="0"/>
              <a:t>Num[u] &gt; 0: node u is visited and  Num[u] is the order</a:t>
            </a:r>
          </a:p>
        </p:txBody>
      </p:sp>
    </p:spTree>
    <p:extLst>
      <p:ext uri="{BB962C8B-B14F-4D97-AF65-F5344CB8AC3E}">
        <p14:creationId xmlns:p14="http://schemas.microsoft.com/office/powerpoint/2010/main" val="233743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1C13-8E7E-008B-2A0D-CE861D44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67F1-7C6E-1E6E-1B95-8F8AC77C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FD25A-A78B-88B5-08FC-5C265AB4F25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DFS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DFS tree and Num, Low structure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Finding bridges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Finding a</a:t>
            </a:r>
            <a:r>
              <a:rPr lang="vi-VN" sz="2400" dirty="0">
                <a:solidFill>
                  <a:schemeClr val="bg2">
                    <a:lumMod val="90000"/>
                  </a:schemeClr>
                </a:solidFill>
              </a:rPr>
              <a:t>rticulation</a:t>
            </a: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0F635-75CC-FC71-540C-5E435CAD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03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1A0CE3-65BB-ECF9-FF14-665A9B22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651EFE-5A56-28A7-D3EF-EB66537C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bridges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638555-C7B6-F660-95EB-9BB97A8BF70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b="1" dirty="0"/>
                  <a:t>Definition</a:t>
                </a:r>
                <a:r>
                  <a:rPr lang="en-US" sz="2400" dirty="0"/>
                  <a:t>: Bridge is an edge where if we remove it, the number of connected components in the graph increases.</a:t>
                </a:r>
              </a:p>
              <a:p>
                <a:r>
                  <a:rPr lang="en-US" sz="2400" b="1" dirty="0"/>
                  <a:t>Note</a:t>
                </a:r>
                <a:r>
                  <a:rPr lang="en-US" sz="2400" dirty="0"/>
                  <a:t>: A forwarde edge</a:t>
                </a:r>
                <a14:m>
                  <m:oMath xmlns:m="http://schemas.openxmlformats.org/officeDocument/2006/math">
                    <m:r>
                      <a:rPr lang="vi-VN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an edge if and only if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] &gt;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638555-C7B6-F660-95EB-9BB97A8BF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661" t="-180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8B0604A-FE0D-CC6D-1C96-87DC1C1CB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911" y="2603870"/>
            <a:ext cx="6287045" cy="32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94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1A0CE3-65BB-ECF9-FF14-665A9B22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651EFE-5A56-28A7-D3EF-EB66537C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bridges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638555-C7B6-F660-95EB-9BB97A8BF70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1058844"/>
                <a:ext cx="11514528" cy="436098"/>
              </a:xfrm>
            </p:spPr>
            <p:txBody>
              <a:bodyPr/>
              <a:lstStyle/>
              <a:p>
                <a:r>
                  <a:rPr lang="en-US" sz="2400" b="1" dirty="0"/>
                  <a:t>Note</a:t>
                </a:r>
                <a:r>
                  <a:rPr lang="en-US" sz="2400" dirty="0"/>
                  <a:t>: A forwarde edge</a:t>
                </a:r>
                <a14:m>
                  <m:oMath xmlns:m="http://schemas.openxmlformats.org/officeDocument/2006/math">
                    <m:r>
                      <a:rPr lang="vi-VN" sz="24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an edge if and only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 &gt;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638555-C7B6-F660-95EB-9BB97A8BF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1058844"/>
                <a:ext cx="11514528" cy="436098"/>
              </a:xfrm>
              <a:blipFill>
                <a:blip r:embed="rId2"/>
                <a:stretch>
                  <a:fillRect l="-661" t="-20000" b="-2857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BADC32B-06B6-27AC-F009-65884F75B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942" y="2420716"/>
            <a:ext cx="5497137" cy="38097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AF9ADB-384A-B392-6550-3D73553D8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97" y="2665729"/>
            <a:ext cx="6287045" cy="32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20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780253-28F3-A7A8-0E6D-AD07B1C0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4862F9-19B0-D40C-79E7-A479D050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Programming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1EF87F3-3DD6-8EF6-2307-943F9475E6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86960" y="890420"/>
            <a:ext cx="7213600" cy="530718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DFS(u)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T += 1; Num[u] = T; Low[u] = T;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for v in A[u] do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v = p[u] continue;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Num[v] &gt; 0 then { // v was visited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Low[u] = min(Low[u], Num[v]);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 else {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p[v] = u;  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DFS(v);  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Low[u] = min(Low[u], Low[v]);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if Low[v] &gt; Num[u] then (</a:t>
            </a:r>
            <a:r>
              <a:rPr lang="en-US" sz="1600" dirty="0" err="1">
                <a:latin typeface="Consolas" panose="020B0609020204030204" pitchFamily="49" charset="0"/>
              </a:rPr>
              <a:t>u,v</a:t>
            </a:r>
            <a:r>
              <a:rPr lang="en-US" sz="1600" dirty="0">
                <a:latin typeface="Consolas" panose="020B0609020204030204" pitchFamily="49" charset="0"/>
              </a:rPr>
              <a:t>) is a bridge;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DD021A9-0C47-C837-DEC3-2E534A76011B}"/>
              </a:ext>
            </a:extLst>
          </p:cNvPr>
          <p:cNvSpPr txBox="1">
            <a:spLocks/>
          </p:cNvSpPr>
          <p:nvPr/>
        </p:nvSpPr>
        <p:spPr>
          <a:xfrm>
            <a:off x="172720" y="944880"/>
            <a:ext cx="4714240" cy="50230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p[v]: father of v in DFS</a:t>
            </a:r>
          </a:p>
          <a:p>
            <a:r>
              <a:rPr lang="en-US" sz="2000" dirty="0"/>
              <a:t>Num[u] = 0: node u is not visited</a:t>
            </a:r>
          </a:p>
          <a:p>
            <a:r>
              <a:rPr lang="en-US" sz="2000" dirty="0"/>
              <a:t>Num[u] &gt; 0: node u is visited and  Num[u] is the order</a:t>
            </a:r>
          </a:p>
          <a:p>
            <a:r>
              <a:rPr lang="en-US" sz="2000" dirty="0"/>
              <a:t>update low[u]</a:t>
            </a:r>
          </a:p>
          <a:p>
            <a:r>
              <a:rPr lang="en-US" sz="2000" dirty="0"/>
              <a:t>check bridge (</a:t>
            </a:r>
            <a:r>
              <a:rPr lang="en-US" sz="2000" dirty="0" err="1"/>
              <a:t>u,v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52287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F693-E0FF-382E-AE67-5922B9536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113E-673E-6D47-07DF-B2A505D6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358DF-9699-CF09-FB1E-FCF4D3447D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DFS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DFS tree and Num, Low structure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2">
                    <a:lumMod val="90000"/>
                  </a:schemeClr>
                </a:solidFill>
              </a:rPr>
              <a:t>Finding bridges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Finding a</a:t>
            </a:r>
            <a:r>
              <a:rPr lang="vi-VN" sz="2400" b="1" dirty="0"/>
              <a:t>rticulation</a:t>
            </a:r>
            <a:r>
              <a:rPr lang="en-US" sz="2400" b="1" dirty="0"/>
              <a:t>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5EDC6-B218-8AF6-E7BE-C3237F64A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80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F66C27-30E4-96C4-5E81-BF0361C0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9B4912-D3F5-7CB3-155E-DF083D63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Finding a</a:t>
            </a:r>
            <a:r>
              <a:rPr lang="vi-VN" dirty="0"/>
              <a:t>rticulation</a:t>
            </a:r>
            <a:r>
              <a:rPr lang="en-US" dirty="0"/>
              <a:t>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91811D8-157F-BD55-2B36-A7AB248B160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1058844"/>
                <a:ext cx="7578892" cy="4909124"/>
              </a:xfrm>
            </p:spPr>
            <p:txBody>
              <a:bodyPr/>
              <a:lstStyle/>
              <a:p>
                <a:r>
                  <a:rPr lang="en-US" sz="2400" b="1" dirty="0"/>
                  <a:t>Definition</a:t>
                </a:r>
                <a:r>
                  <a:rPr lang="en-US" sz="2400" dirty="0"/>
                  <a:t>: In undirected graph, </a:t>
                </a:r>
                <a:r>
                  <a:rPr lang="vi-VN" sz="2400" dirty="0"/>
                  <a:t>an articulation point is a node where if we remove it and its adjacent edge, the number of connected components in graph increase.</a:t>
                </a:r>
                <a:endParaRPr lang="en-US" sz="2400" dirty="0"/>
              </a:p>
              <a:p>
                <a:r>
                  <a:rPr lang="en-US" sz="2400" b="1" dirty="0"/>
                  <a:t>Note</a:t>
                </a:r>
                <a:r>
                  <a:rPr lang="en-US" sz="2400" dirty="0"/>
                  <a:t>: Node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vi-VN" sz="2400" dirty="0"/>
                  <a:t>an articulation point iff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dirty="0"/>
                  <a:t>Node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the root of DFS tree and 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] 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a direct child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in DFS tree</a:t>
                </a:r>
              </a:p>
              <a:p>
                <a:pPr lvl="1"/>
                <a:r>
                  <a:rPr lang="en-US" dirty="0"/>
                  <a:t>Or</a:t>
                </a:r>
                <a14:m>
                  <m:oMath xmlns:m="http://schemas.openxmlformats.org/officeDocument/2006/math">
                    <m:r>
                      <a:rPr lang="vi-V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the root of DFS tree having at least 2 direct children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91811D8-157F-BD55-2B36-A7AB248B16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1058844"/>
                <a:ext cx="7578892" cy="4909124"/>
              </a:xfrm>
              <a:blipFill>
                <a:blip r:embed="rId2"/>
                <a:stretch>
                  <a:fillRect l="-1003" t="-1809" r="-217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5" descr="A black background with white circles and a blue dot&#10;&#10;Description automatically generated">
            <a:extLst>
              <a:ext uri="{FF2B5EF4-FFF2-40B4-BE49-F238E27FC236}">
                <a16:creationId xmlns:a16="http://schemas.microsoft.com/office/drawing/2014/main" id="{229A0BF7-5331-EC32-BFDE-A9A5B2728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44" y="1503276"/>
            <a:ext cx="4394156" cy="352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87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95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05562BA-C76C-4DE8-BD90-D1647AE09747}"/>
</file>

<file path=customXml/itemProps2.xml><?xml version="1.0" encoding="utf-8"?>
<ds:datastoreItem xmlns:ds="http://schemas.openxmlformats.org/officeDocument/2006/customXml" ds:itemID="{3AA72081-44A5-4EE7-A5D1-43E96391DF8B}"/>
</file>

<file path=customXml/itemProps3.xml><?xml version="1.0" encoding="utf-8"?>
<ds:datastoreItem xmlns:ds="http://schemas.openxmlformats.org/officeDocument/2006/customXml" ds:itemID="{D17EEA13-3373-49A3-B8A8-59A837A3ADFF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1182</Words>
  <Application>Microsoft Office PowerPoint</Application>
  <PresentationFormat>Màn hình rộng</PresentationFormat>
  <Paragraphs>186</Paragraphs>
  <Slides>21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Consolas</vt:lpstr>
      <vt:lpstr>Lato</vt:lpstr>
      <vt:lpstr>Times New Roman</vt:lpstr>
      <vt:lpstr>Chủ đề Office</vt:lpstr>
      <vt:lpstr>Bản trình bày PowerPoint</vt:lpstr>
      <vt:lpstr>Bản trình bày PowerPoint</vt:lpstr>
      <vt:lpstr>Bridges</vt:lpstr>
      <vt:lpstr>Bridges</vt:lpstr>
      <vt:lpstr>Bridges</vt:lpstr>
      <vt:lpstr>Bridges</vt:lpstr>
      <vt:lpstr>Depth First Search</vt:lpstr>
      <vt:lpstr>Programming</vt:lpstr>
      <vt:lpstr>Bridges</vt:lpstr>
      <vt:lpstr>DFS tree</vt:lpstr>
      <vt:lpstr>DFS tree</vt:lpstr>
      <vt:lpstr>DFS tree: Num and Low structure</vt:lpstr>
      <vt:lpstr>Example</vt:lpstr>
      <vt:lpstr>DFS and Num, Low programming by recursion </vt:lpstr>
      <vt:lpstr>Bridges</vt:lpstr>
      <vt:lpstr>Finding bridges</vt:lpstr>
      <vt:lpstr>Finding bridges</vt:lpstr>
      <vt:lpstr>Programming</vt:lpstr>
      <vt:lpstr>Bridges</vt:lpstr>
      <vt:lpstr>Finding articulation points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5</cp:revision>
  <dcterms:created xsi:type="dcterms:W3CDTF">2025-09-24T15:02:19Z</dcterms:created>
  <dcterms:modified xsi:type="dcterms:W3CDTF">2025-09-24T15:13:21Z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