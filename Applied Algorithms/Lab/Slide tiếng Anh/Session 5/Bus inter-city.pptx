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9" r:id="rId2"/>
    <p:sldId id="257" r:id="rId3"/>
    <p:sldId id="320" r:id="rId4"/>
    <p:sldId id="321" r:id="rId5"/>
    <p:sldId id="322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3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Đầu trang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Chỗ dành sẵn cho Ngày tháng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6DFC55-B52D-4F73-9DDF-9BB15F125EF6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4" name="Chỗ dành sẵn cho Hình ảnh của Bản chiế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Chỗ dành sẵn cho Ghi chú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9C6814-8C30-4B37-9E07-93EF4771A7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838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95A88C67-891B-E0E3-0604-FADAFCCE5B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Tiêu đề phụ 2">
            <a:extLst>
              <a:ext uri="{FF2B5EF4-FFF2-40B4-BE49-F238E27FC236}">
                <a16:creationId xmlns:a16="http://schemas.microsoft.com/office/drawing/2014/main" id="{B72776C3-30BE-D83A-9E5D-7B1312D1E5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vi-VN"/>
              <a:t>Bấm để chỉnh sửa kiểu tiêu đề phụ của Bản cái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4CEC02F6-69A4-537D-ABA5-651457641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2CD63D8B-9665-9A56-0A12-E8FF0FE99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11A8D061-0FCE-9317-4EAA-6E26A2135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967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êu đề và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6DD37677-6F6E-0384-F280-BC93D0DBE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3945AD44-48AD-3AB1-ED8A-D055350F50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995C99C1-5AC9-3888-6320-26FB23B6B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CDCA72DE-D391-3FDA-ACA3-6EE573E37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B8CFFA1C-0C0B-F983-8FE9-BCCC93A73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003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BDE59518-1D55-B371-FB25-4A4B845B0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07639ED3-A704-C410-4C46-1A001708AF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B1241A85-3FE7-2636-A5C0-66BFBBEB4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B86D3A45-4C10-1F73-16F1-3DD9EE235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DA8744F6-43AC-C97D-DCC4-628D5CFDE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2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16C08695-C0D7-A1CE-946E-6AC7710D4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89EF6B95-A06F-BE47-A1E2-4A02E050FD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ED4C69F6-BBCE-95B4-A177-15128C0792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841B1BCD-5DF5-4991-3DC9-D4E0FC53F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E2065E37-9A90-8B50-A4B7-D4D4DEDB0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B8F1983A-0612-5FBB-7A70-0EEFAC7AA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843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2C81E0EE-F1C5-8C9E-E316-DED07E66E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282EB30A-DD97-7909-2036-29BD155D33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F0978100-8BE8-F35A-6AAB-F89F1F8AA9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5" name="Chỗ dành sẵn cho Văn bản 4">
            <a:extLst>
              <a:ext uri="{FF2B5EF4-FFF2-40B4-BE49-F238E27FC236}">
                <a16:creationId xmlns:a16="http://schemas.microsoft.com/office/drawing/2014/main" id="{827D3673-7478-DC2E-D816-B6090DC2B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6" name="Chỗ dành sẵn cho Nội dung 5">
            <a:extLst>
              <a:ext uri="{FF2B5EF4-FFF2-40B4-BE49-F238E27FC236}">
                <a16:creationId xmlns:a16="http://schemas.microsoft.com/office/drawing/2014/main" id="{2E12D4A7-3BFD-CC41-0584-3EAE95DDF1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7" name="Chỗ dành sẵn cho Ngày tháng 6">
            <a:extLst>
              <a:ext uri="{FF2B5EF4-FFF2-40B4-BE49-F238E27FC236}">
                <a16:creationId xmlns:a16="http://schemas.microsoft.com/office/drawing/2014/main" id="{0DDCBCA4-DC25-A5B1-7639-6BF02B477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8" name="Chỗ dành sẵn cho Chân trang 7">
            <a:extLst>
              <a:ext uri="{FF2B5EF4-FFF2-40B4-BE49-F238E27FC236}">
                <a16:creationId xmlns:a16="http://schemas.microsoft.com/office/drawing/2014/main" id="{CF2C9BE7-FF7E-E325-B189-AB4DACC96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Chỗ dành sẵn cho Số hiệu Bản chiếu 8">
            <a:extLst>
              <a:ext uri="{FF2B5EF4-FFF2-40B4-BE49-F238E27FC236}">
                <a16:creationId xmlns:a16="http://schemas.microsoft.com/office/drawing/2014/main" id="{D7BEB403-E2D8-B8EC-D1D9-0D1F1C161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371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B6FD3CBD-2813-8F96-DD31-4AB03BE10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gày tháng 2">
            <a:extLst>
              <a:ext uri="{FF2B5EF4-FFF2-40B4-BE49-F238E27FC236}">
                <a16:creationId xmlns:a16="http://schemas.microsoft.com/office/drawing/2014/main" id="{D5921CAC-E52E-AE98-C407-0647A2B7D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id="{36479D51-982D-4E74-7A6D-7A4A9E072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9970CD80-021C-10E8-92AE-1B65EE8BF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858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Ngày tháng 1">
            <a:extLst>
              <a:ext uri="{FF2B5EF4-FFF2-40B4-BE49-F238E27FC236}">
                <a16:creationId xmlns:a16="http://schemas.microsoft.com/office/drawing/2014/main" id="{509AA53B-D6A7-BB26-698A-CC6D3C8A8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3" name="Chỗ dành sẵn cho Chân trang 2">
            <a:extLst>
              <a:ext uri="{FF2B5EF4-FFF2-40B4-BE49-F238E27FC236}">
                <a16:creationId xmlns:a16="http://schemas.microsoft.com/office/drawing/2014/main" id="{E21DF8FE-8BBD-C314-DCEE-A62CDC667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3B18B79C-75DD-1407-D387-305A1A804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710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ội dung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58660E28-B210-0729-B6EC-8EF6474D0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2CEA2F69-BFD3-D42E-F260-99A65038C3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FF40A34D-EDF3-5891-A0A3-4993A91BFF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329596E2-1862-E50D-7629-EC9668E17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19374F86-8E17-44B0-976C-69A5616EF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06D6B729-CAAC-A6C5-9CFE-27D0BCAD5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842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̉nh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9F58DD64-BC83-EE87-04D8-CD3F6B10C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Hình ảnh 2">
            <a:extLst>
              <a:ext uri="{FF2B5EF4-FFF2-40B4-BE49-F238E27FC236}">
                <a16:creationId xmlns:a16="http://schemas.microsoft.com/office/drawing/2014/main" id="{51925A14-3639-EC6A-629F-7F6BFF0244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8F650622-51B7-3AF2-EA16-BCBD3E6A58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FF323D3C-200F-98CD-DF24-93DDC69F2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7885521D-3E1C-445C-A1B5-DA1F1B0C7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F982A607-89F7-BEF0-4784-0D40DFD54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923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êu đề và Văn bản Dọ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B4255527-00C6-DB8F-5C57-4A32F0E07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2F8A0689-2245-FEE6-97C7-C145163355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84FFA54D-6707-50FF-5219-41DA0C33F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C726568D-658F-3023-8B94-C6BEB377B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FD758BEC-5EC2-C182-8DCA-D843E654A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795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ề Dọc và Văn bả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Dọc 1">
            <a:extLst>
              <a:ext uri="{FF2B5EF4-FFF2-40B4-BE49-F238E27FC236}">
                <a16:creationId xmlns:a16="http://schemas.microsoft.com/office/drawing/2014/main" id="{886025FF-C3DF-747E-48A4-3ACDEDFB43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0EC2FA4D-9D1C-E810-DD4A-75421B8489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FB4FF88A-2FF1-00A0-766D-A36E35A07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8BD1C252-FECF-7217-D320-9E8157ED7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FA728DCC-0BBD-E469-CC1B-F2EE9B8D7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653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03727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26152509-8D0C-4712-AA81-AF54972C78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58E92B09-5AF4-4E86-A8BE-E866F0E2C017}" type="datetime1">
              <a:rPr lang="en-US" smtClean="0"/>
              <a:pPr/>
              <a:t>9/24/2025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A90DE7-FAAB-4B91-AC83-B18850F1E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FD5971E-BD21-416C-BC2E-97EE0E09A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15940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A21A061D-9F38-49ED-BAF8-8055D9FB97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2F65D4C-DEE4-4C7B-91C4-D6D57A523E98}" type="datetime1">
              <a:rPr lang="en-US" smtClean="0"/>
              <a:pPr/>
              <a:t>9/24/2025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490FAA6E-46AD-4366-8E80-2F5BEB7D5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A5604C7-0828-446E-97CC-8D6162E69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119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3:……………………………………..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pPr/>
              <a:t>9/24/2025</a:t>
            </a:fld>
            <a:endParaRPr 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1492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Tiêu đề 1">
            <a:extLst>
              <a:ext uri="{FF2B5EF4-FFF2-40B4-BE49-F238E27FC236}">
                <a16:creationId xmlns:a16="http://schemas.microsoft.com/office/drawing/2014/main" id="{7B0FD760-3672-8D0E-6CF7-9058FBB27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924DC5CA-2F07-D49E-F6D4-89248CD14B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45D82162-080E-C394-A410-AC3F8CC845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611D3658-43F3-659C-19D3-B1E39D09F9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89C44EB4-E7E6-6FC3-8CE3-99458DB095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91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2137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737FC17F-78B9-4DA3-B1E3-B6651CB174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6634" y="331380"/>
            <a:ext cx="3174367" cy="952975"/>
          </a:xfrm>
          <a:prstGeom prst="rect">
            <a:avLst/>
          </a:prstGeom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5702E00C-3125-4CD1-A5F8-64723BF48E3E}"/>
              </a:ext>
            </a:extLst>
          </p:cNvPr>
          <p:cNvSpPr txBox="1">
            <a:spLocks/>
          </p:cNvSpPr>
          <p:nvPr/>
        </p:nvSpPr>
        <p:spPr>
          <a:xfrm>
            <a:off x="386634" y="2219413"/>
            <a:ext cx="7342482" cy="8487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Applied Algorithm Lab</a:t>
            </a:r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72BF49D9-2FCE-4950-8B1C-F580CC18F4C9}"/>
              </a:ext>
            </a:extLst>
          </p:cNvPr>
          <p:cNvSpPr txBox="1">
            <a:spLocks/>
          </p:cNvSpPr>
          <p:nvPr/>
        </p:nvSpPr>
        <p:spPr>
          <a:xfrm>
            <a:off x="386634" y="3365399"/>
            <a:ext cx="7342482" cy="84879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800" dirty="0"/>
              <a:t>Bus inter-city</a:t>
            </a:r>
            <a:endParaRPr lang="en-US" sz="2800" b="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BF4829-01AB-4F75-A03B-DF4FC4C31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415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33C4F-AF1A-2697-93B2-E5FF7B071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5D648-B2DE-3E76-8409-5713FF252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Bus inter-city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90898A-B29C-1993-5E5A-81E21EE1F2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sym typeface="Arial"/>
              </a:rPr>
              <a:t>There are n city: 1, 2,…, n. </a:t>
            </a:r>
          </a:p>
          <a:p>
            <a:pPr lvl="1"/>
            <a:r>
              <a:rPr lang="en-US" dirty="0">
                <a:sym typeface="Arial"/>
              </a:rPr>
              <a:t>Between 2 cities, </a:t>
            </a:r>
            <a:r>
              <a:rPr lang="en-US" dirty="0"/>
              <a:t>there may exist a </a:t>
            </a:r>
            <a:r>
              <a:rPr lang="en-US" b="1" dirty="0"/>
              <a:t>bidirectional road</a:t>
            </a:r>
            <a:r>
              <a:rPr lang="en-US" dirty="0"/>
              <a:t> connecting them.	</a:t>
            </a:r>
          </a:p>
          <a:p>
            <a:pPr lvl="1"/>
            <a:r>
              <a:rPr lang="en-US" dirty="0"/>
              <a:t>Each city </a:t>
            </a:r>
            <a:r>
              <a:rPr lang="en-US" b="1" dirty="0"/>
              <a:t>i</a:t>
            </a:r>
            <a:r>
              <a:rPr lang="en-US" dirty="0"/>
              <a:t> has a </a:t>
            </a:r>
            <a:r>
              <a:rPr lang="en-US" b="1" dirty="0"/>
              <a:t>bus route </a:t>
            </a:r>
            <a:r>
              <a:rPr lang="en-US" b="1" dirty="0" err="1"/>
              <a:t>i</a:t>
            </a:r>
            <a:r>
              <a:rPr lang="en-US" dirty="0"/>
              <a:t> with:</a:t>
            </a:r>
          </a:p>
          <a:p>
            <a:pPr lvl="2"/>
            <a:r>
              <a:rPr lang="en-US" sz="2400" b="1" dirty="0"/>
              <a:t>C[</a:t>
            </a:r>
            <a:r>
              <a:rPr lang="en-US" sz="2400" b="1" dirty="0" err="1"/>
              <a:t>i</a:t>
            </a:r>
            <a:r>
              <a:rPr lang="en-US" sz="2400" b="1" dirty="0"/>
              <a:t>]</a:t>
            </a:r>
            <a:r>
              <a:rPr lang="en-US" sz="2400" dirty="0"/>
              <a:t>: The fare required each time a passenger boards the bus.</a:t>
            </a:r>
          </a:p>
          <a:p>
            <a:pPr lvl="2"/>
            <a:r>
              <a:rPr lang="en-US" sz="2400" b="1" dirty="0"/>
              <a:t>D[</a:t>
            </a:r>
            <a:r>
              <a:rPr lang="en-US" sz="2400" b="1" dirty="0" err="1"/>
              <a:t>i</a:t>
            </a:r>
            <a:r>
              <a:rPr lang="en-US" sz="2400" b="1" dirty="0"/>
              <a:t>]</a:t>
            </a:r>
            <a:r>
              <a:rPr lang="en-US" sz="2400" dirty="0"/>
              <a:t>: The maximum number of cities the bus can travel through in a single journey using the connected roads.</a:t>
            </a:r>
            <a:endParaRPr lang="en-US" sz="2400" dirty="0">
              <a:sym typeface="Arial"/>
            </a:endParaRPr>
          </a:p>
          <a:p>
            <a:r>
              <a:rPr lang="en-US" b="1" dirty="0">
                <a:solidFill>
                  <a:srgbClr val="C00000"/>
                </a:solidFill>
              </a:rPr>
              <a:t>Objective:</a:t>
            </a:r>
            <a:r>
              <a:rPr lang="en-US" dirty="0"/>
              <a:t> Find a path from city 1 to city n with lowest cost.</a:t>
            </a:r>
          </a:p>
          <a:p>
            <a:r>
              <a:rPr lang="en-US" sz="2800" b="1" dirty="0">
                <a:solidFill>
                  <a:srgbClr val="C00000"/>
                </a:solidFill>
                <a:sym typeface="Arial"/>
              </a:rPr>
              <a:t>Input</a:t>
            </a:r>
            <a:r>
              <a:rPr lang="en-US" b="1" dirty="0">
                <a:solidFill>
                  <a:srgbClr val="C00000"/>
                </a:solidFill>
                <a:sym typeface="Arial"/>
              </a:rPr>
              <a:t>:</a:t>
            </a:r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dirty="0"/>
              <a:t>n, m (#roads), {C(1), D(1)},..., {C(n), D(n)}, the set of roads</a:t>
            </a:r>
          </a:p>
          <a:p>
            <a:r>
              <a:rPr lang="en-US" b="1" dirty="0">
                <a:solidFill>
                  <a:srgbClr val="C00000"/>
                </a:solidFill>
              </a:rPr>
              <a:t>Output: </a:t>
            </a:r>
            <a:r>
              <a:rPr lang="en-US" dirty="0"/>
              <a:t>The minimum cost of the path</a:t>
            </a:r>
            <a:endParaRPr lang="en-US" sz="2800" dirty="0">
              <a:sym typeface="Arial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57A65A-9CC5-3D37-37AD-4C01C781A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1182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B82AF-9488-18AF-4004-64EDF1D8C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AA838-CBEC-76C8-9D6C-5EDE814A0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Bus inter-city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4194E4-27E7-ECF5-CFE0-BA47975C18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sym typeface="Arial"/>
              </a:rPr>
              <a:t>Example</a:t>
            </a:r>
            <a:endParaRPr lang="en-US" sz="2800" dirty="0">
              <a:sym typeface="Arial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499201-175F-6D9E-A90D-9B761E593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02861E1-676F-7FB5-5B7A-A75EE0B22A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8302" y="1375062"/>
            <a:ext cx="7772400" cy="4450428"/>
          </a:xfrm>
          <a:prstGeom prst="rect">
            <a:avLst/>
          </a:prstGeom>
        </p:spPr>
      </p:pic>
      <p:pic>
        <p:nvPicPr>
          <p:cNvPr id="7" name="Picture 6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43408458-6C79-BCB4-69EE-8AE9FD192F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6455" y="4260374"/>
            <a:ext cx="3920137" cy="13144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667779A-09A6-0602-A029-1C959FB9318A}"/>
              </a:ext>
            </a:extLst>
          </p:cNvPr>
          <p:cNvSpPr txBox="1"/>
          <p:nvPr/>
        </p:nvSpPr>
        <p:spPr>
          <a:xfrm>
            <a:off x="5997352" y="4097496"/>
            <a:ext cx="406140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dirty="0"/>
              <a:t>Explain: the path found from city 1 to city 6 with mimimum cost is</a:t>
            </a:r>
          </a:p>
          <a:p>
            <a:r>
              <a:rPr lang="en-VN" dirty="0"/>
              <a:t>On bus from city 1 -&gt; city 4 cost $10</a:t>
            </a:r>
          </a:p>
          <a:p>
            <a:r>
              <a:rPr lang="en-VN" dirty="0"/>
              <a:t>On bus from city 4</a:t>
            </a:r>
            <a:r>
              <a:rPr lang="en-VN" dirty="0">
                <a:sym typeface="Wingdings" pitchFamily="2" charset="2"/>
              </a:rPr>
              <a:t> -&gt; city 6 cost $20</a:t>
            </a:r>
          </a:p>
          <a:p>
            <a:r>
              <a:rPr lang="en-VN" dirty="0">
                <a:sym typeface="Wingdings" pitchFamily="2" charset="2"/>
              </a:rPr>
              <a:t>Total cost: $10 + $20 = $30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18469277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FB896-0F50-D0BB-E43C-D234B3F86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45E4E-59E1-79A2-F633-A7CC6F628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Bus </a:t>
            </a:r>
            <a:r>
              <a:rPr lang="en-US" dirty="0"/>
              <a:t>inter-city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EC362CF6-8966-8B96-62E6-AE54AB0C974D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en-US" dirty="0">
                    <a:sym typeface="Arial"/>
                  </a:rPr>
                  <a:t>Idea to solve: Use Dijkstra algorithm on a new cost graph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dirty="0"/>
                  <a:t>Build </a:t>
                </a:r>
                <a:r>
                  <a:rPr lang="en-US" b="1" dirty="0"/>
                  <a:t>cost graph</a:t>
                </a:r>
                <a:r>
                  <a:rPr lang="en-US" dirty="0"/>
                  <a:t>: A graph with same node set but edge (</a:t>
                </a:r>
                <a:r>
                  <a:rPr lang="en-US" dirty="0" err="1"/>
                  <a:t>u,v</a:t>
                </a:r>
                <a:r>
                  <a:rPr lang="en-US" dirty="0"/>
                  <a:t>) means we can go on bus from u to go to v, cost c(</a:t>
                </a:r>
                <a:r>
                  <a:rPr lang="en-US" dirty="0" err="1"/>
                  <a:t>u,v</a:t>
                </a:r>
                <a:r>
                  <a:rPr lang="en-US" dirty="0"/>
                  <a:t>) = C[u], </a:t>
                </a:r>
                <a:r>
                  <a:rPr lang="en-US" dirty="0">
                    <a:sym typeface="Arial"/>
                  </a:rPr>
                  <a:t>dist[u][v] </a:t>
                </a:r>
                <a14:m>
                  <m:oMath xmlns:m="http://schemas.openxmlformats.org/officeDocument/2006/math">
                    <m:r>
                      <a:rPr lang="en-US" dirty="0">
                        <a:latin typeface="Cambria Math" panose="02040503050406030204" pitchFamily="18" charset="0"/>
                        <a:sym typeface="Arial"/>
                      </a:rPr>
                      <m:t>≤</m:t>
                    </m:r>
                  </m:oMath>
                </a14:m>
                <a:r>
                  <a:rPr lang="en-US" dirty="0">
                    <a:sym typeface="Arial"/>
                  </a:rPr>
                  <a:t> D[u]</a:t>
                </a:r>
              </a:p>
              <a:p>
                <a:pPr lvl="2"/>
                <a:r>
                  <a:rPr lang="en-US" sz="2400" dirty="0">
                    <a:sym typeface="Arial"/>
                  </a:rPr>
                  <a:t>Use BFS(u) with a depth limitation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vi-VN" dirty="0"/>
                  <a:t>Run Dijkstra from node 1 to find min cost path to </a:t>
                </a:r>
                <a:r>
                  <a:rPr lang="vi-VN"/>
                  <a:t>city n</a:t>
                </a:r>
                <a:endParaRPr lang="en-US" dirty="0">
                  <a:sym typeface="Arial"/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EC362CF6-8966-8B96-62E6-AE54AB0C97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l="-881" t="-2308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8505B1-0F29-A4A9-D42D-FB7B627CF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9582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5945A2BB-ABB6-48FB-A491-502474D93E34}"/>
              </a:ext>
            </a:extLst>
          </p:cNvPr>
          <p:cNvSpPr txBox="1">
            <a:spLocks/>
          </p:cNvSpPr>
          <p:nvPr/>
        </p:nvSpPr>
        <p:spPr>
          <a:xfrm>
            <a:off x="5605763" y="2869457"/>
            <a:ext cx="5422456" cy="97130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6000" dirty="0"/>
              <a:t>THANK YOU 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55FE58-BA70-418C-863F-55066B667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395177"/>
      </p:ext>
    </p:extLst>
  </p:cSld>
  <p:clrMapOvr>
    <a:masterClrMapping/>
  </p:clrMapOvr>
</p:sld>
</file>

<file path=ppt/theme/theme1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43852BD84EE2440ABC538C71FD5CABC" ma:contentTypeVersion="0" ma:contentTypeDescription="Create a new document." ma:contentTypeScope="" ma:versionID="205c4a5d51e14dcf1717a67a352bff4d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b764bea3eb9b1a5be8fd57fac5fb459b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8CFE418-0E8E-40B9-828F-AFAD1017D260}"/>
</file>

<file path=customXml/itemProps2.xml><?xml version="1.0" encoding="utf-8"?>
<ds:datastoreItem xmlns:ds="http://schemas.openxmlformats.org/officeDocument/2006/customXml" ds:itemID="{60A10C7C-A4E0-4F91-A1C9-5F28B9E90EEA}"/>
</file>

<file path=customXml/itemProps3.xml><?xml version="1.0" encoding="utf-8"?>
<ds:datastoreItem xmlns:ds="http://schemas.openxmlformats.org/officeDocument/2006/customXml" ds:itemID="{CECAFB6F-1774-47CC-BA50-112C7E85F4DD}"/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281</Words>
  <Application>Microsoft Office PowerPoint</Application>
  <PresentationFormat>Màn hình rộng</PresentationFormat>
  <Paragraphs>28</Paragraphs>
  <Slides>6</Slides>
  <Notes>0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7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6</vt:i4>
      </vt:variant>
    </vt:vector>
  </HeadingPairs>
  <TitlesOfParts>
    <vt:vector size="14" baseType="lpstr">
      <vt:lpstr>Aptos</vt:lpstr>
      <vt:lpstr>Aptos Display</vt:lpstr>
      <vt:lpstr>Arial</vt:lpstr>
      <vt:lpstr>Cambria Math</vt:lpstr>
      <vt:lpstr>Lato</vt:lpstr>
      <vt:lpstr>Times New Roman</vt:lpstr>
      <vt:lpstr>Wingdings</vt:lpstr>
      <vt:lpstr>Chủ đề Office</vt:lpstr>
      <vt:lpstr>Bản trình bày PowerPoint</vt:lpstr>
      <vt:lpstr>Bản trình bày PowerPoint</vt:lpstr>
      <vt:lpstr>Bus inter-city</vt:lpstr>
      <vt:lpstr>Bus inter-city</vt:lpstr>
      <vt:lpstr>Bus inter-city</vt:lpstr>
      <vt:lpstr>Bản trình bày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Tran Duc Duy</dc:creator>
  <cp:lastModifiedBy>Tran Duc Duy</cp:lastModifiedBy>
  <cp:revision>8</cp:revision>
  <dcterms:created xsi:type="dcterms:W3CDTF">2025-09-24T15:02:19Z</dcterms:created>
  <dcterms:modified xsi:type="dcterms:W3CDTF">2025-09-24T15:16:24Z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0x010100F43852BD84EE2440ABC538C71FD5CABC</vt:lpwstr>
  </property>
</Properties>
</file>