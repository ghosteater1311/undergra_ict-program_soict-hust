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57" r:id="rId3"/>
    <p:sldId id="315" r:id="rId4"/>
    <p:sldId id="316" r:id="rId5"/>
    <p:sldId id="317" r:id="rId6"/>
    <p:sldId id="318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42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Make span schedule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8C4B-2ED4-55ED-863A-E362A271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B7C2E-8F68-E991-504B-DCAD768D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span schedule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09FD5-1F76-32C6-38CF-B26B7E3628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Make a schedule for a project with many tasks.</a:t>
            </a:r>
          </a:p>
          <a:p>
            <a:r>
              <a:rPr lang="en-US" dirty="0"/>
              <a:t>A project has n tasks 1,..., n:</a:t>
            </a:r>
          </a:p>
          <a:p>
            <a:pPr lvl="1"/>
            <a:r>
              <a:rPr lang="en-US" dirty="0"/>
              <a:t>Task </a:t>
            </a:r>
            <a:r>
              <a:rPr lang="en-US" dirty="0" err="1"/>
              <a:t>i</a:t>
            </a:r>
            <a:r>
              <a:rPr lang="en-US" dirty="0"/>
              <a:t> has duration d(</a:t>
            </a:r>
            <a:r>
              <a:rPr lang="en-US" dirty="0" err="1"/>
              <a:t>i</a:t>
            </a:r>
            <a:r>
              <a:rPr lang="en-US" dirty="0"/>
              <a:t>) to be completed</a:t>
            </a:r>
          </a:p>
          <a:p>
            <a:pPr lvl="1"/>
            <a:r>
              <a:rPr lang="en-US" dirty="0"/>
              <a:t>Precedence constraints Q: for each (</a:t>
            </a:r>
            <a:r>
              <a:rPr lang="en-US" dirty="0" err="1"/>
              <a:t>i,j</a:t>
            </a:r>
            <a:r>
              <a:rPr lang="en-US" dirty="0"/>
              <a:t>) in Q, task j cannot be started before the completion of task </a:t>
            </a:r>
            <a:r>
              <a:rPr lang="en-US" dirty="0" err="1"/>
              <a:t>i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rgbClr val="C00000"/>
                </a:solidFill>
              </a:rPr>
              <a:t>Objective:</a:t>
            </a:r>
            <a:r>
              <a:rPr lang="en-US" dirty="0"/>
              <a:t> Arrange task the project to complete as soon as possible.</a:t>
            </a:r>
          </a:p>
          <a:p>
            <a:r>
              <a:rPr lang="en-US" sz="2800" b="1" dirty="0">
                <a:solidFill>
                  <a:srgbClr val="C00000"/>
                </a:solidFill>
                <a:sym typeface="Arial"/>
              </a:rPr>
              <a:t>Input</a:t>
            </a:r>
            <a:r>
              <a:rPr lang="en-US" b="1" dirty="0">
                <a:solidFill>
                  <a:srgbClr val="C00000"/>
                </a:solidFill>
                <a:sym typeface="Arial"/>
              </a:rPr>
              <a:t>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n, |Q|, d(1),..., d(n), the set Q</a:t>
            </a:r>
          </a:p>
          <a:p>
            <a:r>
              <a:rPr lang="en-US" b="1" dirty="0">
                <a:solidFill>
                  <a:srgbClr val="C00000"/>
                </a:solidFill>
              </a:rPr>
              <a:t>Output: </a:t>
            </a:r>
            <a:r>
              <a:rPr lang="en-US" dirty="0"/>
              <a:t>The earliest completion time of the project.</a:t>
            </a:r>
          </a:p>
          <a:p>
            <a:endParaRPr lang="en-US" sz="2800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B7FD-EC9E-C4AD-47EA-A8F6F3DE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9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BDA1-F42E-16AA-8CA6-0E2C0230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2D93-261D-DA70-628C-DACEA85F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span schedule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95480-D843-C858-786C-D27B481DE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BE263-55E3-D912-2FB5-884349E1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85A817-3306-C2DD-F2EF-E1112A114DB4}"/>
              </a:ext>
            </a:extLst>
          </p:cNvPr>
          <p:cNvGraphicFramePr>
            <a:graphicFrameLocks noGrp="1"/>
          </p:cNvGraphicFramePr>
          <p:nvPr/>
        </p:nvGraphicFramePr>
        <p:xfrm>
          <a:off x="2507390" y="1205740"/>
          <a:ext cx="812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1065">
                  <a:extLst>
                    <a:ext uri="{9D8B030D-6E8A-4147-A177-3AD203B41FA5}">
                      <a16:colId xmlns:a16="http://schemas.microsoft.com/office/drawing/2014/main" val="3734771439"/>
                    </a:ext>
                  </a:extLst>
                </a:gridCol>
                <a:gridCol w="2956935">
                  <a:extLst>
                    <a:ext uri="{9D8B030D-6E8A-4147-A177-3AD203B41FA5}">
                      <a16:colId xmlns:a16="http://schemas.microsoft.com/office/drawing/2014/main" val="4279237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740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8 9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15 30 80 45 4 15 15 19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1 2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2 4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3 4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4 5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2 6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3 6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5 7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6 7</a:t>
                      </a:r>
                    </a:p>
                    <a:p>
                      <a:pPr marL="0" indent="0">
                        <a:buNone/>
                      </a:pPr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5 8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VN" sz="2400" dirty="0">
                          <a:solidFill>
                            <a:schemeClr val="tx1"/>
                          </a:solidFill>
                        </a:rPr>
                        <a:t>148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794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42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D830-8144-7483-EBEE-6C357AFD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6EDD-B5F0-F1EB-F514-3DEDD178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span schedule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6446C6-AD74-DE0D-E682-1D31E8D0DC6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963999" cy="4938713"/>
              </a:xfrm>
            </p:spPr>
            <p:txBody>
              <a:bodyPr/>
              <a:lstStyle/>
              <a:p>
                <a:r>
                  <a:rPr lang="en-US" sz="2800" dirty="0">
                    <a:sym typeface="Arial"/>
                  </a:rPr>
                  <a:t>Idea to solve: Formulate the problem </a:t>
                </a:r>
                <a:r>
                  <a:rPr lang="en-US" dirty="0">
                    <a:sym typeface="Arial"/>
                  </a:rPr>
                  <a:t>using directed graph</a:t>
                </a:r>
                <a:endParaRPr lang="en-US" sz="2800" dirty="0">
                  <a:sym typeface="Arial"/>
                </a:endParaRPr>
              </a:p>
              <a:p>
                <a:pPr lvl="1"/>
                <a:r>
                  <a:rPr lang="en-US" dirty="0">
                    <a:sym typeface="Arial"/>
                  </a:rPr>
                  <a:t>A graph with n nodes as n tasks</a:t>
                </a:r>
              </a:p>
              <a:p>
                <a:pPr lvl="1"/>
                <a:r>
                  <a:rPr lang="en-US" dirty="0">
                    <a:sym typeface="Arial"/>
                  </a:rPr>
                  <a:t>If (</a:t>
                </a:r>
                <a:r>
                  <a:rPr lang="en-US" dirty="0" err="1">
                    <a:sym typeface="Arial"/>
                  </a:rPr>
                  <a:t>i,j</a:t>
                </a:r>
                <a:r>
                  <a:rPr lang="en-US" dirty="0">
                    <a:sym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</m:oMath>
                </a14:m>
                <a:r>
                  <a:rPr lang="en-US" dirty="0">
                    <a:sym typeface="Arial"/>
                  </a:rPr>
                  <a:t> Q, we draw an edge (</a:t>
                </a:r>
                <a:r>
                  <a:rPr lang="en-US" dirty="0" err="1">
                    <a:sym typeface="Arial"/>
                  </a:rPr>
                  <a:t>i</a:t>
                </a:r>
                <a:r>
                  <a:rPr lang="en-US" dirty="0">
                    <a:sym typeface="Arial"/>
                  </a:rPr>
                  <a:t>, j) on graph</a:t>
                </a:r>
              </a:p>
              <a:p>
                <a:pPr lvl="2"/>
                <a:r>
                  <a:rPr lang="en-US" dirty="0">
                    <a:sym typeface="Arial"/>
                  </a:rPr>
                  <a:t>weight of edge (</a:t>
                </a:r>
                <a:r>
                  <a:rPr lang="en-US" dirty="0" err="1">
                    <a:sym typeface="Arial"/>
                  </a:rPr>
                  <a:t>i,j</a:t>
                </a:r>
                <a:r>
                  <a:rPr lang="en-US" dirty="0">
                    <a:sym typeface="Arial"/>
                  </a:rPr>
                  <a:t>) is t[</a:t>
                </a:r>
                <a:r>
                  <a:rPr lang="en-US" dirty="0" err="1">
                    <a:sym typeface="Arial"/>
                  </a:rPr>
                  <a:t>i</a:t>
                </a:r>
                <a:r>
                  <a:rPr lang="en-US" dirty="0">
                    <a:sym typeface="Arial"/>
                  </a:rPr>
                  <a:t>]</a:t>
                </a:r>
              </a:p>
              <a:p>
                <a:pPr lvl="1"/>
                <a:r>
                  <a:rPr lang="en-US" dirty="0">
                    <a:sym typeface="Arial"/>
                  </a:rPr>
                  <a:t>The node having in-degree 0 : we can perform the corresponding task since t = 0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6446C6-AD74-DE0D-E682-1D31E8D0DC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7539" y="1032510"/>
                <a:ext cx="11963999" cy="4938713"/>
              </a:xfrm>
              <a:blipFill>
                <a:blip r:embed="rId2"/>
                <a:stretch>
                  <a:fillRect l="-848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11490-E9F8-0C84-F785-B83DBBCD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1FC0AF-4077-267D-464F-E240B273B6D1}"/>
              </a:ext>
            </a:extLst>
          </p:cNvPr>
          <p:cNvGrpSpPr/>
          <p:nvPr/>
        </p:nvGrpSpPr>
        <p:grpSpPr>
          <a:xfrm>
            <a:off x="1104835" y="3812223"/>
            <a:ext cx="9981132" cy="2159000"/>
            <a:chOff x="1140244" y="2993549"/>
            <a:chExt cx="9981132" cy="2159000"/>
          </a:xfrm>
        </p:grpSpPr>
        <p:pic>
          <p:nvPicPr>
            <p:cNvPr id="8" name="Picture 7" descr="A diagram of a triangle with green circles and black text&#10;&#10;AI-generated content may be incorrect.">
              <a:extLst>
                <a:ext uri="{FF2B5EF4-FFF2-40B4-BE49-F238E27FC236}">
                  <a16:creationId xmlns:a16="http://schemas.microsoft.com/office/drawing/2014/main" id="{D387F03B-E0F4-239B-720D-B259F96F0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0001" y="2993549"/>
              <a:ext cx="7670800" cy="2159000"/>
            </a:xfrm>
            <a:prstGeom prst="rect">
              <a:avLst/>
            </a:prstGeom>
          </p:spPr>
        </p:pic>
        <p:pic>
          <p:nvPicPr>
            <p:cNvPr id="9" name="Picture 8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4478EC90-A86B-61E1-5D1A-82E526D79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157839">
              <a:off x="1281142" y="3712084"/>
              <a:ext cx="2832100" cy="984609"/>
            </a:xfrm>
            <a:prstGeom prst="rect">
              <a:avLst/>
            </a:prstGeom>
          </p:spPr>
        </p:pic>
        <p:pic>
          <p:nvPicPr>
            <p:cNvPr id="10" name="Picture 9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BDFCF8A9-F794-54B2-9DA5-BD7900B3F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4895">
              <a:off x="1140244" y="3580744"/>
              <a:ext cx="2832100" cy="984609"/>
            </a:xfrm>
            <a:prstGeom prst="rect">
              <a:avLst/>
            </a:prstGeom>
          </p:spPr>
        </p:pic>
        <p:pic>
          <p:nvPicPr>
            <p:cNvPr id="11" name="Picture 10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C430E952-FCD9-2A86-3245-0A44D707C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66242">
              <a:off x="8289276" y="3257052"/>
              <a:ext cx="2832100" cy="984609"/>
            </a:xfrm>
            <a:prstGeom prst="rect">
              <a:avLst/>
            </a:prstGeom>
          </p:spPr>
        </p:pic>
        <p:pic>
          <p:nvPicPr>
            <p:cNvPr id="12" name="Picture 11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6C9443C0-A770-48E3-7C99-16BA14578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14499">
              <a:off x="8174736" y="3416755"/>
              <a:ext cx="2832100" cy="984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61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9C9A5-BFF1-4F2B-6644-EB3B0377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F7B8-5E0E-BE8F-FEBE-34906B3C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Make </a:t>
            </a:r>
            <a:r>
              <a:rPr lang="en-US" dirty="0"/>
              <a:t>span schedule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86EFC-ABBE-44BF-7DAB-C3D4BB0DC4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Idea to solve: </a:t>
            </a:r>
            <a:r>
              <a:rPr lang="en-VN" sz="2800" dirty="0">
                <a:sym typeface="Arial"/>
              </a:rPr>
              <a:t>BFS</a:t>
            </a:r>
          </a:p>
          <a:p>
            <a:pPr lvl="1"/>
            <a:r>
              <a:rPr lang="en-US" dirty="0">
                <a:sym typeface="Arial"/>
              </a:rPr>
              <a:t>The node having in-degree 0 </a:t>
            </a:r>
            <a:r>
              <a:rPr lang="en-VN" dirty="0">
                <a:sym typeface="Arial"/>
              </a:rPr>
              <a:t>-&gt; not affected by any other, but may affect some other nodes</a:t>
            </a:r>
          </a:p>
          <a:p>
            <a:pPr lvl="1"/>
            <a:r>
              <a:rPr lang="en-VN" dirty="0">
                <a:sym typeface="Arial"/>
              </a:rPr>
              <a:t>We use BFS to traverse, from a node y </a:t>
            </a:r>
            <a:r>
              <a:rPr lang="en-US" dirty="0">
                <a:sym typeface="Arial"/>
              </a:rPr>
              <a:t>having in-degree </a:t>
            </a:r>
            <a:r>
              <a:rPr lang="en-VN" dirty="0">
                <a:sym typeface="Arial"/>
              </a:rPr>
              <a:t>0</a:t>
            </a:r>
          </a:p>
          <a:p>
            <a:pPr lvl="2"/>
            <a:r>
              <a:rPr lang="en-VN" dirty="0">
                <a:sym typeface="Arial"/>
              </a:rPr>
              <a:t>Use auxiliary variable dist[x]: the first starting time of x</a:t>
            </a:r>
          </a:p>
          <a:p>
            <a:pPr lvl="1"/>
            <a:r>
              <a:rPr lang="en-VN" dirty="0">
                <a:sym typeface="Arial"/>
              </a:rPr>
              <a:t>After BFS all node: </a:t>
            </a:r>
            <a:r>
              <a:rPr lang="vi-VN" dirty="0">
                <a:sym typeface="Arial"/>
              </a:rPr>
              <a:t>retrieve the node with maximal dist[]</a:t>
            </a:r>
            <a:endParaRPr lang="en-US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95229-28CC-DA02-A619-F9F8B3F37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1C8B2C-7EE1-F058-BE48-E91B32EBCBD9}"/>
              </a:ext>
            </a:extLst>
          </p:cNvPr>
          <p:cNvGrpSpPr/>
          <p:nvPr/>
        </p:nvGrpSpPr>
        <p:grpSpPr>
          <a:xfrm>
            <a:off x="447610" y="3501866"/>
            <a:ext cx="10794876" cy="2770347"/>
            <a:chOff x="1140244" y="2993549"/>
            <a:chExt cx="9981132" cy="2159000"/>
          </a:xfrm>
        </p:grpSpPr>
        <p:pic>
          <p:nvPicPr>
            <p:cNvPr id="5" name="Picture 4" descr="A diagram of a triangle with green circles and black text&#10;&#10;AI-generated content may be incorrect.">
              <a:extLst>
                <a:ext uri="{FF2B5EF4-FFF2-40B4-BE49-F238E27FC236}">
                  <a16:creationId xmlns:a16="http://schemas.microsoft.com/office/drawing/2014/main" id="{5409CA8C-51AA-AFD8-1C42-898509A4C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0001" y="2993549"/>
              <a:ext cx="7670800" cy="2159000"/>
            </a:xfrm>
            <a:prstGeom prst="rect">
              <a:avLst/>
            </a:prstGeom>
          </p:spPr>
        </p:pic>
        <p:pic>
          <p:nvPicPr>
            <p:cNvPr id="7" name="Picture 6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FB25336B-F85B-F857-5C4F-565ABB4DA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157839">
              <a:off x="1281142" y="3712084"/>
              <a:ext cx="2832100" cy="984609"/>
            </a:xfrm>
            <a:prstGeom prst="rect">
              <a:avLst/>
            </a:prstGeom>
          </p:spPr>
        </p:pic>
        <p:pic>
          <p:nvPicPr>
            <p:cNvPr id="8" name="Picture 7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8B99A5A9-4551-8D6A-B392-8CA13DA23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4895">
              <a:off x="1140244" y="3580744"/>
              <a:ext cx="2832100" cy="984609"/>
            </a:xfrm>
            <a:prstGeom prst="rect">
              <a:avLst/>
            </a:prstGeom>
          </p:spPr>
        </p:pic>
        <p:pic>
          <p:nvPicPr>
            <p:cNvPr id="9" name="Picture 8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2EF6B133-E572-F201-B426-884AE6FA8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66242">
              <a:off x="8289276" y="3257052"/>
              <a:ext cx="2832100" cy="984609"/>
            </a:xfrm>
            <a:prstGeom prst="rect">
              <a:avLst/>
            </a:prstGeom>
          </p:spPr>
        </p:pic>
        <p:pic>
          <p:nvPicPr>
            <p:cNvPr id="10" name="Picture 9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13480402-BB54-76CA-AAB7-7C153D4A6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414499">
              <a:off x="8174736" y="3416755"/>
              <a:ext cx="2832100" cy="984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8088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70677C-29DC-4200-BE2B-6F17CB761CB7}"/>
</file>

<file path=customXml/itemProps2.xml><?xml version="1.0" encoding="utf-8"?>
<ds:datastoreItem xmlns:ds="http://schemas.openxmlformats.org/officeDocument/2006/customXml" ds:itemID="{7D25E33F-847A-4177-921F-D5974A04D4B5}"/>
</file>

<file path=customXml/itemProps3.xml><?xml version="1.0" encoding="utf-8"?>
<ds:datastoreItem xmlns:ds="http://schemas.openxmlformats.org/officeDocument/2006/customXml" ds:itemID="{6B686EF5-E4B4-43DB-9D7E-4ADFC8D635B8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284</Words>
  <Application>Microsoft Office PowerPoint</Application>
  <PresentationFormat>Màn hình rộng</PresentationFormat>
  <Paragraphs>45</Paragraphs>
  <Slides>7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Make span schedule</vt:lpstr>
      <vt:lpstr>Make span schedule</vt:lpstr>
      <vt:lpstr>Make span schedule</vt:lpstr>
      <vt:lpstr>Make span schedule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7</cp:revision>
  <dcterms:created xsi:type="dcterms:W3CDTF">2025-09-24T15:02:19Z</dcterms:created>
  <dcterms:modified xsi:type="dcterms:W3CDTF">2025-09-24T15:15:26Z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