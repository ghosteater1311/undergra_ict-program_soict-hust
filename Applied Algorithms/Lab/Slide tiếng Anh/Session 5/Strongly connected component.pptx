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57" r:id="rId3"/>
    <p:sldId id="312" r:id="rId4"/>
    <p:sldId id="295" r:id="rId5"/>
    <p:sldId id="31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12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1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Strongly connected component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9B201-52F3-AC81-64D8-73E9C683A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68B5E-4B67-5480-E0DE-0A50C63F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Strongly connected component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1DC34-19F9-380D-E48B-097047172F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Count #s</a:t>
            </a:r>
            <a:r>
              <a:rPr lang="en-US" dirty="0"/>
              <a:t>trongly connected components in a directed graph</a:t>
            </a:r>
            <a:endParaRPr lang="en-US" sz="2800" dirty="0">
              <a:sym typeface="Arial"/>
            </a:endParaRPr>
          </a:p>
          <a:p>
            <a:pPr lvl="1"/>
            <a:r>
              <a:rPr lang="en-US" dirty="0">
                <a:sym typeface="Arial"/>
              </a:rPr>
              <a:t>Definition: A subset with maximal number of vertices that between 2 arbitrary vertices, there exists a path from a vertex to the other and vice versa.</a:t>
            </a:r>
          </a:p>
          <a:p>
            <a:pPr marL="457200" lvl="1" indent="0">
              <a:buNone/>
            </a:pPr>
            <a:r>
              <a:rPr lang="en-US" dirty="0"/>
              <a:t>Thành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con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2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kia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</a:t>
            </a:r>
            <a:endParaRPr lang="en-US" dirty="0">
              <a:sym typeface="Arial"/>
            </a:endParaRPr>
          </a:p>
          <a:p>
            <a:r>
              <a:rPr lang="en-US" b="1" dirty="0">
                <a:solidFill>
                  <a:srgbClr val="C00000"/>
                </a:solidFill>
                <a:sym typeface="Arial"/>
              </a:rPr>
              <a:t>Input: </a:t>
            </a:r>
            <a:r>
              <a:rPr lang="en-US" dirty="0">
                <a:sym typeface="Arial"/>
              </a:rPr>
              <a:t>Edge list</a:t>
            </a:r>
          </a:p>
          <a:p>
            <a:pPr lvl="1"/>
            <a:r>
              <a:rPr lang="en-US" dirty="0">
                <a:sym typeface="Arial"/>
              </a:rPr>
              <a:t>Line 1 contains N, M</a:t>
            </a:r>
          </a:p>
          <a:p>
            <a:pPr lvl="1"/>
            <a:r>
              <a:rPr lang="en-US" dirty="0">
                <a:sym typeface="Arial"/>
              </a:rPr>
              <a:t>M lines follow, containing a pair of 2 integers a, b which is an undirected edge from a to b.</a:t>
            </a:r>
          </a:p>
          <a:p>
            <a:r>
              <a:rPr lang="en-US" b="1" dirty="0">
                <a:solidFill>
                  <a:srgbClr val="C00000"/>
                </a:solidFill>
                <a:sym typeface="Arial"/>
              </a:rPr>
              <a:t>Output:</a:t>
            </a:r>
            <a:endParaRPr lang="en-US" sz="2400" b="1" dirty="0">
              <a:solidFill>
                <a:srgbClr val="C00000"/>
              </a:solidFill>
              <a:sym typeface="Arial"/>
            </a:endParaRPr>
          </a:p>
          <a:p>
            <a:pPr lvl="1"/>
            <a:r>
              <a:rPr lang="en-US" dirty="0">
                <a:sym typeface="Arial"/>
              </a:rPr>
              <a:t>Number of strongly connected components.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BFAD4-37C6-743B-54CF-CA64CA6F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7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5FBAA-1389-F2A8-5594-894AB3D4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0897F6-F8C4-B318-26E0-D38D4D6A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Strongly Connected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AB41B-8962-09C4-A08F-8FE9B4A6B3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</p:spPr>
        <p:txBody>
          <a:bodyPr/>
          <a:lstStyle/>
          <a:p>
            <a:r>
              <a:rPr lang="en-US" sz="2400" dirty="0"/>
              <a:t>BFS and DFS can find all connected component in undirected graph.</a:t>
            </a:r>
          </a:p>
          <a:p>
            <a:r>
              <a:rPr lang="en-US" sz="2400" dirty="0"/>
              <a:t>However, in directed graph, finding all strongly connected components is not trivial.</a:t>
            </a:r>
          </a:p>
          <a:p>
            <a:r>
              <a:rPr lang="en-US" sz="2400" dirty="0"/>
              <a:t>Can we use DFS tree to find all strongly connected components ?</a:t>
            </a:r>
          </a:p>
        </p:txBody>
      </p:sp>
      <p:pic>
        <p:nvPicPr>
          <p:cNvPr id="6" name="Picture 5" descr="A diagram of a complex connection&#10;&#10;Description automatically generated with medium confidence">
            <a:extLst>
              <a:ext uri="{FF2B5EF4-FFF2-40B4-BE49-F238E27FC236}">
                <a16:creationId xmlns:a16="http://schemas.microsoft.com/office/drawing/2014/main" id="{4714A7E9-6845-BDB5-6DE5-E4244B96F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216" y="3183058"/>
            <a:ext cx="5883613" cy="278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8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7B6F1-61A3-D6DD-3814-2254B2E2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D5A8-5E51-CF1A-0C21-49ABB7F8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Strongly </a:t>
            </a:r>
            <a:r>
              <a:rPr lang="en-US" dirty="0"/>
              <a:t>connected component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1619E-8B00-BF0D-1DBE-D44174EA65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Idea to solve: DFS on residual graph. Algorithm:</a:t>
            </a:r>
          </a:p>
          <a:p>
            <a:pPr lvl="1"/>
            <a:r>
              <a:rPr lang="en-US" dirty="0"/>
              <a:t>Run DFS on G -&gt; compute the finishing time f(v) of each node v of G</a:t>
            </a:r>
          </a:p>
          <a:p>
            <a:pPr lvl="1"/>
            <a:r>
              <a:rPr lang="en-US" dirty="0"/>
              <a:t>Build residual graph G</a:t>
            </a:r>
            <a:r>
              <a:rPr lang="en-US" baseline="30000" dirty="0"/>
              <a:t>T</a:t>
            </a:r>
            <a:r>
              <a:rPr lang="en-US" dirty="0"/>
              <a:t> of G: reverse direction of all edges</a:t>
            </a:r>
          </a:p>
          <a:p>
            <a:pPr lvl="1"/>
            <a:r>
              <a:rPr lang="en-US" dirty="0"/>
              <a:t>Run DFS on G</a:t>
            </a:r>
            <a:r>
              <a:rPr lang="en-US" baseline="30000" dirty="0"/>
              <a:t>T</a:t>
            </a:r>
            <a:r>
              <a:rPr lang="en-US" dirty="0"/>
              <a:t>: </a:t>
            </a:r>
          </a:p>
          <a:p>
            <a:pPr lvl="2"/>
            <a:r>
              <a:rPr lang="en-US" sz="2400" dirty="0"/>
              <a:t>the nodes are considered in a decreasing order of finishing time f:</a:t>
            </a:r>
          </a:p>
          <a:p>
            <a:pPr lvl="2"/>
            <a:r>
              <a:rPr lang="en-US" sz="2400" dirty="0"/>
              <a:t>Each run DFS(u) will visit all nodes of the strongly connected component containing u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Number of connected components on G = number of times call DFS on residual graph of 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68AA7-9892-9816-64AC-D5BAC602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58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6212D0-6A8B-4B27-85D1-C6B388A47316}"/>
</file>

<file path=customXml/itemProps2.xml><?xml version="1.0" encoding="utf-8"?>
<ds:datastoreItem xmlns:ds="http://schemas.openxmlformats.org/officeDocument/2006/customXml" ds:itemID="{B10206DD-FD0D-4857-8612-C4A5D1C7502E}"/>
</file>

<file path=customXml/itemProps3.xml><?xml version="1.0" encoding="utf-8"?>
<ds:datastoreItem xmlns:ds="http://schemas.openxmlformats.org/officeDocument/2006/customXml" ds:itemID="{CA9095EE-3432-42ED-B341-2A4A8655EE30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269</Words>
  <Application>Microsoft Office PowerPoint</Application>
  <PresentationFormat>Màn hình rộng</PresentationFormat>
  <Paragraphs>29</Paragraphs>
  <Slides>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Lato</vt:lpstr>
      <vt:lpstr>Times New Roman</vt:lpstr>
      <vt:lpstr>Chủ đề Office</vt:lpstr>
      <vt:lpstr>Bản trình bày PowerPoint</vt:lpstr>
      <vt:lpstr>Bản trình bày PowerPoint</vt:lpstr>
      <vt:lpstr>Strongly connected component</vt:lpstr>
      <vt:lpstr>Strongly Connected Components</vt:lpstr>
      <vt:lpstr>Strongly connected component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6</cp:revision>
  <dcterms:created xsi:type="dcterms:W3CDTF">2025-09-24T15:02:19Z</dcterms:created>
  <dcterms:modified xsi:type="dcterms:W3CDTF">2025-09-24T15:14:31Z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