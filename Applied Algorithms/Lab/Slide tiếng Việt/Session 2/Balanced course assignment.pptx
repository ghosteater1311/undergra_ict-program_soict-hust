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68" r:id="rId4"/>
    <p:sldId id="269" r:id="rId5"/>
    <p:sldId id="27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863" autoAdjust="0"/>
    <p:restoredTop sz="94660"/>
  </p:normalViewPr>
  <p:slideViewPr>
    <p:cSldViewPr snapToGrid="0">
      <p:cViewPr varScale="1">
        <p:scale>
          <a:sx n="30" d="100"/>
          <a:sy n="30" d="100"/>
        </p:scale>
        <p:origin x="208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77765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Balanced course assignment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88472-76DB-0B84-7522-F565FC6B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19C9-8077-6DA8-BA87-7257A234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Balanced </a:t>
            </a:r>
            <a:r>
              <a:rPr lang="en-US" sz="2800" b="1" dirty="0"/>
              <a:t>course assignment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CE02798-F6B8-27D9-43CE-02AA8363E6F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Sắp </a:t>
                </a:r>
                <a:r>
                  <a:rPr lang="en-US" dirty="0" err="1"/>
                  <a:t>xếp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khoá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thoả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ràng</a:t>
                </a:r>
                <a:r>
                  <a:rPr lang="en-US" dirty="0"/>
                  <a:t> </a:t>
                </a:r>
                <a:r>
                  <a:rPr lang="en-US" dirty="0" err="1"/>
                  <a:t>buộc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trùng</a:t>
                </a:r>
                <a:r>
                  <a:rPr lang="en-US" dirty="0"/>
                  <a:t> </a:t>
                </a:r>
                <a:r>
                  <a:rPr lang="en-US" dirty="0" err="1"/>
                  <a:t>lặp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môn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 </a:t>
                </a:r>
                <a:r>
                  <a:rPr lang="en-US" dirty="0" err="1"/>
                  <a:t>ưa</a:t>
                </a:r>
                <a:r>
                  <a:rPr lang="en-US" dirty="0"/>
                  <a:t> </a:t>
                </a:r>
                <a:r>
                  <a:rPr lang="en-US" dirty="0" err="1"/>
                  <a:t>thích</a:t>
                </a:r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Input &amp; Constraints: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giáo</a:t>
                </a:r>
                <a:r>
                  <a:rPr lang="en-US" dirty="0"/>
                  <a:t> </a:t>
                </a:r>
                <a:r>
                  <a:rPr lang="en-US" dirty="0" err="1"/>
                  <a:t>viên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{1,2,…,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và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môn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{1,2,…,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Giáo viên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1 </a:t>
                </a:r>
                <a:r>
                  <a:rPr lang="en-US" dirty="0" err="1"/>
                  <a:t>danh</a:t>
                </a:r>
                <a:r>
                  <a:rPr lang="en-US" dirty="0"/>
                  <a:t> </a:t>
                </a:r>
                <a:r>
                  <a:rPr lang="en-US" dirty="0" err="1"/>
                  <a:t>sách</a:t>
                </a:r>
                <a:r>
                  <a:rPr lang="en-US" dirty="0"/>
                  <a:t> </a:t>
                </a:r>
                <a:r>
                  <a:rPr lang="en-US" dirty="0" err="1"/>
                  <a:t>môn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thầy</a:t>
                </a:r>
                <a:r>
                  <a:rPr lang="en-US" dirty="0"/>
                  <a:t> </a:t>
                </a:r>
                <a:r>
                  <a:rPr lang="en-US" dirty="0" err="1"/>
                  <a:t>cô</a:t>
                </a:r>
                <a:r>
                  <a:rPr lang="en-US" dirty="0"/>
                  <a:t> </a:t>
                </a:r>
                <a:r>
                  <a:rPr lang="en-US" dirty="0" err="1"/>
                  <a:t>ấy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dạy</a:t>
                </a:r>
                <a:r>
                  <a:rPr lang="en-US" dirty="0"/>
                  <a:t> (preference). </a:t>
                </a:r>
              </a:p>
              <a:p>
                <a:pPr lvl="1"/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môn</a:t>
                </a:r>
                <a:r>
                  <a:rPr lang="en-US" dirty="0"/>
                  <a:t> </a:t>
                </a:r>
                <a:r>
                  <a:rPr lang="en-US" dirty="0" err="1"/>
                  <a:t>bị</a:t>
                </a:r>
                <a:r>
                  <a:rPr lang="en-US" dirty="0"/>
                  <a:t> </a:t>
                </a:r>
                <a:r>
                  <a:rPr lang="en-US" dirty="0" err="1"/>
                  <a:t>trùng</a:t>
                </a:r>
                <a:r>
                  <a:rPr lang="en-US" dirty="0"/>
                  <a:t> </a:t>
                </a:r>
                <a:r>
                  <a:rPr lang="en-US" dirty="0" err="1"/>
                  <a:t>giờ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sắp</a:t>
                </a:r>
                <a:r>
                  <a:rPr lang="en-US" dirty="0"/>
                  <a:t> </a:t>
                </a:r>
                <a:r>
                  <a:rPr lang="en-US" dirty="0" err="1"/>
                  <a:t>cùng</a:t>
                </a:r>
                <a:r>
                  <a:rPr lang="en-US" dirty="0"/>
                  <a:t> </a:t>
                </a:r>
                <a:r>
                  <a:rPr lang="en-US" dirty="0" err="1"/>
                  <a:t>giáo</a:t>
                </a:r>
                <a:r>
                  <a:rPr lang="en-US" dirty="0"/>
                  <a:t> </a:t>
                </a:r>
                <a:r>
                  <a:rPr lang="en-US" dirty="0" err="1"/>
                  <a:t>viên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 err="1"/>
                  <a:t>Giáo</a:t>
                </a:r>
                <a:r>
                  <a:rPr lang="en-US" dirty="0"/>
                  <a:t> </a:t>
                </a:r>
                <a:r>
                  <a:rPr lang="en-US" dirty="0" err="1"/>
                  <a:t>viên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tải</a:t>
                </a:r>
                <a:r>
                  <a:rPr lang="en-US" dirty="0"/>
                  <a:t> </a:t>
                </a:r>
                <a:r>
                  <a:rPr lang="en-US" dirty="0" err="1"/>
                  <a:t>giảng</a:t>
                </a:r>
                <a:r>
                  <a:rPr lang="en-US" dirty="0"/>
                  <a:t> </a:t>
                </a:r>
                <a:r>
                  <a:rPr lang="en-US" dirty="0" err="1"/>
                  <a:t>dạy</a:t>
                </a:r>
                <a:r>
                  <a:rPr lang="en-US" dirty="0"/>
                  <a:t>: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môn</a:t>
                </a:r>
                <a:r>
                  <a:rPr lang="en-US" dirty="0"/>
                  <a:t> được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.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Objective: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thiểu</a:t>
                </a:r>
                <a:r>
                  <a:rPr lang="en-US" dirty="0"/>
                  <a:t> </a:t>
                </a:r>
                <a:r>
                  <a:rPr lang="en-US" dirty="0" err="1"/>
                  <a:t>hoá</a:t>
                </a:r>
                <a:r>
                  <a:rPr lang="en-US" dirty="0"/>
                  <a:t> </a:t>
                </a:r>
                <a:r>
                  <a:rPr lang="en-US" dirty="0" err="1"/>
                  <a:t>tải</a:t>
                </a:r>
                <a:r>
                  <a:rPr lang="en-US" dirty="0"/>
                  <a:t> </a:t>
                </a:r>
                <a:r>
                  <a:rPr lang="en-US" dirty="0" err="1"/>
                  <a:t>giảng</a:t>
                </a:r>
                <a:r>
                  <a:rPr lang="en-US" dirty="0"/>
                  <a:t> </a:t>
                </a:r>
                <a:r>
                  <a:rPr lang="en-US" dirty="0" err="1"/>
                  <a:t>dạy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thầy</a:t>
                </a:r>
                <a:r>
                  <a:rPr lang="en-US" dirty="0"/>
                  <a:t> </a:t>
                </a:r>
                <a:r>
                  <a:rPr lang="en-US" dirty="0" err="1"/>
                  <a:t>cô</a:t>
                </a:r>
                <a:r>
                  <a:rPr lang="en-US" dirty="0"/>
                  <a:t>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Output: </a:t>
                </a:r>
                <a:r>
                  <a:rPr lang="en-US" dirty="0" err="1"/>
                  <a:t>Tải</a:t>
                </a:r>
                <a:r>
                  <a:rPr lang="en-US" dirty="0"/>
                  <a:t> </a:t>
                </a:r>
                <a:r>
                  <a:rPr lang="en-US" dirty="0" err="1"/>
                  <a:t>giảng</a:t>
                </a:r>
                <a:r>
                  <a:rPr lang="en-US" dirty="0"/>
                  <a:t> </a:t>
                </a:r>
                <a:r>
                  <a:rPr lang="en-US" dirty="0" err="1"/>
                  <a:t>dạy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, </a:t>
                </a:r>
                <a:r>
                  <a:rPr lang="en-US" dirty="0" err="1"/>
                  <a:t>hoặc</a:t>
                </a:r>
                <a:r>
                  <a:rPr lang="en-US" dirty="0"/>
                  <a:t> -1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được TKB.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CE02798-F6B8-27D9-43CE-02AA8363E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ECE53-A314-2E03-DA1A-6284F524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9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1C6B-1895-52E4-DD49-0BB39B67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2D23-0386-F7FF-9997-75F6FD84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Balanced course assignment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535B6-BF19-2C63-B912-6F4F73DB8E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Example</a:t>
            </a:r>
          </a:p>
          <a:p>
            <a:pPr lvl="1"/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9A8E6-895D-69B0-ECBE-C73C879B5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31A5C821-55C1-4586-782D-180EAC986BB1}"/>
              </a:ext>
            </a:extLst>
          </p:cNvPr>
          <p:cNvGraphicFramePr/>
          <p:nvPr/>
        </p:nvGraphicFramePr>
        <p:xfrm>
          <a:off x="2668959" y="928509"/>
          <a:ext cx="8622496" cy="53035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48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3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8774">
                <a:tc>
                  <a:txBody>
                    <a:bodyPr/>
                    <a:lstStyle/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4 12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5 1 3 5 10 12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5 9 3 4 8 12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6 1 2 3 4 9 7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7 1 2 3 5 6 10 11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1 2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1 3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1 5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2 4</a:t>
                      </a:r>
                    </a:p>
                    <a:p>
                      <a:pPr rtl="0"/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2 5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3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8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Explain: Courses of teachers: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1: 1 10 12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2: 3 4 8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3: 2 7 9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solidFill>
                            <a:schemeClr val="dk1"/>
                          </a:solidFill>
                        </a:rPr>
                        <a:t>4: 5 6 11 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43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DE66-34E1-3BA5-6035-82A8AD4D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EC29-4651-A1E4-A39B-F5B750DC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Balanced course assignment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1703C-DCB0-5C6B-623E-A5A1BB499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Ý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: Quay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cận</a:t>
            </a:r>
            <a:endParaRPr lang="en-US" dirty="0"/>
          </a:p>
          <a:p>
            <a:pPr lvl="1"/>
            <a:r>
              <a:rPr lang="en-US" dirty="0"/>
              <a:t>Lưu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: </a:t>
            </a:r>
            <a:r>
              <a:rPr lang="en-US" dirty="0" err="1"/>
              <a:t>Mảng</a:t>
            </a:r>
            <a:r>
              <a:rPr lang="en-US" dirty="0"/>
              <a:t> Sol[N]. </a:t>
            </a:r>
          </a:p>
          <a:p>
            <a:pPr lvl="2"/>
            <a:r>
              <a:rPr lang="en-US" sz="2400" dirty="0">
                <a:solidFill>
                  <a:srgbClr val="6A9955"/>
                </a:solidFill>
                <a:latin typeface="JetBrains Mono Medium" panose="02000009000000000000" pitchFamily="2" charset="0"/>
              </a:rPr>
              <a:t>S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ol[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i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] = j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nếu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thầy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cô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j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dạy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môn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i</a:t>
            </a:r>
            <a:endParaRPr lang="en-US" sz="2400" b="0" dirty="0">
              <a:solidFill>
                <a:srgbClr val="CCCCCC"/>
              </a:solidFill>
              <a:effectLst/>
              <a:latin typeface="JetBrains Mono Medium" panose="02000009000000000000" pitchFamily="2" charset="0"/>
            </a:endParaRPr>
          </a:p>
          <a:p>
            <a:pPr lvl="2"/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: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nbTeach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[j] =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tải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giảng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dạy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của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gv</a:t>
            </a:r>
            <a:r>
              <a:rPr lang="en-US" sz="2400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 j</a:t>
            </a:r>
          </a:p>
          <a:p>
            <a:pPr lvl="2"/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biên</a:t>
            </a:r>
            <a:r>
              <a:rPr lang="en-US" sz="2400" dirty="0"/>
              <a:t> </a:t>
            </a:r>
            <a:r>
              <a:rPr lang="en-US" sz="2400" dirty="0" err="1"/>
              <a:t>maxLoad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tải</a:t>
            </a:r>
            <a:r>
              <a:rPr lang="en-US" sz="2400" dirty="0"/>
              <a:t> </a:t>
            </a:r>
            <a:r>
              <a:rPr lang="en-US" sz="2400" dirty="0" err="1"/>
              <a:t>giảng</a:t>
            </a:r>
            <a:r>
              <a:rPr lang="en-US" sz="2400" dirty="0"/>
              <a:t> </a:t>
            </a:r>
            <a:r>
              <a:rPr lang="en-US" sz="2400" dirty="0" err="1"/>
              <a:t>dạy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endParaRPr lang="en-US" sz="2400" dirty="0"/>
          </a:p>
          <a:p>
            <a:pPr lvl="1"/>
            <a:r>
              <a:rPr lang="en-US" dirty="0"/>
              <a:t>programming: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:</a:t>
            </a:r>
          </a:p>
          <a:p>
            <a:pPr lvl="2"/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JetBrains Mono Medium" panose="02000009000000000000" pitchFamily="2" charset="0"/>
              </a:rPr>
              <a:t>Try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 Medium" panose="02000009000000000000" pitchFamily="2" charset="0"/>
              </a:rPr>
              <a:t>k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// select teacher for course k</a:t>
            </a:r>
            <a:endParaRPr lang="en-US" b="0" dirty="0">
              <a:solidFill>
                <a:srgbClr val="CCCCCC"/>
              </a:solidFill>
              <a:effectLst/>
              <a:latin typeface="JetBrains Mono Medium" panose="02000009000000000000" pitchFamily="2" charset="0"/>
            </a:endParaRPr>
          </a:p>
          <a:p>
            <a:pPr lvl="2"/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bool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JetBrains Mono Medium" panose="02000009000000000000" pitchFamily="2" charset="0"/>
              </a:rPr>
              <a:t>check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 Medium" panose="02000009000000000000" pitchFamily="2" charset="0"/>
              </a:rPr>
              <a:t>j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JetBrains Mono Medium" panose="02000009000000000000" pitchFamily="2" charset="0"/>
              </a:rPr>
              <a:t>k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// check if teacher j can teach course k </a:t>
            </a:r>
            <a:endParaRPr lang="en-US" b="0" dirty="0">
              <a:solidFill>
                <a:srgbClr val="CCCCCC"/>
              </a:solidFill>
              <a:effectLst/>
              <a:latin typeface="JetBrains Mono Medium" panose="02000009000000000000" pitchFamily="2" charset="0"/>
            </a:endParaRPr>
          </a:p>
          <a:p>
            <a:pPr lvl="2"/>
            <a:r>
              <a:rPr lang="en-US" b="0" dirty="0">
                <a:solidFill>
                  <a:srgbClr val="569CD6"/>
                </a:solidFill>
                <a:effectLst/>
                <a:latin typeface="JetBrains Mono Medium" panose="02000009000000000000" pitchFamily="2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JetBrains Mono Medium" panose="02000009000000000000" pitchFamily="2" charset="0"/>
              </a:rPr>
              <a:t>solution</a:t>
            </a:r>
            <a:r>
              <a:rPr lang="en-US" b="0" dirty="0">
                <a:solidFill>
                  <a:srgbClr val="CCCCCC"/>
                </a:solidFill>
                <a:effectLst/>
                <a:latin typeface="JetBrains Mono Medium" panose="02000009000000000000" pitchFamily="2" charset="0"/>
              </a:rPr>
              <a:t>() </a:t>
            </a:r>
            <a:r>
              <a:rPr lang="en-US" b="0" dirty="0">
                <a:solidFill>
                  <a:srgbClr val="6A9955"/>
                </a:solidFill>
                <a:effectLst/>
                <a:latin typeface="JetBrains Mono Medium" panose="02000009000000000000" pitchFamily="2" charset="0"/>
              </a:rPr>
              <a:t>// change the current solution if find a better</a:t>
            </a:r>
            <a:endParaRPr lang="en-US" dirty="0"/>
          </a:p>
          <a:p>
            <a:pPr lvl="1"/>
            <a:r>
              <a:rPr lang="en-US" dirty="0"/>
              <a:t>Branch and bound (in Try()): </a:t>
            </a:r>
            <a:r>
              <a:rPr lang="en-US" dirty="0" err="1"/>
              <a:t>nếu</a:t>
            </a:r>
            <a:r>
              <a:rPr lang="en-US" dirty="0"/>
              <a:t> 1 GV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nbTeach</a:t>
            </a:r>
            <a:r>
              <a:rPr lang="en-US" dirty="0"/>
              <a:t>[]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maxLoad</a:t>
            </a:r>
            <a:r>
              <a:rPr lang="en-US" dirty="0"/>
              <a:t>: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3681-147C-3D78-9C4A-97DBD244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F92582-74C1-49EC-B9F0-41E97B41781B}"/>
</file>

<file path=customXml/itemProps2.xml><?xml version="1.0" encoding="utf-8"?>
<ds:datastoreItem xmlns:ds="http://schemas.openxmlformats.org/officeDocument/2006/customXml" ds:itemID="{82687CF3-9D61-45BC-AE6C-FC224BBA77C3}"/>
</file>

<file path=customXml/itemProps3.xml><?xml version="1.0" encoding="utf-8"?>
<ds:datastoreItem xmlns:ds="http://schemas.openxmlformats.org/officeDocument/2006/customXml" ds:itemID="{2A33EE3B-A6AB-4E23-9A16-C55BFC781595}"/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346</Words>
  <Application>Microsoft Macintosh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JetBrains Mono Medium</vt:lpstr>
      <vt:lpstr>Lato</vt:lpstr>
      <vt:lpstr>Office Theme</vt:lpstr>
      <vt:lpstr>PowerPoint Presentation</vt:lpstr>
      <vt:lpstr>PowerPoint Presentation</vt:lpstr>
      <vt:lpstr>Balanced course assignment</vt:lpstr>
      <vt:lpstr>Balanced course assignment</vt:lpstr>
      <vt:lpstr>Balanced course assignment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18</cp:revision>
  <dcterms:created xsi:type="dcterms:W3CDTF">2021-05-28T04:32:29Z</dcterms:created>
  <dcterms:modified xsi:type="dcterms:W3CDTF">2025-09-17T04:04:26Z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