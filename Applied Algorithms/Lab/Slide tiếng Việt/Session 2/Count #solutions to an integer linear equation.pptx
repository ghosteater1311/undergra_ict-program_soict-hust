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9" r:id="rId2"/>
    <p:sldId id="257" r:id="rId3"/>
    <p:sldId id="258" r:id="rId4"/>
    <p:sldId id="266" r:id="rId5"/>
    <p:sldId id="265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438" autoAdjust="0"/>
    <p:restoredTop sz="94660"/>
  </p:normalViewPr>
  <p:slideViewPr>
    <p:cSldViewPr snapToGrid="0">
      <p:cViewPr>
        <p:scale>
          <a:sx n="98" d="100"/>
          <a:sy n="98" d="100"/>
        </p:scale>
        <p:origin x="-256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77765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Count #solutions to an integer linear equation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Count #solutions to an integer linear equation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726603-7893-4AE0-9532-68058044B69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sz="3200" dirty="0"/>
                  <a:t>Đếm </a:t>
                </a:r>
                <a:r>
                  <a:rPr lang="en-US" sz="3200" dirty="0" err="1"/>
                  <a:t>số</a:t>
                </a:r>
                <a:r>
                  <a:rPr lang="en-US" sz="3200" dirty="0"/>
                  <a:t> </a:t>
                </a:r>
                <a:r>
                  <a:rPr lang="en-US" sz="3200" dirty="0" err="1"/>
                  <a:t>nghiệm</a:t>
                </a:r>
                <a:r>
                  <a:rPr lang="en-US" sz="3200" dirty="0"/>
                  <a:t> </a:t>
                </a:r>
                <a:r>
                  <a:rPr lang="en-US" sz="3200" dirty="0" err="1"/>
                  <a:t>nguyên</a:t>
                </a:r>
                <a:r>
                  <a:rPr lang="en-US" sz="3200" dirty="0"/>
                  <a:t> </a:t>
                </a:r>
                <a:r>
                  <a:rPr lang="en-US" sz="3200" dirty="0" err="1"/>
                  <a:t>dương</a:t>
                </a:r>
                <a:r>
                  <a:rPr lang="en-US" sz="3200" dirty="0"/>
                  <a:t> </a:t>
                </a:r>
                <a:r>
                  <a:rPr lang="en-US" sz="3200" dirty="0" err="1"/>
                  <a:t>của</a:t>
                </a:r>
                <a:r>
                  <a:rPr lang="en-US" sz="3200" dirty="0"/>
                  <a:t> </a:t>
                </a:r>
                <a:r>
                  <a:rPr lang="en-US" sz="3200" dirty="0" err="1"/>
                  <a:t>một</a:t>
                </a:r>
                <a:r>
                  <a:rPr lang="en-US" sz="3200" dirty="0"/>
                  <a:t> </a:t>
                </a:r>
                <a:r>
                  <a:rPr lang="en-US" sz="3200" dirty="0" err="1"/>
                  <a:t>phương</a:t>
                </a:r>
                <a:r>
                  <a:rPr lang="en-US" sz="3200" dirty="0"/>
                  <a:t> </a:t>
                </a:r>
                <a:r>
                  <a:rPr lang="en-US" sz="3200" dirty="0" err="1"/>
                  <a:t>trình</a:t>
                </a:r>
                <a:endParaRPr lang="en-US" sz="3200" dirty="0"/>
              </a:p>
              <a:p>
                <a:r>
                  <a:rPr lang="en-US" sz="3200" b="1" dirty="0"/>
                  <a:t>Input:</a:t>
                </a:r>
                <a:r>
                  <a:rPr lang="en-US" sz="3200" dirty="0"/>
                  <a:t>  2 </a:t>
                </a:r>
                <a:r>
                  <a:rPr lang="en-US" sz="3200" dirty="0" err="1"/>
                  <a:t>số</a:t>
                </a:r>
                <a:r>
                  <a:rPr lang="en-US" sz="3200" dirty="0"/>
                  <a:t> </a:t>
                </a:r>
                <a:r>
                  <a:rPr lang="en-US" sz="3200" dirty="0" err="1"/>
                  <a:t>nguyên</a:t>
                </a:r>
                <a:r>
                  <a:rPr lang="en-US" sz="3200" dirty="0"/>
                  <a:t> </a:t>
                </a:r>
                <a:r>
                  <a:rPr lang="en-US" sz="3200" dirty="0" err="1"/>
                  <a:t>dương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vi-VN" sz="3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3200" dirty="0"/>
                  <a:t>	     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số </a:t>
                </a:r>
                <a:r>
                  <a:rPr lang="en-US" sz="3200" dirty="0" err="1"/>
                  <a:t>nguyên</a:t>
                </a:r>
                <a:r>
                  <a:rPr lang="en-US" sz="3200" dirty="0"/>
                  <a:t> </a:t>
                </a:r>
                <a:r>
                  <a:rPr lang="en-US" sz="3200" dirty="0" err="1"/>
                  <a:t>dươ</a:t>
                </a:r>
                <a:r>
                  <a:rPr lang="en-US" sz="3200" dirty="0"/>
                  <a:t>ng</a:t>
                </a:r>
                <a14:m>
                  <m:oMath xmlns:m="http://schemas.openxmlformats.org/officeDocument/2006/math">
                    <m:r>
                      <a:rPr lang="vi-VN" sz="32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vi-V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vi-V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 i="1" dirty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vi-V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200" i="1" dirty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3200" dirty="0"/>
              </a:p>
              <a:p>
                <a:r>
                  <a:rPr lang="en-US" sz="3200" b="1" dirty="0"/>
                  <a:t>Output: </a:t>
                </a:r>
                <a:r>
                  <a:rPr lang="en-US" sz="3200" dirty="0" err="1"/>
                  <a:t>Số</a:t>
                </a:r>
                <a:r>
                  <a:rPr lang="en-US" sz="3200" dirty="0"/>
                  <a:t> </a:t>
                </a:r>
                <a:r>
                  <a:rPr lang="en-US" sz="3200" dirty="0" err="1"/>
                  <a:t>nghiệm</a:t>
                </a:r>
                <a:r>
                  <a:rPr lang="en-US" sz="3200" dirty="0"/>
                  <a:t> </a:t>
                </a:r>
                <a:r>
                  <a:rPr lang="en-US" sz="3200" dirty="0" err="1"/>
                  <a:t>nguyên</a:t>
                </a:r>
                <a:r>
                  <a:rPr lang="en-US" sz="3200" dirty="0"/>
                  <a:t> </a:t>
                </a:r>
                <a:r>
                  <a:rPr lang="en-US" sz="3200" dirty="0" err="1"/>
                  <a:t>dương</a:t>
                </a:r>
                <a:r>
                  <a:rPr lang="en-US" sz="3200" dirty="0"/>
                  <a:t> </a:t>
                </a:r>
                <a:r>
                  <a:rPr lang="en-US" sz="3200" dirty="0" err="1"/>
                  <a:t>của</a:t>
                </a:r>
                <a:r>
                  <a:rPr lang="en-US" sz="3200" dirty="0"/>
                  <a:t> </a:t>
                </a:r>
                <a:r>
                  <a:rPr lang="en-US" sz="3200" dirty="0" err="1"/>
                  <a:t>một</a:t>
                </a:r>
                <a:r>
                  <a:rPr lang="en-US" sz="3200" dirty="0"/>
                  <a:t> </a:t>
                </a:r>
                <a:r>
                  <a:rPr lang="en-US" sz="3200" dirty="0" err="1"/>
                  <a:t>phương</a:t>
                </a:r>
                <a:r>
                  <a:rPr lang="en-US" sz="3200" dirty="0"/>
                  <a:t> </a:t>
                </a:r>
                <a:r>
                  <a:rPr lang="en-US" sz="3200" dirty="0" err="1"/>
                  <a:t>trình</a:t>
                </a:r>
                <a:endParaRPr lang="en-US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vi-VN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vi-VN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vi-VN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 + . . . + </m:t>
                      </m:r>
                      <m:sSub>
                        <m:sSubPr>
                          <m:ctrlPr>
                            <a:rPr lang="vi-VN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err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200" i="1" dirty="0" err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vi-VN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err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i="1" dirty="0" err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vi-VN" sz="3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726603-7893-4AE0-9532-68058044B6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211" t="-256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BDE9E-A9D0-290F-6F54-7CB134E15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8F595-AF80-4A27-73C5-F2BF281A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Count #solutions to an integer linear equation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0F6A9-1D53-BCE4-0AAC-A349E9EEB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VN" sz="3200" dirty="0"/>
              <a:t>Example</a:t>
            </a:r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DCFF1-3440-67E7-7676-E4563730A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4BDF2CA0-036F-01CF-1791-6A2F677A7190}"/>
              </a:ext>
            </a:extLst>
          </p:cNvPr>
          <p:cNvGraphicFramePr/>
          <p:nvPr/>
        </p:nvGraphicFramePr>
        <p:xfrm>
          <a:off x="837601" y="2172859"/>
          <a:ext cx="10515600" cy="21336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414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>
                          <a:solidFill>
                            <a:schemeClr val="dk1"/>
                          </a:solidFill>
                        </a:rPr>
                        <a:t>stdin</a:t>
                      </a:r>
                      <a:endParaRPr sz="32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dirty="0" err="1">
                          <a:solidFill>
                            <a:schemeClr val="dk1"/>
                          </a:solidFill>
                        </a:rPr>
                        <a:t>stdout</a:t>
                      </a:r>
                      <a:endParaRPr sz="32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rtl="0"/>
                      <a:r>
                        <a:rPr lang="en-US" sz="3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3 5</a:t>
                      </a:r>
                    </a:p>
                    <a:p>
                      <a:pPr rtl="0"/>
                      <a:r>
                        <a:rPr lang="en-US" sz="3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1 1 1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dk1"/>
                          </a:solidFill>
                        </a:rPr>
                        <a:t>6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dk1"/>
                          </a:solidFill>
                        </a:rPr>
                        <a:t>Explain: (1,1,3), (1,2,2), (1,3,1), (2,1,2), (2,2,1), (3,1,1)</a:t>
                      </a:r>
                      <a:endParaRPr sz="32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520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42DEE-1AB7-0342-BF0D-66179E98E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666C8-978A-48E1-F79F-3BB80CEE6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Count #solutions to an integer linear equation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3476FC6-F1FF-01D5-96BD-8590AB08730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VN" dirty="0"/>
                  <a:t>Ý tưởng: </a:t>
                </a:r>
                <a:r>
                  <a:rPr lang="en-US" dirty="0" err="1"/>
                  <a:t>Dùng</a:t>
                </a:r>
                <a:r>
                  <a:rPr lang="en-US" dirty="0"/>
                  <a:t> </a:t>
                </a:r>
                <a:r>
                  <a:rPr lang="en-US" dirty="0" err="1"/>
                  <a:t>thuật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quay </a:t>
                </a:r>
                <a:r>
                  <a:rPr lang="en-US" dirty="0" err="1"/>
                  <a:t>lui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liệt</a:t>
                </a:r>
                <a:r>
                  <a:rPr lang="en-US" dirty="0"/>
                  <a:t> </a:t>
                </a:r>
                <a:r>
                  <a:rPr lang="en-US" dirty="0" err="1"/>
                  <a:t>kê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bộ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đếm</a:t>
                </a:r>
                <a:r>
                  <a:rPr lang="en-US" dirty="0"/>
                  <a:t>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bộ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đấy</a:t>
                </a:r>
                <a:r>
                  <a:rPr lang="en-US" dirty="0"/>
                  <a:t> </a:t>
                </a:r>
                <a:r>
                  <a:rPr lang="en-US" dirty="0" err="1"/>
                  <a:t>thoả</a:t>
                </a:r>
                <a:r>
                  <a:rPr lang="en-US" dirty="0"/>
                  <a:t> </a:t>
                </a:r>
                <a:r>
                  <a:rPr lang="en-US" dirty="0" err="1"/>
                  <a:t>mãn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Xem </a:t>
                </a:r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theo</a:t>
                </a:r>
                <a:r>
                  <a:rPr lang="en-US" dirty="0"/>
                  <a:t> </a:t>
                </a:r>
                <a:r>
                  <a:rPr lang="en-US" dirty="0" err="1"/>
                  <a:t>thứ</a:t>
                </a:r>
                <a:r>
                  <a:rPr lang="en-US" dirty="0"/>
                  <a:t> </a:t>
                </a:r>
                <a:r>
                  <a:rPr lang="en-US" dirty="0" err="1"/>
                  <a:t>tự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vi-V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vi-VN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Giả sử các giá trị số đã được gán cho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vi-V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xét</a:t>
                </a:r>
                <a:r>
                  <a:rPr lang="en-US" dirty="0"/>
                  <a:t> 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vi-VN" b="1" dirty="0">
                    <a:solidFill>
                      <a:srgbClr val="C00000"/>
                    </a:solidFill>
                  </a:rPr>
                  <a:t>Branch and bound: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vi-VN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i="1" dirty="0"/>
                  <a:t> 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nhận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tập</a:t>
                </a: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000" b="0" i="1" smtClean="0">
                          <a:latin typeface="Cambria Math" panose="02040503050406030204" pitchFamily="18" charset="0"/>
                        </a:rPr>
                        <m:t>1,2,…, </m:t>
                      </m:r>
                      <m:f>
                        <m:fPr>
                          <m:ctrlPr>
                            <a:rPr lang="vi-V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vi-V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vi-V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vi-V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vi-VN" sz="2000" i="1"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vi-V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vi-VN" sz="20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vi-VN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vi-V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vi-V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vi-VN" sz="2000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a:rPr lang="vi-VN" sz="2000" b="0" i="1" smtClean="0"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vi-V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vi-V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vi-V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vi-V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vi-VN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i="1" dirty="0"/>
              </a:p>
              <a:p>
                <a:pPr lvl="1"/>
                <a:r>
                  <a:rPr lang="en-US" dirty="0"/>
                  <a:t>programming …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3476FC6-F1FF-01D5-96BD-8590AB0873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81" t="-230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469DC-0E0A-083C-D60D-DF9507BA0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26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02447D-9CEB-41A1-B5C6-FF00BA8CC224}"/>
</file>

<file path=customXml/itemProps2.xml><?xml version="1.0" encoding="utf-8"?>
<ds:datastoreItem xmlns:ds="http://schemas.openxmlformats.org/officeDocument/2006/customXml" ds:itemID="{CE8B9138-1F3B-473D-A895-615C5B65BE6E}"/>
</file>

<file path=customXml/itemProps3.xml><?xml version="1.0" encoding="utf-8"?>
<ds:datastoreItem xmlns:ds="http://schemas.openxmlformats.org/officeDocument/2006/customXml" ds:itemID="{8C3F3C0B-9136-4256-AB33-6995FAB75E8C}"/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212</Words>
  <Application>Microsoft Macintosh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Lato</vt:lpstr>
      <vt:lpstr>Office Theme</vt:lpstr>
      <vt:lpstr>PowerPoint Presentation</vt:lpstr>
      <vt:lpstr>PowerPoint Presentation</vt:lpstr>
      <vt:lpstr>Count #solutions to an integer linear equation</vt:lpstr>
      <vt:lpstr>Count #solutions to an integer linear equation</vt:lpstr>
      <vt:lpstr>Count #solutions to an integer linear equation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Minh Huyen</cp:lastModifiedBy>
  <cp:revision>16</cp:revision>
  <dcterms:created xsi:type="dcterms:W3CDTF">2021-05-28T04:32:29Z</dcterms:created>
  <dcterms:modified xsi:type="dcterms:W3CDTF">2025-09-17T04:01:07Z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