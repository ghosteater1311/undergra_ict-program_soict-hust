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9" r:id="rId2"/>
    <p:sldId id="257" r:id="rId3"/>
    <p:sldId id="268" r:id="rId4"/>
    <p:sldId id="269" r:id="rId5"/>
    <p:sldId id="279" r:id="rId6"/>
    <p:sldId id="275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7284A-BF75-4A58-9B5A-B1454DDB52DB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25968-64C4-4324-B1F4-D4CCB846B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36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E7A8717-429B-4EC0-C328-58F60AEBC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1D50AC7E-AFAA-224D-A6FD-B2799E1DA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FF195AC-E32D-0812-1166-C57F63D11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30A5680-DB13-5487-5EBC-8C29CA92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3492666-F356-346C-4E3A-57828396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6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88F8993-6BD7-A44B-8B34-25EBA792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4CE694B4-AF22-11A5-35F9-1438A20E3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ECB3F4B-7E6B-D7F4-97BF-0FF5504A6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3691F5A-7202-3B72-3DAC-942A6672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B8C347D-EB56-4F14-F05C-CC1D7569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16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545FB16-B717-CC71-6F65-AF66968A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8630780-A896-C1E9-2A18-069823B5B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8DDBB45-6565-6AA3-78EF-FBC2AA8BB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18A2032-C690-9C09-559E-CD338801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BC4894B-5150-2DD3-2FB2-6687EBFE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83FC8D7-833F-2234-566D-E7CD7428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06C827F-8224-786C-C2BD-7BAD9DC58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7D0CBC3D-FE7A-3A74-51DC-9CABF302A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7D53EED-D3E2-59C9-D68F-0EA0C473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FB506C7D-4281-9101-CC2A-08A75286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9D17D86-1AF9-7B00-4C7A-AE4A2A61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7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493AD7B-0E72-2B2C-D20B-A1DFA2A32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B68116CA-E72D-2604-CFFB-BDF6FCC9A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0CAEADAB-5467-5E32-345B-AD35541CE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054341E2-C8FB-52D9-AE6D-1DE5D57545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8EB0EA42-38D8-C4BA-C35C-5D5E9DA0B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B52C2521-7606-C446-591A-4825C6C03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AD2DF607-16E3-DA0F-8BB3-5D9733E8E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65A9F290-CB12-31E3-D11A-458555E8E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91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F9827A3-AC50-4850-F0A4-5BF8600F6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CE82F8F8-BC30-AB12-1FDA-98EDC84DA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AB28BDFF-F38C-C17F-9371-BD0035C1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25397964-5AA3-EF1E-4889-6EEF3591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9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5226CF7-9377-6C38-5F13-A068A70F7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30D515E-2E6D-D17C-ED43-AC776C273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DE9ED0B-3445-D7B8-F986-D611D177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72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11E2907-4725-4E6E-6388-EAD6C582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00286A6-7654-14B7-4FE1-481807D14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0110C185-CAF5-C4D6-017C-551919E6E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F5E5147-2A70-0364-AB59-A2CC06E3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CA2445F6-ED64-7ADA-806F-D7CE0C219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8DD5840D-4C9E-4A49-74DE-75B9B47D3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46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9DAA057-6C87-9B7E-9337-A9898CD6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7FCA0A87-FA8C-A850-39F0-93FEA6712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CC89A77E-4564-6D7C-0633-45BCABC62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91C8711-EE40-E761-2691-0961D46DA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854BE372-6586-0361-9F2A-4D13EE68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E485E50-38D8-5C49-C435-811EF520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61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3D1A98A-D944-5835-AAC5-23F7DD6F8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CF19E8E7-713D-488A-4051-2D53CF73F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7E49AB8-FC19-F2FB-8A8C-0702DB8F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48E38B9-F552-59E8-3BD7-9069B2EC0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396BA8B-AF3D-4D9D-591D-8B20D765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00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2100739D-B171-A5DA-71AF-8BD64F671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B1932FBA-3272-4A76-827D-6A3481AB0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956B868-2107-9408-D0FE-DE28E7A7E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E152437-1AE2-0FC4-07A1-9C9080AB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A50B816-1532-8BE9-5198-FD2F7714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44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050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7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54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96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A8BF6B9-B957-1C72-7F24-1B130CE2E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8DCF9A3-FE32-E15F-FA1C-9821760A2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8D14FFB-0A1B-3807-E7F9-9C338FE84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482D604-91A1-E884-3136-CC90A110F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879FA4E-618F-D600-F79E-C1DB4458D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527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Inversions</a:t>
            </a:r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94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8B116-EF6D-6B3F-0CC5-F9B4A2C5D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043C5-09D1-0646-E2DE-32712960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Inversions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CB8630-9EEB-1AE4-EDD2-C129BBB46BC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VN" dirty="0"/>
                  <a:t>Đếm số cặp nghịch thế của 1 hoán vị</a:t>
                </a:r>
              </a:p>
              <a:p>
                <a:r>
                  <a:rPr lang="en-VN" sz="2800" b="1" dirty="0">
                    <a:solidFill>
                      <a:srgbClr val="C00000"/>
                    </a:solidFill>
                  </a:rPr>
                  <a:t>Input</a:t>
                </a:r>
                <a:r>
                  <a:rPr lang="en-VN" sz="2800" dirty="0"/>
                  <a:t>: </a:t>
                </a:r>
                <a:r>
                  <a:rPr lang="en-US" sz="2800" b="0" i="0" dirty="0">
                    <a:sym typeface="Arial"/>
                  </a:rPr>
                  <a:t>1 dãy các số nguyên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𝑎</m:t>
                    </m:r>
                    <m:r>
                      <a:rPr lang="en-US" sz="2800" b="0" i="1" baseline="-25000" dirty="0" smtClean="0"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1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,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𝑎</m:t>
                    </m:r>
                    <m:r>
                      <a:rPr lang="en-US" sz="2800" b="0" i="1" baseline="-25000" dirty="0" smtClean="0"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2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Arial"/>
                        <a:cs typeface="Arial"/>
                        <a:sym typeface="Arial"/>
                      </a:rPr>
                      <m:t>,…, </m:t>
                    </m:r>
                    <m:sSub>
                      <m:sSubPr>
                        <m:ctrlPr>
                          <a:rPr lang="vi-VN" sz="2800" b="0" i="1" dirty="0" smtClean="0"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𝑎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Arial"/>
                            <a:cs typeface="Arial"/>
                            <a:sym typeface="Arial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b="0" i="0" dirty="0">
                    <a:sym typeface="Arial"/>
                  </a:rPr>
                  <a:t>. 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  <a:sym typeface="Arial"/>
                  </a:rPr>
                  <a:t>Output: </a:t>
                </a:r>
                <a:r>
                  <a:rPr lang="en-US" dirty="0" err="1">
                    <a:sym typeface="Arial"/>
                  </a:rPr>
                  <a:t>Số</a:t>
                </a:r>
                <a:r>
                  <a:rPr lang="en-US" dirty="0">
                    <a:sym typeface="Arial"/>
                  </a:rPr>
                  <a:t> </a:t>
                </a:r>
                <a:r>
                  <a:rPr lang="en-US" dirty="0" err="1">
                    <a:sym typeface="Arial"/>
                  </a:rPr>
                  <a:t>cặp</a:t>
                </a:r>
                <a:r>
                  <a:rPr lang="en-US" dirty="0"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Arial"/>
                      </a:rPr>
                      <m:t>𝑖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sym typeface="Arial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Arial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dirty="0" err="1"/>
                  <a:t>thoả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800" dirty="0"/>
                  <a:t> mà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8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 </a:t>
                </a:r>
              </a:p>
              <a:p>
                <a:endParaRPr lang="en-US" dirty="0"/>
              </a:p>
              <a:p>
                <a:r>
                  <a:rPr lang="en-US" sz="2800" dirty="0"/>
                  <a:t>Example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CB8630-9EEB-1AE4-EDD2-C129BBB46B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81" t="-230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CC871-2914-711A-DEED-10F151BBA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Google Shape;87;p1">
            <a:extLst>
              <a:ext uri="{FF2B5EF4-FFF2-40B4-BE49-F238E27FC236}">
                <a16:creationId xmlns:a16="http://schemas.microsoft.com/office/drawing/2014/main" id="{8FF53726-F9CD-F11B-9F3C-B87AD88B44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023" y="3886200"/>
            <a:ext cx="6233208" cy="13891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9661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D155-8DEA-01F3-9E2A-71703AB6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B5E5A-5D1C-C02A-8428-4A8D9A5C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Inversions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E5598-9614-0D5A-F70C-E46570D4CA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5460365"/>
          </a:xfrm>
        </p:spPr>
        <p:txBody>
          <a:bodyPr/>
          <a:lstStyle/>
          <a:p>
            <a:r>
              <a:rPr lang="vi-VN" dirty="0"/>
              <a:t>Ý tưởng #1: Duyệt toàn bộ từ trái sang</a:t>
            </a:r>
          </a:p>
          <a:p>
            <a:pPr lvl="1"/>
            <a:r>
              <a:rPr lang="vi-VN" dirty="0"/>
              <a:t>Tại mỗi điểm: đếm số phần tử bên phải nhỏ hơn: chính là số nghịch thế</a:t>
            </a:r>
          </a:p>
          <a:p>
            <a:pPr lvl="1"/>
            <a:r>
              <a:rPr lang="vi-VN" dirty="0"/>
              <a:t>Độ phức tạp: O(n</a:t>
            </a:r>
            <a:r>
              <a:rPr lang="vi-VN" baseline="30000" dirty="0"/>
              <a:t>2</a:t>
            </a:r>
            <a:r>
              <a:rPr lang="vi-VN" dirty="0"/>
              <a:t>)</a:t>
            </a:r>
            <a:endParaRPr lang="en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BCF4A-4FB8-F172-8190-8C6E083C3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8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580FC-9285-C617-291E-D7E2A59C2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CFFE-0FAE-C216-0136-CE54C5FEA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Inversions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11669-94F0-F797-09C0-97295B99A9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5460365"/>
          </a:xfrm>
        </p:spPr>
        <p:txBody>
          <a:bodyPr/>
          <a:lstStyle/>
          <a:p>
            <a:r>
              <a:rPr lang="en-VN" dirty="0"/>
              <a:t>Ý tưởng #2: giống merge sort</a:t>
            </a:r>
          </a:p>
          <a:p>
            <a:pPr lvl="1"/>
            <a:r>
              <a:rPr lang="en-VN" dirty="0"/>
              <a:t>Chỉnh sửa lại code mergeSort để vừa sắp xếp vừa đếm số nghịch thế</a:t>
            </a:r>
          </a:p>
          <a:p>
            <a:pPr lvl="1"/>
            <a:r>
              <a:rPr lang="en-US" dirty="0" err="1"/>
              <a:t>Ý</a:t>
            </a:r>
            <a:r>
              <a:rPr lang="en-US" dirty="0"/>
              <a:t>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mergeSort</a:t>
            </a:r>
            <a:r>
              <a:rPr lang="en-US" dirty="0"/>
              <a:t>(int left, int right):</a:t>
            </a:r>
          </a:p>
          <a:p>
            <a:pPr lvl="2"/>
            <a:r>
              <a:rPr lang="en-US" sz="2400" dirty="0"/>
              <a:t>Chia </a:t>
            </a:r>
            <a:r>
              <a:rPr lang="en-US" sz="2400" dirty="0" err="1"/>
              <a:t>mảng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2 </a:t>
            </a:r>
            <a:r>
              <a:rPr lang="en-US" sz="2400" dirty="0" err="1"/>
              <a:t>phần</a:t>
            </a:r>
            <a:endParaRPr lang="en-US" sz="2400" dirty="0"/>
          </a:p>
          <a:p>
            <a:pPr lvl="2"/>
            <a:r>
              <a:rPr lang="en-US" sz="2400" dirty="0" err="1"/>
              <a:t>Sắp</a:t>
            </a:r>
            <a:r>
              <a:rPr lang="en-US" sz="2400" dirty="0"/>
              <a:t> </a:t>
            </a:r>
            <a:r>
              <a:rPr lang="en-US" sz="2400" dirty="0" err="1"/>
              <a:t>xếp</a:t>
            </a:r>
            <a:r>
              <a:rPr lang="en-US" sz="2400" dirty="0"/>
              <a:t> </a:t>
            </a:r>
            <a:r>
              <a:rPr lang="en-US" sz="2400" dirty="0" err="1"/>
              <a:t>mảng</a:t>
            </a:r>
            <a:r>
              <a:rPr lang="en-US" sz="2400" dirty="0"/>
              <a:t> (left, mid) </a:t>
            </a:r>
            <a:r>
              <a:rPr lang="en-US" sz="2400" dirty="0" err="1"/>
              <a:t>và</a:t>
            </a:r>
            <a:r>
              <a:rPr lang="en-US" sz="2400" dirty="0"/>
              <a:t> (mid +1, right)</a:t>
            </a:r>
          </a:p>
          <a:p>
            <a:pPr lvl="2"/>
            <a:r>
              <a:rPr lang="en-US" sz="2400" dirty="0" err="1"/>
              <a:t>Trộn</a:t>
            </a:r>
            <a:r>
              <a:rPr lang="en-US" sz="2400" dirty="0"/>
              <a:t> 2 </a:t>
            </a:r>
            <a:r>
              <a:rPr lang="en-US" sz="2400" dirty="0" err="1"/>
              <a:t>mảng</a:t>
            </a:r>
            <a:r>
              <a:rPr lang="en-US" sz="2400" dirty="0"/>
              <a:t> </a:t>
            </a:r>
            <a:r>
              <a:rPr lang="en-US" sz="2400" dirty="0" err="1"/>
              <a:t>đã</a:t>
            </a:r>
            <a:r>
              <a:rPr lang="en-US" sz="2400" dirty="0"/>
              <a:t> </a:t>
            </a:r>
            <a:r>
              <a:rPr lang="en-US" sz="2400" dirty="0" err="1"/>
              <a:t>sắp</a:t>
            </a:r>
            <a:r>
              <a:rPr lang="en-US" sz="2400" dirty="0"/>
              <a:t> </a:t>
            </a:r>
            <a:r>
              <a:rPr lang="en-US" sz="2400" dirty="0" err="1"/>
              <a:t>xếp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mảng</a:t>
            </a:r>
            <a:r>
              <a:rPr lang="en-US" sz="2400" dirty="0"/>
              <a:t> </a:t>
            </a:r>
            <a:r>
              <a:rPr lang="en-US" sz="2400" dirty="0" err="1"/>
              <a:t>mới</a:t>
            </a:r>
            <a:endParaRPr lang="en-US" sz="2400" dirty="0"/>
          </a:p>
          <a:p>
            <a:pPr lvl="2"/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phức</a:t>
            </a:r>
            <a:r>
              <a:rPr lang="en-US" sz="2400" dirty="0"/>
              <a:t> </a:t>
            </a:r>
            <a:r>
              <a:rPr lang="en-US" sz="2400" dirty="0" err="1"/>
              <a:t>tạp</a:t>
            </a:r>
            <a:r>
              <a:rPr lang="en-US" sz="2400" dirty="0"/>
              <a:t> : O(n log n)</a:t>
            </a:r>
            <a:endParaRPr lang="en-VN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0D952-8514-19EB-253F-5F950AF0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762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D9A9F-FAAD-2B62-A71C-E8E541E19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AB80-A8CC-590F-29A9-D2012F1D3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Inversions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9CC55-F0A3-A52C-8FFE-E7F4AA2175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5460365"/>
          </a:xfrm>
        </p:spPr>
        <p:txBody>
          <a:bodyPr/>
          <a:lstStyle/>
          <a:p>
            <a:r>
              <a:rPr lang="en-VN" dirty="0"/>
              <a:t>Ý tưởng #2: giống merge sort</a:t>
            </a:r>
          </a:p>
          <a:p>
            <a:pPr lvl="1"/>
            <a:r>
              <a:rPr lang="vi-VN" dirty="0"/>
              <a:t>Code Merge sort:</a:t>
            </a:r>
          </a:p>
          <a:p>
            <a:pPr lvl="1"/>
            <a:r>
              <a:rPr lang="vi-VN" dirty="0"/>
              <a:t>Chỉnh sửa code để vừa đếm, vừa sắp xếp </a:t>
            </a:r>
            <a:endParaRPr lang="en-VN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006C8-48FB-AC38-D871-9F0874AF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7252B90-EA91-27B9-E18C-41036F062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868573"/>
            <a:ext cx="5270500" cy="547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17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68756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D737149-34DE-437A-9C84-66D1B16300AF}"/>
</file>

<file path=customXml/itemProps2.xml><?xml version="1.0" encoding="utf-8"?>
<ds:datastoreItem xmlns:ds="http://schemas.openxmlformats.org/officeDocument/2006/customXml" ds:itemID="{04F64643-1C08-4368-A0F8-DB984595DCB6}"/>
</file>

<file path=customXml/itemProps3.xml><?xml version="1.0" encoding="utf-8"?>
<ds:datastoreItem xmlns:ds="http://schemas.openxmlformats.org/officeDocument/2006/customXml" ds:itemID="{F16AD37B-5A53-4DDA-A4B8-F42F1C2D6CBE}"/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191</Words>
  <Application>Microsoft Office PowerPoint</Application>
  <PresentationFormat>Màn hình rộng</PresentationFormat>
  <Paragraphs>31</Paragraphs>
  <Slides>7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Inversions</vt:lpstr>
      <vt:lpstr>Inversions</vt:lpstr>
      <vt:lpstr>Inversions</vt:lpstr>
      <vt:lpstr>Inversions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2</cp:revision>
  <dcterms:created xsi:type="dcterms:W3CDTF">2025-09-17T03:18:09Z</dcterms:created>
  <dcterms:modified xsi:type="dcterms:W3CDTF">2025-09-17T03:38:58Z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