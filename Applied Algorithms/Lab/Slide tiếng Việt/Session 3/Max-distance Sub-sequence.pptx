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57" r:id="rId3"/>
    <p:sldId id="271" r:id="rId4"/>
    <p:sldId id="281" r:id="rId5"/>
    <p:sldId id="276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7284A-BF75-4A58-9B5A-B1454DDB52DB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25968-64C4-4324-B1F4-D4CCB846B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3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E7A8717-429B-4EC0-C328-58F60AEBC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1D50AC7E-AFAA-224D-A6FD-B2799E1DA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FF195AC-E32D-0812-1166-C57F63D1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30A5680-DB13-5487-5EBC-8C29CA92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3492666-F356-346C-4E3A-57828396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6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88F8993-6BD7-A44B-8B34-25EBA792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CE694B4-AF22-11A5-35F9-1438A20E3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ECB3F4B-7E6B-D7F4-97BF-0FF5504A6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3691F5A-7202-3B72-3DAC-942A6672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B8C347D-EB56-4F14-F05C-CC1D7569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1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545FB16-B717-CC71-6F65-AF66968A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8630780-A896-C1E9-2A18-069823B5B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8DDBB45-6565-6AA3-78EF-FBC2AA8B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18A2032-C690-9C09-559E-CD338801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BC4894B-5150-2DD3-2FB2-6687EBFE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83FC8D7-833F-2234-566D-E7CD7428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06C827F-8224-786C-C2BD-7BAD9DC58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7D0CBC3D-FE7A-3A74-51DC-9CABF302A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7D53EED-D3E2-59C9-D68F-0EA0C473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B506C7D-4281-9101-CC2A-08A75286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9D17D86-1AF9-7B00-4C7A-AE4A2A61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7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493AD7B-0E72-2B2C-D20B-A1DFA2A3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68116CA-E72D-2604-CFFB-BDF6FCC9A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0CAEADAB-5467-5E32-345B-AD35541CE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054341E2-C8FB-52D9-AE6D-1DE5D5754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8EB0EA42-38D8-C4BA-C35C-5D5E9DA0B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B52C2521-7606-C446-591A-4825C6C0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AD2DF607-16E3-DA0F-8BB3-5D9733E8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65A9F290-CB12-31E3-D11A-458555E8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9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F9827A3-AC50-4850-F0A4-5BF8600F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CE82F8F8-BC30-AB12-1FDA-98EDC84D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AB28BDFF-F38C-C17F-9371-BD0035C1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25397964-5AA3-EF1E-4889-6EEF3591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9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5226CF7-9377-6C38-5F13-A068A70F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30D515E-2E6D-D17C-ED43-AC776C27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DE9ED0B-3445-D7B8-F986-D611D177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7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11E2907-4725-4E6E-6388-EAD6C582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00286A6-7654-14B7-4FE1-481807D14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110C185-CAF5-C4D6-017C-551919E6E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F5E5147-2A70-0364-AB59-A2CC06E3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A2445F6-ED64-7ADA-806F-D7CE0C21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8DD5840D-4C9E-4A49-74DE-75B9B47D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4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9DAA057-6C87-9B7E-9337-A9898CD6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7FCA0A87-FA8C-A850-39F0-93FEA6712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CC89A77E-4564-6D7C-0633-45BCABC62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91C8711-EE40-E761-2691-0961D46D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54BE372-6586-0361-9F2A-4D13EE68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E485E50-38D8-5C49-C435-811EF520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6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3D1A98A-D944-5835-AAC5-23F7DD6F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CF19E8E7-713D-488A-4051-2D53CF73F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7E49AB8-FC19-F2FB-8A8C-0702DB8F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48E38B9-F552-59E8-3BD7-9069B2EC0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396BA8B-AF3D-4D9D-591D-8B20D765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0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100739D-B171-A5DA-71AF-8BD64F671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B1932FBA-3272-4A76-827D-6A3481AB0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6B868-2107-9408-D0FE-DE28E7A7E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E152437-1AE2-0FC4-07A1-9C9080AB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A50B816-1532-8BE9-5198-FD2F7714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4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050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7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54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87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A8BF6B9-B957-1C72-7F24-1B130CE2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8DCF9A3-FE32-E15F-FA1C-9821760A2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8D14FFB-0A1B-3807-E7F9-9C338FE84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482D604-91A1-E884-3136-CC90A110F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879FA4E-618F-D600-F79E-C1DB4458D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52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Max-distance Sub-sequence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94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D5C9-FC4A-9499-AA09-F0D44DB5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5880-B0F5-8660-B8FD-001DDCFF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Max-distance sub-sequence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E0E1FBF-6B76-B673-BD66-F6DA2CD1594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515725" cy="3414693"/>
              </a:xfrm>
            </p:spPr>
            <p:txBody>
              <a:bodyPr/>
              <a:lstStyle/>
              <a:p>
                <a:r>
                  <a:rPr lang="en-US" dirty="0" err="1">
                    <a:sym typeface="Arial"/>
                  </a:rPr>
                  <a:t>Có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trước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một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dãy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số</a:t>
                </a:r>
                <a:r>
                  <a:rPr lang="en-US" dirty="0"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,…, </m:t>
                    </m:r>
                    <m:sSub>
                      <m:sSubPr>
                        <m:ctrlPr>
                          <a:rPr lang="vi-VN" b="0" i="1" dirty="0" smtClean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  <a:sym typeface="Arial"/>
                          </a:rPr>
                          <m:t>𝑁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 err="1">
                    <a:sym typeface="Arial"/>
                  </a:rPr>
                  <a:t>tăng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dần</a:t>
                </a:r>
                <a:endParaRPr lang="en-US" dirty="0">
                  <a:sym typeface="Arial"/>
                </a:endParaRPr>
              </a:p>
              <a:p>
                <a:r>
                  <a:rPr lang="en-US" dirty="0">
                    <a:sym typeface="Arial"/>
                  </a:rPr>
                  <a:t>1 </a:t>
                </a:r>
                <a:r>
                  <a:rPr lang="en-US" dirty="0" err="1">
                    <a:sym typeface="Arial"/>
                  </a:rPr>
                  <a:t>dãy</a:t>
                </a:r>
                <a:r>
                  <a:rPr lang="en-US" dirty="0">
                    <a:sym typeface="Arial"/>
                  </a:rPr>
                  <a:t> con ~ 1 </a:t>
                </a:r>
                <a:r>
                  <a:rPr lang="en-US" dirty="0" err="1">
                    <a:sym typeface="Arial"/>
                  </a:rPr>
                  <a:t>tập</a:t>
                </a:r>
                <a:r>
                  <a:rPr lang="en-US" dirty="0">
                    <a:sym typeface="Arial"/>
                  </a:rPr>
                  <a:t> con </a:t>
                </a:r>
                <a:r>
                  <a:rPr lang="en-US" dirty="0" err="1">
                    <a:sym typeface="Arial"/>
                  </a:rPr>
                  <a:t>của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dãy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số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đã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cho</a:t>
                </a:r>
                <a:endParaRPr lang="en-US" dirty="0">
                  <a:sym typeface="Arial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Arial"/>
                  </a:rPr>
                  <a:t>	</a:t>
                </a:r>
                <a:r>
                  <a:rPr lang="en-US" dirty="0" err="1">
                    <a:sym typeface="Arial"/>
                  </a:rPr>
                  <a:t>Khoảng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cách</a:t>
                </a:r>
                <a:r>
                  <a:rPr lang="en-US" dirty="0">
                    <a:sym typeface="Arial"/>
                  </a:rPr>
                  <a:t>: </a:t>
                </a:r>
                <a:r>
                  <a:rPr lang="en-US" dirty="0" err="1">
                    <a:sym typeface="Arial"/>
                  </a:rPr>
                  <a:t>hiệu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nhỏ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nhất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giữa</a:t>
                </a:r>
                <a:r>
                  <a:rPr lang="en-US" dirty="0">
                    <a:sym typeface="Arial"/>
                  </a:rPr>
                  <a:t> 2 </a:t>
                </a:r>
                <a:r>
                  <a:rPr lang="en-US" dirty="0" err="1">
                    <a:sym typeface="Arial"/>
                  </a:rPr>
                  <a:t>phần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tử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liền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kề</a:t>
                </a:r>
                <a:endParaRPr lang="en-US" dirty="0">
                  <a:sym typeface="Arial"/>
                </a:endParaRPr>
              </a:p>
              <a:p>
                <a:r>
                  <a:rPr lang="en-US" dirty="0" err="1">
                    <a:sym typeface="Arial"/>
                  </a:rPr>
                  <a:t>Tìm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một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dãy</a:t>
                </a:r>
                <a:r>
                  <a:rPr lang="en-US" dirty="0">
                    <a:sym typeface="Arial"/>
                  </a:rPr>
                  <a:t> con </a:t>
                </a:r>
                <a:r>
                  <a:rPr lang="en-US" dirty="0" err="1">
                    <a:sym typeface="Arial"/>
                  </a:rPr>
                  <a:t>chứa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đúng</a:t>
                </a:r>
                <a:r>
                  <a:rPr lang="en-US" dirty="0">
                    <a:sym typeface="Arial"/>
                  </a:rPr>
                  <a:t> C </a:t>
                </a:r>
                <a:r>
                  <a:rPr lang="en-US" dirty="0" err="1">
                    <a:sym typeface="Arial"/>
                  </a:rPr>
                  <a:t>phần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tử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mà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có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khoảng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cách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lớn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nhất</a:t>
                </a:r>
                <a:endParaRPr lang="en-US" dirty="0">
                  <a:sym typeface="Arial"/>
                </a:endParaRPr>
              </a:p>
              <a:p>
                <a:r>
                  <a:rPr lang="en-US" dirty="0">
                    <a:sym typeface="Arial"/>
                  </a:rPr>
                  <a:t>Output: </a:t>
                </a:r>
                <a:r>
                  <a:rPr lang="en-US" dirty="0" err="1">
                    <a:sym typeface="Arial"/>
                  </a:rPr>
                  <a:t>khoảng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cách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tìm</a:t>
                </a:r>
                <a:r>
                  <a:rPr lang="en-US" dirty="0">
                    <a:sym typeface="Arial"/>
                  </a:rPr>
                  <a:t> được</a:t>
                </a:r>
              </a:p>
              <a:p>
                <a:r>
                  <a:rPr lang="en-US" dirty="0">
                    <a:sym typeface="Arial"/>
                  </a:rPr>
                  <a:t>Example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E0E1FBF-6B76-B673-BD66-F6DA2CD159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515725" cy="3414693"/>
              </a:xfrm>
              <a:blipFill>
                <a:blip r:embed="rId2"/>
                <a:stretch>
                  <a:fillRect l="-881" t="-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F3F0B-13AB-FE09-6E16-CF36FEAB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67F7EC6E-D1DA-DF74-BBA6-D51CA97CF79C}"/>
              </a:ext>
            </a:extLst>
          </p:cNvPr>
          <p:cNvGraphicFramePr/>
          <p:nvPr/>
        </p:nvGraphicFramePr>
        <p:xfrm>
          <a:off x="837601" y="4708029"/>
          <a:ext cx="10515600" cy="15240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94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4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56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20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2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1 </a:t>
                      </a:r>
                      <a:endParaRPr sz="2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5 3 </a:t>
                      </a:r>
                      <a:endParaRPr sz="2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1  2  8  4  9</a:t>
                      </a:r>
                      <a:endParaRPr sz="20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2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65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6E074-6D8C-CD86-569B-255CFA6E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DA3B-5C53-DA9A-E9C3-2DB8BC3D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Max-distance sub-sequence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6346-2DD4-27CF-2B0E-814790F9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7FEB384F-2347-987A-384A-25EE027FA6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Sắp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xếp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số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baseline="-25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1</a:t>
                </a: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,…, </a:t>
                </a:r>
                <a:r>
                  <a:rPr lang="en-US" i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i="1" baseline="-25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tăng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dần</a:t>
                </a: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Khoảng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cách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lớn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nhất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có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thể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đạt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được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−1</m:t>
                        </m:r>
                      </m:den>
                    </m:f>
                  </m:oMath>
                </a14:m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Duyệt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từ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d</m:t>
                    </m:r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−1</m:t>
                        </m:r>
                      </m:den>
                    </m:f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down to 1: check(d):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Kiểm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tra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có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lấy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được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con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khoảng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cách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≥</m:t>
                    </m:r>
                    <m:r>
                      <a:rPr lang="en-US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: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Thuật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toán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tham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lam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Thêm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a1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vào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,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lưu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biến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hiện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tại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cuối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cùng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là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last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for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=2,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&lt;=n;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++: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nếu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a[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]-last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≥</m:t>
                    </m:r>
                    <m:r>
                      <a:rPr lang="vi-VN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thì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thêm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được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vào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tập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con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và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cập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nhật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last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ngược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lại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bỏ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qua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con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đủ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thành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viên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thì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chứng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tỏ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d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là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thoả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mãn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. In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ra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d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Độ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phức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tạp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: O(n</a:t>
                </a:r>
                <a:r>
                  <a:rPr lang="en-US" baseline="30000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2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None/>
                </a:pP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7FEB384F-2347-987A-384A-25EE027FA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  <a:blipFill>
                <a:blip r:embed="rId2"/>
                <a:stretch>
                  <a:fillRect l="-325" t="-13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768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2C0C-C004-FD78-B30F-50CE6D82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8808-25D2-BA50-9EE1-164C1EEB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Max-distance sub-sequence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838B0-5E3F-5113-57E2-8765F27C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B897C455-3735-0964-4FDE-04CE243CE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Sắp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xếp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dãy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số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baseline="-25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1</a:t>
                </a: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,…, </a:t>
                </a:r>
                <a:r>
                  <a:rPr lang="en-US" i="1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a</a:t>
                </a:r>
                <a:r>
                  <a:rPr lang="en-US" i="1" baseline="-250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tăng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dần</a:t>
                </a: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Khoảng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cách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lớn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nhất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có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thể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đạt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được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−1</m:t>
                        </m:r>
                      </m:den>
                    </m:f>
                  </m:oMath>
                </a14:m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Duyệt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từ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d</m:t>
                    </m:r>
                    <m:r>
                      <a:rPr lang="vi-VN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vi-VN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𝑐</m:t>
                        </m:r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  <a:sym typeface="Arial"/>
                          </a:rPr>
                          <m:t>−1</m:t>
                        </m:r>
                      </m:den>
                    </m:f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down to 1: </a:t>
                </a:r>
                <a:r>
                  <a:rPr lang="vi-VN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có thể cải tiến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vi-VN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Tìm kiếm nhị phân cho số d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Complexity: O(n</a:t>
                </a:r>
                <a:r>
                  <a:rPr lang="en-US" baseline="30000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 </a:t>
                </a:r>
                <a:r>
                  <a:rPr lang="en-US" dirty="0">
                    <a:solidFill>
                      <a:schemeClr val="dk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log n)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>
                    <a:schemeClr val="dk1"/>
                  </a:buClr>
                  <a:buSzPts val="1800"/>
                  <a:buNone/>
                </a:pPr>
                <a:endParaRPr lang="en-US" dirty="0">
                  <a:solidFill>
                    <a:schemeClr val="dk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B897C455-3735-0964-4FDE-04CE243CE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7" y="1073425"/>
                <a:ext cx="11705254" cy="4617691"/>
              </a:xfrm>
              <a:prstGeom prst="rect">
                <a:avLst/>
              </a:prstGeom>
              <a:blipFill>
                <a:blip r:embed="rId2"/>
                <a:stretch>
                  <a:fillRect l="-325" t="-137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033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6875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152AE3-051B-4231-AF85-18E47D4E2854}"/>
</file>

<file path=customXml/itemProps2.xml><?xml version="1.0" encoding="utf-8"?>
<ds:datastoreItem xmlns:ds="http://schemas.openxmlformats.org/officeDocument/2006/customXml" ds:itemID="{38F6FF27-F3BB-4A40-A57F-70C5A220E417}"/>
</file>

<file path=customXml/itemProps3.xml><?xml version="1.0" encoding="utf-8"?>
<ds:datastoreItem xmlns:ds="http://schemas.openxmlformats.org/officeDocument/2006/customXml" ds:itemID="{4B94176E-F6AF-46B8-BE38-D7DAEECC32F2}"/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253</Words>
  <Application>Microsoft Office PowerPoint</Application>
  <PresentationFormat>Màn hình rộng</PresentationFormat>
  <Paragraphs>38</Paragraphs>
  <Slides>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Max-distance sub-sequence</vt:lpstr>
      <vt:lpstr>Max-distance sub-sequence</vt:lpstr>
      <vt:lpstr>Max-distance sub-sequence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3</cp:revision>
  <dcterms:created xsi:type="dcterms:W3CDTF">2025-09-17T03:18:09Z</dcterms:created>
  <dcterms:modified xsi:type="dcterms:W3CDTF">2025-09-17T03:56:52Z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