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8" r:id="rId4"/>
    <p:sldId id="269" r:id="rId5"/>
    <p:sldId id="270" r:id="rId6"/>
    <p:sldId id="272" r:id="rId7"/>
    <p:sldId id="27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029D2AC-22B0-31A8-BD43-B32790A4D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74E8569-E168-1A51-A000-7877AF22A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888AB93-BF59-3E67-5E8D-7BE69E09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63EF91C-469C-0375-7B12-BA0E1129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FE6AD3B-351B-7174-7B04-5C6AA1B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80E2C3-D09E-3EF2-BB0D-09620DB4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69457D-9D70-1DE5-50E9-4A0DD4C23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A3F0B83-F879-3737-D954-492EF163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BB797D-97B8-A739-38B5-9207B866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1F49563-F3CC-7CDC-63AE-8344138F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6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41B92E8-897B-179E-A8CB-C1ECFD18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BC8FF0-CBA9-659D-775E-F0A1A3F04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AEC5770-DC72-DF2D-020E-2648866F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FB97F72-487B-A64A-1259-6108EF2F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457A90B-030F-4998-5F24-E789FEC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EF11BE-8A8E-6D7D-DF52-202FC814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A56F174-6BCD-D3FF-21DA-35C9AFA1D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1A8D8B5-78F4-9E91-91FF-F1561836F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AD50317-6598-CCC2-D294-9BF4C287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A2C3697-B3FF-F7FF-C1E0-B8D5606D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8BED908-4FC6-A88D-4268-3BFAAA8D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7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E399A7A-D800-DDAD-4921-4C1D2E54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87314A8-A3E7-BC05-B168-827D891B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A74EB46-E47A-B0BE-4C69-1C82D8C74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3764DF6-B066-2794-A34A-02BF424FF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D5C3D18A-0780-9237-FFC8-CD88AF773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07B0020-63C4-1F11-E88E-965AE7ED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7B401A07-2BC6-7545-294A-C5DBAFF6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7ADFAB1-7B14-CC5D-AF40-468CE30A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3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38E25B-24EB-5B7F-E004-7CD816B7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2C83539-000C-701C-EF6B-4182309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64CAA99-5F4D-DE96-4CEF-27CC5951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86DE912-BB85-B9FA-1ABC-81376CB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6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B40E82-BE8D-3C1D-4B9D-15A70593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965CF90-C351-7F40-FBD4-A4EC6C8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EAC0884-D70D-C9BA-8B14-5C279883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2D043A7-6A48-351E-E961-7CEE1CFB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DDBDD82-9553-B809-35DF-DDEE885E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7D6E4C8-9382-3B81-C164-C590A12E9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49E0CB2-2983-ACE3-7593-D356489B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E41B24E-B1F2-F570-5991-0360154B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8A600D2-0294-4A72-AEC9-BCDFA0FA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6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DAF8-A7B8-C2D5-4380-E069F297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ADF64A41-8269-B3CF-2E93-BBDC2352F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717CDF1-5071-2F97-4230-169E7F6E0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67BF668-F9E9-E621-9311-8E573094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27FB022-1723-0A84-62B3-C00C69A5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75FD616-CAA0-2A60-2864-F9B29F6A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1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B9A2246-6210-685E-1A2F-CDFC1F9F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FE32D6F-7203-C943-E0A6-C4BAE275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55E5B44-74F4-74EF-A29F-208FAD74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0F8C5C7-62F7-15AC-AD55-A8BC2F83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E830EA8-3167-319C-47CE-98C32EF7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6FD8466-C0FC-452F-E533-1EAC82F04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0B06DB-29E2-B363-88EC-17D6D7FF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7A789D-4CB5-DC4A-D687-1B7901D6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228852D-0DFE-EA84-C789-F8291002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C7E4F69-A643-5719-B2B0-48CD5832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99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07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874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6297E31-26DD-33D1-96F9-ADE4F4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EBB2F17-E73D-2A49-150E-0A717840D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8AAB2B-08A6-7C24-6E54-F97CD2DF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DB09AB4-0B79-73A6-CC0C-0E2E384F4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773AF8A-1C3D-7CFB-1BC6-EC9C548A6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3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59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Gold mining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1F17D-AF36-42FD-3BC7-FFD7A040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E113-B690-C686-B041-191ACAFB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0686F4-0B48-50BD-AB7D-E6FC457934E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Có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vàng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endParaRPr lang="en-US" dirty="0"/>
              </a:p>
              <a:p>
                <a:pPr lvl="1"/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có lượng vàng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ở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trí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Objective: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vàng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Constraint:</a:t>
                </a:r>
                <a:r>
                  <a:rPr lang="en-US" dirty="0"/>
                  <a:t> </a:t>
                </a:r>
                <a:r>
                  <a:rPr lang="en-US" dirty="0" err="1"/>
                  <a:t>khoảng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2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liền</a:t>
                </a:r>
                <a:r>
                  <a:rPr lang="en-US" dirty="0"/>
                  <a:t> </a:t>
                </a:r>
                <a:r>
                  <a:rPr lang="en-US" dirty="0" err="1"/>
                  <a:t>kề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Output: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vàng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được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Example: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</a:p>
              <a:p>
                <a:pPr marL="0" indent="0">
                  <a:buNone/>
                </a:pPr>
                <a:r>
                  <a:rPr lang="en-US" sz="2400" dirty="0"/>
                  <a:t>						explain: 3+9+7=19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0686F4-0B48-50BD-AB7D-E6FC45793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53" t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9FD64-3016-96CF-AEE0-A09FC334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close-up of numbers&#10;&#10;AI-generated content may be incorrect.">
            <a:extLst>
              <a:ext uri="{FF2B5EF4-FFF2-40B4-BE49-F238E27FC236}">
                <a16:creationId xmlns:a16="http://schemas.microsoft.com/office/drawing/2014/main" id="{8243BCE6-9AC7-F196-45CD-E4DF9157F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764" y="4010591"/>
            <a:ext cx="1872554" cy="1616310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0E0D23B-4CFC-AA68-029D-073DCB2D5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544" y="4010591"/>
            <a:ext cx="1872553" cy="114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50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1F14-015F-24CD-C922-B9CFF2A7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070B-57A9-E874-C7E4-783FA8D3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DE0E5-CF7A-5DD0-C6A8-7D9D7598B76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Idea to solve #1: </a:t>
                </a:r>
                <a:r>
                  <a:rPr lang="en-US" dirty="0"/>
                  <a:t>Backtracking and Branch and bound</a:t>
                </a:r>
              </a:p>
              <a:p>
                <a:pPr lvl="1"/>
                <a:r>
                  <a:rPr lang="vi-VN" dirty="0"/>
                  <a:t>Duyệt hết tất cả các trường hợp chọn các nhà kho khác nhau.</a:t>
                </a:r>
              </a:p>
              <a:p>
                <a:pPr lvl="2"/>
                <a:r>
                  <a:rPr lang="vi-VN" dirty="0"/>
                  <a:t>Với mỗi trường hợp, kiểm tra xem 2 nhà kho liên tiếp có khoảng cách nằm trong khoảng [L1, L2] hay không, nếu tất cả các nhà kho đều thỏa mãn thì cập nhật tổng lượng vàng.</a:t>
                </a:r>
              </a:p>
              <a:p>
                <a:pPr lvl="1"/>
                <a:r>
                  <a:rPr lang="vi-VN" dirty="0"/>
                  <a:t>Độ phức tạp: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vi-VN" b="0" dirty="0"/>
              </a:p>
              <a:p>
                <a:pPr lvl="1"/>
                <a:r>
                  <a:rPr lang="vi-VN" dirty="0"/>
                  <a:t>Có thể thực hiện một số biện pháp nhánh cận như:</a:t>
                </a:r>
              </a:p>
              <a:p>
                <a:pPr lvl="2"/>
                <a:r>
                  <a:rPr lang="vi-VN" dirty="0"/>
                  <a:t>Khi đang xét đến nhà kho thứ i, chỉ xét các nhà kho trong đoạn [i + L1, i + L2].</a:t>
                </a:r>
              </a:p>
              <a:p>
                <a:pPr lvl="2"/>
                <a:r>
                  <a:rPr lang="vi-VN" dirty="0"/>
                  <a:t>Nhánh cận theo hàm mục tiêu</a:t>
                </a:r>
              </a:p>
              <a:p>
                <a:pPr lvl="2"/>
                <a:r>
                  <a:rPr lang="vi-VN" dirty="0"/>
                  <a:t>vẫn rất tốn kém tài nguyên và không pass full testcases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DE0E5-CF7A-5DD0-C6A8-7D9D7598B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34FF5-3581-41FE-E19E-0DAF55D8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38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40F8-9628-2F65-ED34-C58C0ABBD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D030-3F91-C1AA-0719-73725A21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304CB-105D-7183-56D3-514B3ABF994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Idea to solve #</a:t>
                </a:r>
                <a:r>
                  <a:rPr lang="vi-VN" b="1" dirty="0">
                    <a:solidFill>
                      <a:srgbClr val="C00000"/>
                    </a:solidFill>
                  </a:rPr>
                  <a:t>2: </a:t>
                </a:r>
                <a:r>
                  <a:rPr lang="vi-VN" dirty="0"/>
                  <a:t>Dynamic programming: Giả sử nhà kho i được chọn</a:t>
                </a:r>
              </a:p>
              <a:p>
                <a:pPr lvl="1"/>
                <a:r>
                  <a:rPr lang="en-US" dirty="0" err="1"/>
                  <a:t>Gọi</a:t>
                </a:r>
                <a:r>
                  <a:rPr lang="en-US" dirty="0"/>
                  <a:t> F[</a:t>
                </a:r>
                <a:r>
                  <a:rPr lang="en-US" dirty="0" err="1"/>
                  <a:t>i</a:t>
                </a:r>
                <a:r>
                  <a:rPr lang="en-US" dirty="0"/>
                  <a:t>]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vàng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1 </a:t>
                </a:r>
                <a:r>
                  <a:rPr lang="en-US" dirty="0" err="1"/>
                  <a:t>đến</a:t>
                </a:r>
                <a:r>
                  <a:rPr lang="en-US" dirty="0"/>
                  <a:t> i-1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thứ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 được </a:t>
                </a:r>
                <a:r>
                  <a:rPr lang="en-US" dirty="0" err="1"/>
                  <a:t>chọn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: F[</a:t>
                </a:r>
                <a:r>
                  <a:rPr lang="en-US" dirty="0" err="1"/>
                  <a:t>i</a:t>
                </a:r>
                <a:r>
                  <a:rPr lang="en-US" dirty="0"/>
                  <a:t>] = a[</a:t>
                </a:r>
                <a:r>
                  <a:rPr lang="en-US" dirty="0" err="1"/>
                  <a:t>i</a:t>
                </a:r>
                <a:r>
                  <a:rPr lang="en-US" dirty="0"/>
                  <a:t>].</a:t>
                </a:r>
              </a:p>
              <a:p>
                <a:pPr lvl="1"/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: 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2,   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0"/>
                  </a:spcBef>
                  <a:buFontTx/>
                  <a:buChar char="-"/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 err="1"/>
                  <a:t>Kết</a:t>
                </a:r>
                <a:r>
                  <a:rPr lang="en-US" dirty="0"/>
                  <a:t> </a:t>
                </a:r>
                <a:r>
                  <a:rPr lang="en-US" dirty="0" err="1"/>
                  <a:t>quả</a:t>
                </a:r>
                <a:r>
                  <a:rPr lang="en-US" dirty="0"/>
                  <a:t>:</a:t>
                </a:r>
              </a:p>
              <a:p>
                <a:pPr marL="457200" lvl="1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 marL="457200" lvl="1" indent="0">
                  <a:spcBef>
                    <a:spcPts val="0"/>
                  </a:spcBef>
                  <a:buNone/>
                </a:pPr>
                <a:endParaRPr lang="en-US" sz="2000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: </a:t>
                </a:r>
                <a:r>
                  <a:rPr lang="en-US" sz="20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).</a:t>
                </a:r>
              </a:p>
              <a:p>
                <a:endParaRPr lang="vi-V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3304CB-105D-7183-56D3-514B3ABF9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0AED7-04F3-6F38-FC8B-42A50052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0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C8510-5E31-ED8F-524D-5A1C377B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105B-BB8B-839B-5D08-2B671D64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80132-F9C1-2B82-A27E-3BD6032772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Idea to solve #</a:t>
            </a:r>
            <a:r>
              <a:rPr lang="vi-VN" b="1" dirty="0">
                <a:solidFill>
                  <a:srgbClr val="C00000"/>
                </a:solidFill>
              </a:rPr>
              <a:t>3: </a:t>
            </a:r>
            <a:r>
              <a:rPr lang="vi-VN" dirty="0"/>
              <a:t>Dynamic programming</a:t>
            </a:r>
            <a:r>
              <a:rPr lang="en-VN" dirty="0"/>
              <a:t> with priority queue</a:t>
            </a:r>
          </a:p>
          <a:p>
            <a:pPr lvl="1"/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: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ở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cao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. </a:t>
            </a:r>
          </a:p>
          <a:p>
            <a:pPr lvl="1"/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: </a:t>
            </a:r>
          </a:p>
          <a:p>
            <a:pPr lvl="2"/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cặp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(j, F[j]).</a:t>
            </a:r>
          </a:p>
          <a:p>
            <a:pPr lvl="2"/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F[j]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ở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.</a:t>
            </a:r>
          </a:p>
          <a:p>
            <a:pPr lvl="2"/>
            <a:r>
              <a:rPr lang="en-US" sz="2400" dirty="0"/>
              <a:t>Khi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kho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,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cặp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(</a:t>
            </a:r>
            <a:r>
              <a:rPr lang="en-US" sz="2400" dirty="0" err="1"/>
              <a:t>i</a:t>
            </a:r>
            <a:r>
              <a:rPr lang="en-US" sz="2400" dirty="0"/>
              <a:t> – L1, F[</a:t>
            </a:r>
            <a:r>
              <a:rPr lang="en-US" sz="2400" dirty="0" err="1"/>
              <a:t>i</a:t>
            </a:r>
            <a:r>
              <a:rPr lang="en-US" sz="2400" dirty="0"/>
              <a:t> – L1])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.</a:t>
            </a:r>
          </a:p>
          <a:p>
            <a:pPr lvl="2"/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top </a:t>
            </a:r>
            <a:r>
              <a:rPr lang="en-US" sz="2400" dirty="0" err="1"/>
              <a:t>ở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– </a:t>
            </a:r>
            <a:r>
              <a:rPr lang="en-US" sz="2400" dirty="0" err="1"/>
              <a:t>i.top</a:t>
            </a:r>
            <a:r>
              <a:rPr lang="en-US" sz="2400" dirty="0"/>
              <a:t> &gt; L2.</a:t>
            </a:r>
          </a:p>
          <a:p>
            <a:pPr lvl="2"/>
            <a:r>
              <a:rPr lang="en-US" sz="2400" dirty="0"/>
              <a:t>F[</a:t>
            </a:r>
            <a:r>
              <a:rPr lang="en-US" sz="2400" dirty="0" err="1"/>
              <a:t>i</a:t>
            </a:r>
            <a:r>
              <a:rPr lang="en-US" sz="2400" dirty="0"/>
              <a:t>] = a[</a:t>
            </a:r>
            <a:r>
              <a:rPr lang="en-US" sz="2400" dirty="0" err="1"/>
              <a:t>i</a:t>
            </a:r>
            <a:r>
              <a:rPr lang="en-US" sz="2400" dirty="0"/>
              <a:t>] + </a:t>
            </a:r>
            <a:r>
              <a:rPr lang="en-US" sz="2400" dirty="0" err="1"/>
              <a:t>F.top</a:t>
            </a:r>
            <a:r>
              <a:rPr lang="en-US" sz="2400" dirty="0"/>
              <a:t>.</a:t>
            </a:r>
          </a:p>
          <a:p>
            <a:pPr lvl="1"/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: O(n*log(n)).</a:t>
            </a:r>
          </a:p>
          <a:p>
            <a:endParaRPr lang="vi-V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7DFAA-E50F-DDCB-78E5-8006B4C9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8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A209-7425-E9CA-5136-1F7CC8BB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2A68-15B3-9AD8-EAEF-BAFACD63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Gold mining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B15B22-AA14-6B0A-9E3C-C566240809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Idea to solve #</a:t>
                </a:r>
                <a:r>
                  <a:rPr lang="vi-VN" b="1" dirty="0">
                    <a:solidFill>
                      <a:srgbClr val="C00000"/>
                    </a:solidFill>
                  </a:rPr>
                  <a:t>4: </a:t>
                </a:r>
                <a:r>
                  <a:rPr lang="vi-VN" dirty="0"/>
                  <a:t>Dynamic programming</a:t>
                </a:r>
                <a:r>
                  <a:rPr lang="en-VN" dirty="0"/>
                  <a:t> with dequeue</a:t>
                </a:r>
              </a:p>
              <a:p>
                <a:pPr lvl="1"/>
                <a:r>
                  <a:rPr lang="en-US" sz="2400" dirty="0" err="1"/>
                  <a:t>Hàng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đợi</a:t>
                </a:r>
                <a:r>
                  <a:rPr lang="en-US" sz="2400" dirty="0"/>
                  <a:t> 2 </a:t>
                </a:r>
                <a:r>
                  <a:rPr lang="en-US" sz="2400" dirty="0" err="1"/>
                  <a:t>đầu</a:t>
                </a:r>
                <a:r>
                  <a:rPr lang="en-US" sz="2400" dirty="0"/>
                  <a:t> (dequeue)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cấu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trúc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dữ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liệu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giữa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ngăn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xếp</a:t>
                </a:r>
                <a:r>
                  <a:rPr lang="en-US" sz="2400" dirty="0"/>
                  <a:t> -&gt;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đều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có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thể</a:t>
                </a:r>
                <a:r>
                  <a:rPr lang="en-US" sz="2400" dirty="0"/>
                  <a:t> được </a:t>
                </a:r>
                <a:r>
                  <a:rPr lang="en-US" sz="2400" dirty="0" err="1"/>
                  <a:t>thêm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lấy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ở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đầu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ở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cuối</a:t>
                </a:r>
                <a:r>
                  <a:rPr lang="en-US" sz="2400" dirty="0"/>
                  <a:t> dequeue.</a:t>
                </a:r>
              </a:p>
              <a:p>
                <a:pPr lvl="1"/>
                <a:r>
                  <a:rPr lang="en-US" sz="2400" dirty="0"/>
                  <a:t>Thao </a:t>
                </a:r>
                <a:r>
                  <a:rPr lang="en-US" sz="2400" dirty="0" err="1"/>
                  <a:t>tác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push_back</a:t>
                </a:r>
                <a:r>
                  <a:rPr lang="en-US" sz="2400" dirty="0"/>
                  <a:t>(), </a:t>
                </a:r>
                <a:r>
                  <a:rPr lang="en-US" sz="2400" dirty="0" err="1"/>
                  <a:t>push_front</a:t>
                </a:r>
                <a:r>
                  <a:rPr lang="en-US" sz="2400" dirty="0"/>
                  <a:t>(), </a:t>
                </a:r>
                <a:r>
                  <a:rPr lang="en-US" sz="2400" dirty="0" err="1"/>
                  <a:t>pop_back</a:t>
                </a:r>
                <a:r>
                  <a:rPr lang="en-US" sz="2400" dirty="0"/>
                  <a:t>(), </a:t>
                </a:r>
                <a:r>
                  <a:rPr lang="en-US" sz="2400" dirty="0" err="1"/>
                  <a:t>pop_front</a:t>
                </a:r>
                <a:r>
                  <a:rPr lang="en-US" sz="2400" dirty="0"/>
                  <a:t>()</a:t>
                </a:r>
                <a:endParaRPr lang="en-US" dirty="0"/>
              </a:p>
              <a:p>
                <a:pPr lvl="1"/>
                <a:r>
                  <a:rPr lang="en-US" dirty="0" err="1"/>
                  <a:t>Cải</a:t>
                </a:r>
                <a:r>
                  <a:rPr lang="en-US" dirty="0"/>
                  <a:t> </a:t>
                </a:r>
                <a:r>
                  <a:rPr lang="en-US" dirty="0" err="1"/>
                  <a:t>tiến</a:t>
                </a:r>
                <a:r>
                  <a:rPr lang="en-US" dirty="0"/>
                  <a:t>: </a:t>
                </a:r>
                <a:r>
                  <a:rPr lang="en-US" sz="2400" dirty="0"/>
                  <a:t>Các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có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dạng</a:t>
                </a:r>
                <a:r>
                  <a:rPr lang="en-US" sz="2400" dirty="0"/>
                  <a:t> (x, F[x]). </a:t>
                </a:r>
                <a:r>
                  <a:rPr lang="en-US" sz="2400" dirty="0" err="1"/>
                  <a:t>Duyệt</a:t>
                </a:r>
                <a:r>
                  <a:rPr lang="en-US" sz="2400" dirty="0"/>
                  <a:t>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</a:t>
                </a:r>
                <a:r>
                  <a:rPr lang="en-US" sz="2400" dirty="0" err="1"/>
                  <a:t>theo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thứ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tự</a:t>
                </a:r>
                <a:r>
                  <a:rPr lang="en-US" sz="2400" dirty="0"/>
                  <a:t>.</a:t>
                </a:r>
              </a:p>
              <a:p>
                <a:pPr lvl="2"/>
                <a:r>
                  <a:rPr lang="en-US" sz="2400" dirty="0" err="1"/>
                  <a:t>Xóa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j </a:t>
                </a:r>
                <a:r>
                  <a:rPr lang="en-US" sz="2400" dirty="0" err="1"/>
                  <a:t>mà</a:t>
                </a:r>
                <a:r>
                  <a:rPr lang="en-US" sz="2400" dirty="0"/>
                  <a:t> F[j]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đợi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thêm</a:t>
                </a:r>
                <a:r>
                  <a:rPr lang="en-US" sz="2400" dirty="0"/>
                  <a:t> 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L1] </a:t>
                </a:r>
                <a:r>
                  <a:rPr lang="en-US" sz="2400" dirty="0" err="1"/>
                  <a:t>vào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đợi</a:t>
                </a:r>
                <a:r>
                  <a:rPr lang="en-US" sz="2400" dirty="0"/>
                  <a:t>.</a:t>
                </a:r>
              </a:p>
              <a:p>
                <a:pPr lvl="2"/>
                <a:r>
                  <a:rPr lang="en-US" sz="2400" dirty="0" err="1"/>
                  <a:t>Xóa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đầu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tiên</a:t>
                </a:r>
                <a:r>
                  <a:rPr lang="en-US" sz="2400" dirty="0"/>
                  <a:t> top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đến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khi</a:t>
                </a:r>
                <a:r>
                  <a:rPr lang="en-US" sz="2400" dirty="0"/>
                  <a:t> top &gt;=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– L2.</a:t>
                </a:r>
              </a:p>
              <a:p>
                <a:pPr lvl="2"/>
                <a:r>
                  <a:rPr lang="en-US" sz="2400" dirty="0"/>
                  <a:t>F[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= F[top] +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].</a:t>
                </a:r>
              </a:p>
              <a:p>
                <a:pPr lvl="1"/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phức</a:t>
                </a:r>
                <a:r>
                  <a:rPr lang="en-US" dirty="0"/>
                  <a:t> </a:t>
                </a:r>
                <a:r>
                  <a:rPr lang="en-US" dirty="0" err="1"/>
                  <a:t>tạp</a:t>
                </a:r>
                <a:r>
                  <a:rPr lang="en-US" dirty="0"/>
                  <a:t>: O(n).</a:t>
                </a:r>
              </a:p>
              <a:p>
                <a:endParaRPr lang="vi-V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B15B22-AA14-6B0A-9E3C-C56624080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81" t="-2326" r="-22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2F23C-32C3-0BFF-95F8-4B82585F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49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194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6DCDC7-F9FF-4ADA-91FA-6F5EFFD8FAD4}"/>
</file>

<file path=customXml/itemProps2.xml><?xml version="1.0" encoding="utf-8"?>
<ds:datastoreItem xmlns:ds="http://schemas.openxmlformats.org/officeDocument/2006/customXml" ds:itemID="{CDEC7202-1438-406E-A04C-E9A5318D3166}"/>
</file>

<file path=customXml/itemProps3.xml><?xml version="1.0" encoding="utf-8"?>
<ds:datastoreItem xmlns:ds="http://schemas.openxmlformats.org/officeDocument/2006/customXml" ds:itemID="{7E5F3C47-B640-46CA-9412-9D3FDDD4EFD9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631</Words>
  <Application>Microsoft Office PowerPoint</Application>
  <PresentationFormat>Màn hình rộng</PresentationFormat>
  <Paragraphs>60</Paragraphs>
  <Slides>8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Gold mining</vt:lpstr>
      <vt:lpstr>Gold mining</vt:lpstr>
      <vt:lpstr>Gold mining</vt:lpstr>
      <vt:lpstr>Gold mining</vt:lpstr>
      <vt:lpstr>Gold mining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3</cp:revision>
  <dcterms:created xsi:type="dcterms:W3CDTF">2025-09-17T03:46:07Z</dcterms:created>
  <dcterms:modified xsi:type="dcterms:W3CDTF">2025-09-17T03:54:13Z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