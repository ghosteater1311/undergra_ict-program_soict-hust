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0" r:id="rId4"/>
    <p:sldId id="266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029D2AC-22B0-31A8-BD43-B32790A4D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D74E8569-E168-1A51-A000-7877AF22A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888AB93-BF59-3E67-5E8D-7BE69E09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63EF91C-469C-0375-7B12-BA0E1129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FE6AD3B-351B-7174-7B04-5C6AA1B0F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80E2C3-D09E-3EF2-BB0D-09620DB4A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A969457D-9D70-1DE5-50E9-4A0DD4C23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A3F0B83-F879-3737-D954-492EF163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3BB797D-97B8-A739-38B5-9207B866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1F49563-F3CC-7CDC-63AE-8344138F9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66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41B92E8-897B-179E-A8CB-C1ECFD183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BC8FF0-CBA9-659D-775E-F0A1A3F04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AEC5770-DC72-DF2D-020E-2648866FD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FB97F72-487B-A64A-1259-6108EF2F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457A90B-030F-4998-5F24-E789FEC2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3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0EF11BE-8A8E-6D7D-DF52-202FC814C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A56F174-6BCD-D3FF-21DA-35C9AFA1D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1A8D8B5-78F4-9E91-91FF-F1561836F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AD50317-6598-CCC2-D294-9BF4C287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A2C3697-B3FF-F7FF-C1E0-B8D5606D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8BED908-4FC6-A88D-4268-3BFAAA8D4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70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E399A7A-D800-DDAD-4921-4C1D2E54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787314A8-A3E7-BC05-B168-827D891B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8A74EB46-E47A-B0BE-4C69-1C82D8C74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A3764DF6-B066-2794-A34A-02BF424FF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D5C3D18A-0780-9237-FFC8-CD88AF773B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007B0020-63C4-1F11-E88E-965AE7ED9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7B401A07-2BC6-7545-294A-C5DBAFF63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07ADFAB1-7B14-CC5D-AF40-468CE30A4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38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F38E25B-24EB-5B7F-E004-7CD816B7C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02C83539-000C-701C-EF6B-41823091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64CAA99-5F4D-DE96-4CEF-27CC59511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D86DE912-BB85-B9FA-1ABC-81376CBD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67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5B40E82-BE8D-3C1D-4B9D-15A705932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8965CF90-C351-7F40-FBD4-A4EC6C87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EAC0884-D70D-C9BA-8B14-5C2798839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2D043A7-6A48-351E-E961-7CEE1CFBB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CDDBDD82-9553-B809-35DF-DDEE885EC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97D6E4C8-9382-3B81-C164-C590A12E9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49E0CB2-2983-ACE3-7593-D356489B3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3E41B24E-B1F2-F570-5991-0360154B7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A8A600D2-0294-4A72-AEC9-BCDFA0FA8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68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CA3DAF8-A7B8-C2D5-4380-E069F2974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ADF64A41-8269-B3CF-2E93-BBDC2352F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717CDF1-5071-2F97-4230-169E7F6E0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67BF668-F9E9-E621-9311-8E573094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27FB022-1723-0A84-62B3-C00C69A50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275FD616-CAA0-2A60-2864-F9B29F6A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15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B9A2246-6210-685E-1A2F-CDFC1F9FA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1FE32D6F-7203-C943-E0A6-C4BAE2757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55E5B44-74F4-74EF-A29F-208FAD74E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0F8C5C7-62F7-15AC-AD55-A8BC2F83F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E830EA8-3167-319C-47CE-98C32EF7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70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D6FD8466-C0FC-452F-E533-1EAC82F04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630B06DB-29E2-B363-88EC-17D6D7FF0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7A789D-4CB5-DC4A-D687-1B7901D6B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228852D-0DFE-EA84-C789-F8291002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C7E4F69-A643-5719-B2B0-48CD5832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5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996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07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9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456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B6297E31-26DD-33D1-96F9-ADE4F4332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7EBB2F17-E73D-2A49-150E-0A717840D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D8AAB2B-08A6-7C24-6E54-F97CD2DFEF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EDB09AB4-0B79-73A6-CC0C-0E2E384F4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773AF8A-1C3D-7CFB-1BC6-EC9C548A6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3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598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Max even Sub-sequence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37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 even sub-sequence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73E091-9DCD-4DE7-96D1-A93E44E0F5B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800" b="0" i="0" dirty="0">
                    <a:effectLst/>
                  </a:rPr>
                  <a:t>Một </a:t>
                </a:r>
                <a:r>
                  <a:rPr lang="en-US" dirty="0" err="1"/>
                  <a:t>dãy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n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nguyên</a:t>
                </a:r>
                <a14:m>
                  <m:oMath xmlns:m="http://schemas.openxmlformats.org/officeDocument/2006/math">
                    <m:r>
                      <a:rPr lang="vi-VN" sz="2800" b="0" i="0" dirty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vi-VN" sz="28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dirty="0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dirty="0" smtClean="0">
                        <a:effectLst/>
                        <a:latin typeface="Cambria Math" panose="02040503050406030204" pitchFamily="18" charset="0"/>
                      </a:rPr>
                      <m:t>, . . ., </m:t>
                    </m:r>
                    <m:sSub>
                      <m:sSubPr>
                        <m:ctrlPr>
                          <a:rPr lang="vi-VN" sz="28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dirty="0" smtClean="0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b="0" i="0" dirty="0">
                    <a:effectLst/>
                  </a:rPr>
                  <a:t>. </a:t>
                </a:r>
              </a:p>
              <a:p>
                <a:r>
                  <a:rPr lang="en-US" sz="2800" b="0" i="0" dirty="0">
                    <a:effectLst/>
                  </a:rPr>
                  <a:t>Định </a:t>
                </a:r>
                <a:r>
                  <a:rPr lang="en-US" sz="2800" b="0" i="0" dirty="0" err="1">
                    <a:effectLst/>
                  </a:rPr>
                  <a:t>nghĩa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dãy</a:t>
                </a:r>
                <a:r>
                  <a:rPr lang="en-US" sz="2800" b="0" i="0" dirty="0">
                    <a:effectLst/>
                  </a:rPr>
                  <a:t> con </a:t>
                </a:r>
                <a:r>
                  <a:rPr lang="en-US" sz="2800" b="0" i="0" dirty="0" err="1">
                    <a:effectLst/>
                  </a:rPr>
                  <a:t>là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chứa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một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số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các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phần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tử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liên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tiếp</a:t>
                </a:r>
                <a:endParaRPr lang="en-US" sz="2800" b="0" i="0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/>
                  <a:t>           </a:t>
                </a:r>
                <a:r>
                  <a:rPr lang="en-US" sz="2800" b="0" i="0" dirty="0">
                    <a:effectLst/>
                  </a:rPr>
                  <a:t>(</a:t>
                </a:r>
                <a:r>
                  <a:rPr lang="en-US" sz="2800" b="0" i="0" dirty="0" err="1">
                    <a:effectLst/>
                  </a:rPr>
                  <a:t>ví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dụ</a:t>
                </a:r>
                <a:r>
                  <a:rPr lang="en-US" sz="2800" b="0" i="0" dirty="0">
                    <a:effectLst/>
                  </a:rPr>
                  <a:t> ai, ai+1, . . . ,</a:t>
                </a:r>
                <a:r>
                  <a:rPr lang="en-US" sz="2800" b="0" i="0" dirty="0" err="1">
                    <a:effectLst/>
                  </a:rPr>
                  <a:t>aj</a:t>
                </a:r>
                <a:r>
                  <a:rPr lang="en-US" sz="2800" b="0" i="0" dirty="0">
                    <a:effectLst/>
                  </a:rPr>
                  <a:t>). </a:t>
                </a:r>
              </a:p>
              <a:p>
                <a:r>
                  <a:rPr lang="en-US" sz="2800" b="0" i="0" dirty="0" err="1">
                    <a:effectLst/>
                  </a:rPr>
                  <a:t>Trọng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số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dãy</a:t>
                </a:r>
                <a:r>
                  <a:rPr lang="en-US" sz="2800" b="0" i="0" dirty="0">
                    <a:effectLst/>
                  </a:rPr>
                  <a:t> con: </a:t>
                </a:r>
                <a:r>
                  <a:rPr lang="en-US" sz="2800" b="0" i="0" dirty="0" err="1">
                    <a:effectLst/>
                  </a:rPr>
                  <a:t>tổng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các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phần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tử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của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dãy</a:t>
                </a:r>
                <a:r>
                  <a:rPr lang="en-US" sz="2800" b="0" i="0" dirty="0">
                    <a:effectLst/>
                  </a:rPr>
                  <a:t> con.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sz="2800" b="0" i="0" dirty="0" err="1">
                    <a:effectLst/>
                  </a:rPr>
                  <a:t>Nếu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trọng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số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là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chẵn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thì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dãy</a:t>
                </a:r>
                <a:r>
                  <a:rPr lang="en-US" sz="2800" b="0" i="0" dirty="0">
                    <a:effectLst/>
                  </a:rPr>
                  <a:t> con được </a:t>
                </a:r>
                <a:r>
                  <a:rPr lang="en-US" sz="2800" b="0" i="0" dirty="0" err="1">
                    <a:effectLst/>
                  </a:rPr>
                  <a:t>gọi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là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dãy</a:t>
                </a:r>
                <a:r>
                  <a:rPr lang="en-US" sz="2800" b="0" i="0" dirty="0">
                    <a:effectLst/>
                  </a:rPr>
                  <a:t> con </a:t>
                </a:r>
                <a:r>
                  <a:rPr lang="en-US" sz="2800" b="0" i="0" dirty="0" err="1">
                    <a:effectLst/>
                  </a:rPr>
                  <a:t>chẵn</a:t>
                </a:r>
                <a:r>
                  <a:rPr lang="en-US" sz="2800" b="0" i="0" dirty="0">
                    <a:effectLst/>
                  </a:rPr>
                  <a:t>. </a:t>
                </a:r>
              </a:p>
              <a:p>
                <a:r>
                  <a:rPr lang="en-US" sz="2800" b="0" i="0" dirty="0" err="1">
                    <a:effectLst/>
                  </a:rPr>
                  <a:t>Tìm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dãy</a:t>
                </a:r>
                <a:r>
                  <a:rPr lang="en-US" sz="2800" b="0" i="0" dirty="0">
                    <a:effectLst/>
                  </a:rPr>
                  <a:t> con </a:t>
                </a:r>
                <a:r>
                  <a:rPr lang="en-US" sz="2800" b="0" i="0" dirty="0" err="1">
                    <a:effectLst/>
                  </a:rPr>
                  <a:t>chẵn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có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trọng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số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lớn</a:t>
                </a:r>
                <a:r>
                  <a:rPr lang="en-US" sz="2800" b="0" i="0" dirty="0">
                    <a:effectLst/>
                  </a:rPr>
                  <a:t> </a:t>
                </a:r>
                <a:r>
                  <a:rPr lang="en-US" sz="2800" b="0" i="0" dirty="0" err="1">
                    <a:effectLst/>
                  </a:rPr>
                  <a:t>nhất</a:t>
                </a:r>
                <a:endParaRPr lang="en-US" sz="2800" b="0" i="0" dirty="0">
                  <a:effectLst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73E091-9DCD-4DE7-96D1-A93E44E0F5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881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CA6AEF-4E08-74D9-81F3-4F4BFA76B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073"/>
          <a:stretch/>
        </p:blipFill>
        <p:spPr>
          <a:xfrm>
            <a:off x="2291826" y="4186766"/>
            <a:ext cx="2197100" cy="1152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BA0156-CF27-F097-41E5-7B55BE643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27"/>
          <a:stretch/>
        </p:blipFill>
        <p:spPr>
          <a:xfrm>
            <a:off x="7072545" y="4472867"/>
            <a:ext cx="2197100" cy="80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51DEE-5A7E-52B0-D679-8563293CE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55272-891A-5867-974A-2AF16EE7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 even sub-sequence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3B3726-5056-E636-1A21-9FE8A4FB53C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 err="1"/>
                  <a:t>Ý</a:t>
                </a:r>
                <a:r>
                  <a:rPr lang="en-US" dirty="0"/>
                  <a:t> </a:t>
                </a:r>
                <a:r>
                  <a:rPr lang="en-US" dirty="0" err="1"/>
                  <a:t>tưởng</a:t>
                </a:r>
                <a:r>
                  <a:rPr lang="en-US" sz="2800" b="0" i="0" dirty="0">
                    <a:effectLst/>
                  </a:rPr>
                  <a:t>: dynamic programming</a:t>
                </a:r>
              </a:p>
              <a:p>
                <a:r>
                  <a:rPr lang="en-US" sz="2800" dirty="0" err="1"/>
                  <a:t>Tạo</a:t>
                </a:r>
                <a:r>
                  <a:rPr lang="en-US" sz="2800" dirty="0"/>
                  <a:t> </a:t>
                </a:r>
                <a:r>
                  <a:rPr lang="en-US" sz="2800" dirty="0" err="1"/>
                  <a:t>mảng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cộng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dồn</a:t>
                </a:r>
                <a:r>
                  <a:rPr lang="en-US" sz="2800" dirty="0"/>
                  <a:t> S, </a:t>
                </a:r>
                <a:r>
                  <a:rPr lang="en-US" sz="2800" dirty="0" err="1"/>
                  <a:t>với</a:t>
                </a:r>
                <a:r>
                  <a:rPr lang="en-US" sz="2800" dirty="0"/>
                  <a:t> S[</a:t>
                </a:r>
                <a:r>
                  <a:rPr lang="en-US" sz="2800" dirty="0" err="1"/>
                  <a:t>i</a:t>
                </a:r>
                <a:r>
                  <a:rPr lang="en-US" sz="2800" dirty="0"/>
                  <a:t>] </a:t>
                </a:r>
                <a:r>
                  <a:rPr lang="en-US" sz="2800" dirty="0" err="1"/>
                  <a:t>là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tổng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các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phần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tử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từ</a:t>
                </a:r>
                <a:r>
                  <a:rPr lang="en-US" sz="2800" dirty="0"/>
                  <a:t> a[1] </a:t>
                </a:r>
                <a:r>
                  <a:rPr lang="en-US" sz="2800" dirty="0" err="1"/>
                  <a:t>đến</a:t>
                </a:r>
                <a:r>
                  <a:rPr lang="en-US" sz="2800" dirty="0"/>
                  <a:t> a[</a:t>
                </a:r>
                <a:r>
                  <a:rPr lang="en-US" sz="2800" dirty="0" err="1"/>
                  <a:t>i</a:t>
                </a:r>
                <a:r>
                  <a:rPr lang="en-US" sz="2800" dirty="0"/>
                  <a:t>].</a:t>
                </a:r>
              </a:p>
              <a:p>
                <a:pPr lvl="1"/>
                <a:r>
                  <a:rPr lang="en-US" dirty="0" err="1"/>
                  <a:t>Gọi</a:t>
                </a:r>
                <a:r>
                  <a:rPr lang="en-US" dirty="0"/>
                  <a:t> f[</a:t>
                </a:r>
                <a:r>
                  <a:rPr lang="en-US" dirty="0" err="1"/>
                  <a:t>i</a:t>
                </a:r>
                <a:r>
                  <a:rPr lang="en-US" dirty="0"/>
                  <a:t>][0] </a:t>
                </a:r>
                <a:r>
                  <a:rPr lang="en-US" dirty="0" err="1"/>
                  <a:t>là</a:t>
                </a:r>
                <a:r>
                  <a:rPr lang="en-US" dirty="0"/>
                  <a:t> S[j] </a:t>
                </a:r>
                <a:r>
                  <a:rPr lang="en-US" dirty="0" err="1"/>
                  <a:t>bé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1 &lt;= j &lt;= </a:t>
                </a:r>
                <a:r>
                  <a:rPr lang="en-US" dirty="0" err="1"/>
                  <a:t>i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j chia </a:t>
                </a:r>
                <a:r>
                  <a:rPr lang="en-US" dirty="0" err="1"/>
                  <a:t>hết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2.</a:t>
                </a:r>
              </a:p>
              <a:p>
                <a:pPr lvl="1"/>
                <a:r>
                  <a:rPr lang="en-US" sz="2400" dirty="0" err="1"/>
                  <a:t>Gọi</a:t>
                </a:r>
                <a:r>
                  <a:rPr lang="en-US" sz="2400" dirty="0"/>
                  <a:t> f[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][1]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S[j] </a:t>
                </a:r>
                <a:r>
                  <a:rPr lang="en-US" sz="2400" dirty="0" err="1"/>
                  <a:t>bé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nhất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với</a:t>
                </a:r>
                <a:r>
                  <a:rPr lang="en-US" sz="2400" dirty="0"/>
                  <a:t> 1 &lt;= j &lt;=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j </a:t>
                </a:r>
                <a:r>
                  <a:rPr lang="en-US" sz="2400" dirty="0" err="1"/>
                  <a:t>không</a:t>
                </a:r>
                <a:r>
                  <a:rPr lang="en-US" sz="2400" dirty="0"/>
                  <a:t> chia </a:t>
                </a:r>
                <a:r>
                  <a:rPr lang="en-US" sz="2400" dirty="0" err="1"/>
                  <a:t>hết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cho</a:t>
                </a:r>
                <a:r>
                  <a:rPr lang="en-US" sz="2400" dirty="0"/>
                  <a:t> 2.</a:t>
                </a:r>
              </a:p>
              <a:p>
                <a:pPr lvl="1"/>
                <a:r>
                  <a:rPr lang="en-US" dirty="0" err="1"/>
                  <a:t>Công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:</a:t>
                </a:r>
              </a:p>
              <a:p>
                <a:pPr lvl="2"/>
                <a:r>
                  <a:rPr lang="en-US" sz="2400" dirty="0"/>
                  <a:t>f[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][0] = min(S[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], f[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– 2][0]), </a:t>
                </a:r>
                <a:r>
                  <a:rPr lang="en-US" sz="2400" dirty="0" err="1"/>
                  <a:t>với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chia </a:t>
                </a:r>
                <a:r>
                  <a:rPr lang="en-US" sz="2400" dirty="0" err="1"/>
                  <a:t>hết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cho</a:t>
                </a:r>
                <a:r>
                  <a:rPr lang="en-US" sz="2400" dirty="0"/>
                  <a:t> 2;</a:t>
                </a:r>
              </a:p>
              <a:p>
                <a:pPr lvl="2"/>
                <a:r>
                  <a:rPr lang="en-US" sz="2400" dirty="0"/>
                  <a:t>f[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][1] = min(S[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], f[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– 2][1]), </a:t>
                </a:r>
                <a:r>
                  <a:rPr lang="en-US" sz="2400" dirty="0" err="1"/>
                  <a:t>với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không</a:t>
                </a:r>
                <a:r>
                  <a:rPr lang="en-US" sz="2400" dirty="0"/>
                  <a:t> chia </a:t>
                </a:r>
                <a:r>
                  <a:rPr lang="en-US" sz="2400" dirty="0" err="1"/>
                  <a:t>hết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cho</a:t>
                </a:r>
                <a:r>
                  <a:rPr lang="en-US" sz="2400" dirty="0"/>
                  <a:t> 2;</a:t>
                </a:r>
                <a:endParaRPr lang="en-US" sz="2800" dirty="0"/>
              </a:p>
              <a:p>
                <a:r>
                  <a:rPr lang="en-US" dirty="0" err="1"/>
                  <a:t>Kết</a:t>
                </a:r>
                <a:r>
                  <a:rPr lang="en-US" dirty="0"/>
                  <a:t> </a:t>
                </a:r>
                <a:r>
                  <a:rPr lang="en-US" dirty="0" err="1"/>
                  <a:t>quả</a:t>
                </a:r>
                <a:r>
                  <a:rPr lang="en-US" dirty="0"/>
                  <a:t>:</a:t>
                </a:r>
              </a:p>
              <a:p>
                <a:pPr algn="ctr">
                  <a:spcBef>
                    <a:spcPts val="0"/>
                  </a:spcBef>
                  <a:buNone/>
                </a:pPr>
                <a:r>
                  <a:rPr lang="en-US" sz="2800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:1→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%2]</m:t>
                        </m:r>
                      </m:e>
                    </m:fun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>
                  <a:spcBef>
                    <a:spcPts val="0"/>
                  </a:spcBef>
                  <a:buNone/>
                </a:pPr>
                <a:endParaRPr lang="en-US" sz="2800" dirty="0"/>
              </a:p>
              <a:p>
                <a:pPr>
                  <a:spcBef>
                    <a:spcPts val="0"/>
                  </a:spcBef>
                </a:pPr>
                <a:r>
                  <a:rPr lang="en-US" sz="2800" dirty="0" err="1"/>
                  <a:t>Độ</a:t>
                </a:r>
                <a:r>
                  <a:rPr lang="en-US" sz="2800" dirty="0"/>
                  <a:t> </a:t>
                </a:r>
                <a:r>
                  <a:rPr lang="en-US" sz="2800" dirty="0" err="1"/>
                  <a:t>phức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tạp</a:t>
                </a:r>
                <a:r>
                  <a:rPr lang="en-US" sz="2800" dirty="0"/>
                  <a:t>:  O(n).</a:t>
                </a:r>
              </a:p>
              <a:p>
                <a:endParaRPr lang="en-US" sz="2800" b="0" i="0" dirty="0">
                  <a:effectLst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3B3726-5056-E636-1A21-9FE8A4FB5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881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45120-354B-3D5B-E444-CC62E2C61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243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1942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817A1F6-A6CF-43C0-8BD3-13B442514C41}"/>
</file>

<file path=customXml/itemProps2.xml><?xml version="1.0" encoding="utf-8"?>
<ds:datastoreItem xmlns:ds="http://schemas.openxmlformats.org/officeDocument/2006/customXml" ds:itemID="{87F79B17-A41A-4CBA-AAC2-14404D4D52FE}"/>
</file>

<file path=customXml/itemProps3.xml><?xml version="1.0" encoding="utf-8"?>
<ds:datastoreItem xmlns:ds="http://schemas.openxmlformats.org/officeDocument/2006/customXml" ds:itemID="{D2B230CB-3C14-49AA-8859-AA5FBF6976B7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260</Words>
  <Application>Microsoft Office PowerPoint</Application>
  <PresentationFormat>Màn hình rộng</PresentationFormat>
  <Paragraphs>26</Paragraphs>
  <Slides>5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Lato</vt:lpstr>
      <vt:lpstr>Times New Roman</vt:lpstr>
      <vt:lpstr>Chủ đề Office</vt:lpstr>
      <vt:lpstr>Bản trình bày PowerPoint</vt:lpstr>
      <vt:lpstr>Bản trình bày PowerPoint</vt:lpstr>
      <vt:lpstr>Max even sub-sequence</vt:lpstr>
      <vt:lpstr>Max even sub-sequence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2</cp:revision>
  <dcterms:created xsi:type="dcterms:W3CDTF">2025-09-17T03:46:07Z</dcterms:created>
  <dcterms:modified xsi:type="dcterms:W3CDTF">2025-09-17T03:50:18Z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