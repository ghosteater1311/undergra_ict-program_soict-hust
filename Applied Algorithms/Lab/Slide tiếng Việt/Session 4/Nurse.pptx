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78" r:id="rId4"/>
    <p:sldId id="279" r:id="rId5"/>
    <p:sldId id="28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029D2AC-22B0-31A8-BD43-B32790A4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74E8569-E168-1A51-A000-7877AF22A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888AB93-BF59-3E67-5E8D-7BE69E09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63EF91C-469C-0375-7B12-BA0E1129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FE6AD3B-351B-7174-7B04-5C6AA1B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80E2C3-D09E-3EF2-BB0D-09620DB4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69457D-9D70-1DE5-50E9-4A0DD4C23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A3F0B83-F879-3737-D954-492EF163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BB797D-97B8-A739-38B5-9207B866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1F49563-F3CC-7CDC-63AE-8344138F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6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41B92E8-897B-179E-A8CB-C1ECFD18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BC8FF0-CBA9-659D-775E-F0A1A3F04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AEC5770-DC72-DF2D-020E-2648866F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B97F72-487B-A64A-1259-6108EF2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57A90B-030F-4998-5F24-E789FEC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EF11BE-8A8E-6D7D-DF52-202FC814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A56F174-6BCD-D3FF-21DA-35C9AFA1D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1A8D8B5-78F4-9E91-91FF-F1561836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D50317-6598-CCC2-D294-9BF4C287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A2C3697-B3FF-F7FF-C1E0-B8D5606D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8BED908-4FC6-A88D-4268-3BFAAA8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7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E399A7A-D800-DDAD-4921-4C1D2E54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87314A8-A3E7-BC05-B168-827D891B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A74EB46-E47A-B0BE-4C69-1C82D8C74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3764DF6-B066-2794-A34A-02BF424FF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D5C3D18A-0780-9237-FFC8-CD88AF773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07B0020-63C4-1F11-E88E-965AE7E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7B401A07-2BC6-7545-294A-C5DBAFF6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7ADFAB1-7B14-CC5D-AF40-468CE30A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3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38E25B-24EB-5B7F-E004-7CD816B7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2C83539-000C-701C-EF6B-4182309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64CAA99-5F4D-DE96-4CEF-27CC595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6DE912-BB85-B9FA-1ABC-81376CB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6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B40E82-BE8D-3C1D-4B9D-15A70593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965CF90-C351-7F40-FBD4-A4EC6C8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AC0884-D70D-C9BA-8B14-5C279883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2D043A7-6A48-351E-E961-7CEE1CFB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DDBDD82-9553-B809-35DF-DDEE885E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7D6E4C8-9382-3B81-C164-C590A12E9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49E0CB2-2983-ACE3-7593-D356489B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E41B24E-B1F2-F570-5991-0360154B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8A600D2-0294-4A72-AEC9-BCDFA0F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6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DAF8-A7B8-C2D5-4380-E069F297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ADF64A41-8269-B3CF-2E93-BBDC2352F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717CDF1-5071-2F97-4230-169E7F6E0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67BF668-F9E9-E621-9311-8E573094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27FB022-1723-0A84-62B3-C00C69A5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75FD616-CAA0-2A60-2864-F9B29F6A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1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B9A2246-6210-685E-1A2F-CDFC1F9F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FE32D6F-7203-C943-E0A6-C4BAE275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55E5B44-74F4-74EF-A29F-208FAD74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0F8C5C7-62F7-15AC-AD55-A8BC2F83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830EA8-3167-319C-47CE-98C32EF7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6FD8466-C0FC-452F-E533-1EAC82F04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0B06DB-29E2-B363-88EC-17D6D7FF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7A789D-4CB5-DC4A-D687-1B7901D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228852D-0DFE-EA84-C789-F829100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C7E4F69-A643-5719-B2B0-48CD5832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9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764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6297E31-26DD-33D1-96F9-ADE4F4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EBB2F17-E73D-2A49-150E-0A717840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8AAB2B-08A6-7C24-6E54-F97CD2DF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DB09AB4-0B79-73A6-CC0C-0E2E384F4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773AF8A-1C3D-7CFB-1BC6-EC9C548A6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9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Nurse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72BA-34E6-15A9-12F7-79004861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62A3-4BA5-AA54-A741-75EDC4D2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FEA26-FB69-8025-5B87-84B03BB3092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Lập </a:t>
                </a:r>
                <a:r>
                  <a:rPr lang="en-US" dirty="0" err="1"/>
                  <a:t>lịch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y </a:t>
                </a:r>
                <a:r>
                  <a:rPr lang="en-US" dirty="0" err="1"/>
                  <a:t>tá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ngày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tiếp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1,…, </m:t>
                    </m:r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800" b="0" i="0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Chia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chuỗi</a:t>
                </a:r>
                <a:r>
                  <a:rPr lang="en-US" dirty="0"/>
                  <a:t> </a:t>
                </a:r>
                <a:r>
                  <a:rPr lang="en-US" dirty="0" err="1"/>
                  <a:t>ngày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C00000"/>
                    </a:solidFill>
                  </a:rPr>
                  <a:t>working period</a:t>
                </a:r>
                <a:r>
                  <a:rPr lang="en-US" dirty="0"/>
                  <a:t>)</a:t>
                </a:r>
              </a:p>
              <a:p>
                <a:r>
                  <a:rPr lang="en-US" b="1" dirty="0" err="1">
                    <a:solidFill>
                      <a:srgbClr val="C00000"/>
                    </a:solidFill>
                  </a:rPr>
                  <a:t>Ràng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buộc</a:t>
                </a:r>
                <a:r>
                  <a:rPr lang="en-US" b="1" dirty="0">
                    <a:solidFill>
                      <a:srgbClr val="C00000"/>
                    </a:solidFill>
                  </a:rPr>
                  <a:t>:</a:t>
                </a:r>
              </a:p>
              <a:p>
                <a:pPr lvl="1"/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1 </a:t>
                </a:r>
                <a:r>
                  <a:rPr lang="en-US" dirty="0" err="1"/>
                  <a:t>ngày</a:t>
                </a:r>
                <a:r>
                  <a:rPr lang="en-US" dirty="0"/>
                  <a:t> </a:t>
                </a:r>
                <a:r>
                  <a:rPr lang="en-US" dirty="0" err="1"/>
                  <a:t>nghỉ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2 chu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endParaRPr lang="en-US" dirty="0"/>
              </a:p>
              <a:p>
                <a:pPr lvl="1"/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chuỗi</a:t>
                </a:r>
                <a:r>
                  <a:rPr lang="en-US" dirty="0"/>
                  <a:t> </a:t>
                </a:r>
                <a:r>
                  <a:rPr lang="en-US" dirty="0" err="1"/>
                  <a:t>ngày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dài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b="0" i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m:rPr>
                            <m:sty m:val="p"/>
                          </m:rPr>
                          <a:rPr lang="vi-VN" i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lịch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y </a:t>
                </a:r>
                <a:r>
                  <a:rPr lang="en-US" dirty="0" err="1"/>
                  <a:t>tá</a:t>
                </a:r>
                <a:endParaRPr lang="en-US" dirty="0"/>
              </a:p>
              <a:p>
                <a:r>
                  <a:rPr lang="en-US" dirty="0"/>
                  <a:t>Example: 	Input: 6 2 3</a:t>
                </a:r>
              </a:p>
              <a:p>
                <a:pPr marL="0" indent="0">
                  <a:buNone/>
                </a:pPr>
                <a:r>
                  <a:rPr lang="en-US" dirty="0"/>
                  <a:t>		Output: 4			Explain: 	110111 	111011</a:t>
                </a:r>
              </a:p>
              <a:p>
                <a:pPr marL="0" indent="0">
                  <a:buNone/>
                </a:pPr>
                <a:r>
                  <a:rPr lang="en-US" dirty="0"/>
                  <a:t>								110110	011011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FEA26-FB69-8025-5B87-84B03BB30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 b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740F-45A1-CEE5-FDB6-EC53BCC8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8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34D0-5508-3E6C-CB83-EE539F7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1371-72F6-43B0-390A-28FA8290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7262E-9450-5219-0592-352A67D0716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5" y="1058844"/>
                <a:ext cx="11687949" cy="4909124"/>
              </a:xfrm>
            </p:spPr>
            <p:txBody>
              <a:bodyPr/>
              <a:lstStyle/>
              <a:p>
                <a:r>
                  <a:rPr lang="en-VN" b="1" dirty="0">
                    <a:solidFill>
                      <a:srgbClr val="C00000"/>
                    </a:solidFill>
                  </a:rPr>
                  <a:t>Idea to solve #1: </a:t>
                </a:r>
                <a:r>
                  <a:rPr lang="en-VN" dirty="0"/>
                  <a:t>Duyệt toàn bộ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được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xâu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dài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 err="1"/>
                  <a:t>Liệt</a:t>
                </a:r>
                <a:r>
                  <a:rPr lang="en-US" dirty="0"/>
                  <a:t> </a:t>
                </a:r>
                <a:r>
                  <a:rPr lang="en-US" dirty="0" err="1"/>
                  <a:t>kê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chuỗi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thoả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phép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</a:t>
                </a:r>
                <a:r>
                  <a:rPr lang="en-US" dirty="0" err="1"/>
                  <a:t>mất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 err="1">
                    <a:solidFill>
                      <a:srgbClr val="C00000"/>
                    </a:solidFill>
                  </a:rPr>
                  <a:t>Áp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dụng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kỹ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thuật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nhánh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cận</a:t>
                </a:r>
                <a:r>
                  <a:rPr lang="en-US" dirty="0">
                    <a:solidFill>
                      <a:srgbClr val="C00000"/>
                    </a:solidFill>
                  </a:rPr>
                  <a:t>: </a:t>
                </a:r>
                <a:r>
                  <a:rPr lang="en-US" dirty="0" err="1"/>
                  <a:t>sau</a:t>
                </a:r>
                <a:r>
                  <a:rPr lang="en-US" dirty="0"/>
                  <a:t> bit 1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ít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K1 bit 1,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K2 bit 1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bit 0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ngăn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chu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7262E-9450-5219-0592-352A67D07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5" y="1058844"/>
                <a:ext cx="11687949" cy="4909124"/>
              </a:xfrm>
              <a:blipFill>
                <a:blip r:embed="rId2"/>
                <a:stretch>
                  <a:fillRect l="-868" t="-2326" r="-108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0DDE9-B4F6-1E2B-519D-94697D53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01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5A17-3A07-3838-ECF9-41F31D5E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FD40-73BB-6DBD-5DF5-7FE4298B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85BF7-E453-F8F7-41BE-405AFA4A07F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11661198" cy="5248966"/>
              </a:xfrm>
            </p:spPr>
            <p:txBody>
              <a:bodyPr/>
              <a:lstStyle/>
              <a:p>
                <a:r>
                  <a:rPr lang="en-VN" b="1" dirty="0">
                    <a:solidFill>
                      <a:srgbClr val="C00000"/>
                    </a:solidFill>
                  </a:rPr>
                  <a:t>Idea to solve #2: </a:t>
                </a:r>
                <a:r>
                  <a:rPr lang="en-VN" dirty="0"/>
                  <a:t>dynamic programming</a:t>
                </a:r>
              </a:p>
              <a:p>
                <a:pPr lvl="1"/>
                <a:r>
                  <a:rPr lang="en-VN" dirty="0"/>
                  <a:t>Quan sát bài toán: số cách lập lịch ở ngày i phụ thuộc những ngày trước đó</a:t>
                </a:r>
              </a:p>
              <a:p>
                <a:pPr lvl="1"/>
                <a:r>
                  <a:rPr lang="en-VN" dirty="0"/>
                  <a:t>Quan sát 2 trường hợp: ngày i nghỉ và ngày i đi làm</a:t>
                </a:r>
              </a:p>
              <a:p>
                <a:pPr lvl="1"/>
                <a:r>
                  <a:rPr lang="en-VN" dirty="0"/>
                  <a:t>Tạo 2 mảng S</a:t>
                </a:r>
                <a:r>
                  <a:rPr lang="en-VN" baseline="-25000" dirty="0"/>
                  <a:t>0</a:t>
                </a:r>
                <a:r>
                  <a:rPr lang="en-VN" dirty="0"/>
                  <a:t>[N] và S</a:t>
                </a:r>
                <a:r>
                  <a:rPr lang="en-VN" baseline="-25000" dirty="0"/>
                  <a:t>1</a:t>
                </a:r>
                <a:r>
                  <a:rPr lang="en-VN" dirty="0"/>
                  <a:t>[N]</a:t>
                </a:r>
              </a:p>
              <a:p>
                <a:pPr lvl="2"/>
                <a:r>
                  <a:rPr lang="en-VN" sz="2400" dirty="0"/>
                  <a:t>S</a:t>
                </a:r>
                <a:r>
                  <a:rPr lang="en-VN" sz="2400" baseline="-25000" dirty="0"/>
                  <a:t>0</a:t>
                </a:r>
                <a:r>
                  <a:rPr lang="en-VN" sz="2400" dirty="0"/>
                  <a:t>[i]: số cách lập lịch cho i ngày mà ngày i là ngày nghỉ</a:t>
                </a:r>
              </a:p>
              <a:p>
                <a:pPr lvl="2"/>
                <a:r>
                  <a:rPr lang="en-VN" sz="2400" dirty="0"/>
                  <a:t>S</a:t>
                </a:r>
                <a:r>
                  <a:rPr lang="en-VN" sz="2400" baseline="-25000" dirty="0"/>
                  <a:t>1</a:t>
                </a:r>
                <a:r>
                  <a:rPr lang="en-VN" sz="2400" dirty="0"/>
                  <a:t>[i]: số cách lập lịch cho i ngày mà ngày i là ngày đi làm</a:t>
                </a:r>
              </a:p>
              <a:p>
                <a:pPr lvl="1"/>
                <a:r>
                  <a:rPr lang="en-US" dirty="0"/>
                  <a:t>Công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truy</a:t>
                </a:r>
                <a:r>
                  <a:rPr lang="en-US" dirty="0"/>
                  <a:t> </a:t>
                </a:r>
                <a:r>
                  <a:rPr lang="en-US" dirty="0" err="1"/>
                  <a:t>hồi</a:t>
                </a:r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S</a:t>
                </a:r>
                <a:r>
                  <a:rPr lang="en-US" baseline="-25000" dirty="0"/>
                  <a:t>0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= S</a:t>
                </a:r>
                <a:r>
                  <a:rPr lang="en-US" baseline="-25000" dirty="0"/>
                  <a:t>1</a:t>
                </a:r>
                <a:r>
                  <a:rPr lang="en-US" dirty="0"/>
                  <a:t>[i-1];                     </a:t>
                </a:r>
                <a:r>
                  <a:rPr lang="en-US" i="1" dirty="0">
                    <a:solidFill>
                      <a:srgbClr val="92D050"/>
                    </a:solidFill>
                  </a:rPr>
                  <a:t>//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ngày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i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nghỉ</a:t>
                </a:r>
                <a:r>
                  <a:rPr lang="en-US" i="1" dirty="0">
                    <a:solidFill>
                      <a:srgbClr val="92D050"/>
                    </a:solidFill>
                  </a:rPr>
                  <a:t> =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ngày</a:t>
                </a:r>
                <a:r>
                  <a:rPr lang="en-US" i="1" dirty="0">
                    <a:solidFill>
                      <a:srgbClr val="92D050"/>
                    </a:solidFill>
                  </a:rPr>
                  <a:t> i-1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đi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làm</a:t>
                </a:r>
                <a:endParaRPr lang="en-US" i="1" dirty="0">
                  <a:solidFill>
                    <a:srgbClr val="92D05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		S</a:t>
                </a:r>
                <a:r>
                  <a:rPr lang="en-US" baseline="-25000" dirty="0"/>
                  <a:t>1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[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j</m:t>
                        </m:r>
                        <m:r>
                          <m:rPr>
                            <m:nor/>
                          </m:rPr>
                          <a:rPr lang="en-US" dirty="0"/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	        </a:t>
                </a:r>
                <a:r>
                  <a:rPr lang="en-US" i="1" dirty="0">
                    <a:solidFill>
                      <a:srgbClr val="92D050"/>
                    </a:solidFill>
                  </a:rPr>
                  <a:t>//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ngày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i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đi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làm</a:t>
                </a:r>
                <a:r>
                  <a:rPr lang="en-US" i="1" dirty="0">
                    <a:solidFill>
                      <a:srgbClr val="92D050"/>
                    </a:solidFill>
                  </a:rPr>
                  <a:t> =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kết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thúc</a:t>
                </a:r>
                <a:r>
                  <a:rPr lang="en-US" i="1" dirty="0">
                    <a:solidFill>
                      <a:srgbClr val="92D050"/>
                    </a:solidFill>
                  </a:rPr>
                  <a:t> 1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chuỗi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ngày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làm</a:t>
                </a:r>
                <a:r>
                  <a:rPr lang="en-US" i="1" dirty="0">
                    <a:solidFill>
                      <a:srgbClr val="92D050"/>
                    </a:solidFill>
                  </a:rPr>
                  <a:t> </a:t>
                </a:r>
                <a:r>
                  <a:rPr lang="en-US" i="1" dirty="0" err="1">
                    <a:solidFill>
                      <a:srgbClr val="92D050"/>
                    </a:solidFill>
                  </a:rPr>
                  <a:t>việc</a:t>
                </a:r>
                <a:endParaRPr lang="en-US" dirty="0"/>
              </a:p>
              <a:p>
                <a:pPr lvl="1"/>
                <a:r>
                  <a:rPr lang="en-US" dirty="0"/>
                  <a:t>Trường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cơ</a:t>
                </a:r>
                <a:r>
                  <a:rPr lang="en-US" dirty="0"/>
                  <a:t> </a:t>
                </a:r>
                <a:r>
                  <a:rPr lang="en-US" dirty="0" err="1"/>
                  <a:t>sở</a:t>
                </a:r>
                <a:r>
                  <a:rPr lang="en-US" dirty="0"/>
                  <a:t>: S</a:t>
                </a:r>
                <a:r>
                  <a:rPr lang="en-US" baseline="-25000" dirty="0"/>
                  <a:t>0</a:t>
                </a:r>
                <a:r>
                  <a:rPr lang="en-US" dirty="0"/>
                  <a:t>[1] = S</a:t>
                </a:r>
                <a:r>
                  <a:rPr lang="en-US" baseline="-25000" dirty="0"/>
                  <a:t>1</a:t>
                </a:r>
                <a:r>
                  <a:rPr lang="en-US" dirty="0"/>
                  <a:t>[K1] = S</a:t>
                </a:r>
                <a:r>
                  <a:rPr lang="en-US" baseline="-25000" dirty="0"/>
                  <a:t>0</a:t>
                </a:r>
                <a:r>
                  <a:rPr lang="en-US" dirty="0"/>
                  <a:t>[0] =1;</a:t>
                </a:r>
              </a:p>
              <a:p>
                <a:pPr lvl="1"/>
                <a:r>
                  <a:rPr lang="en-US" dirty="0"/>
                  <a:t>return: S</a:t>
                </a:r>
                <a:r>
                  <a:rPr lang="en-US" baseline="-25000" dirty="0"/>
                  <a:t>0</a:t>
                </a:r>
                <a:r>
                  <a:rPr lang="en-US" dirty="0"/>
                  <a:t>[n] + S</a:t>
                </a:r>
                <a:r>
                  <a:rPr lang="en-US" baseline="-25000" dirty="0"/>
                  <a:t>1</a:t>
                </a:r>
                <a:r>
                  <a:rPr lang="en-US" dirty="0"/>
                  <a:t>[n]</a:t>
                </a:r>
              </a:p>
              <a:p>
                <a:pPr lvl="1"/>
                <a:r>
                  <a:rPr lang="en-US" dirty="0"/>
                  <a:t>Complexity: O(n(K2-K1))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185BF7-E453-F8F7-41BE-405AFA4A0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11661198" cy="5248966"/>
              </a:xfrm>
              <a:blipFill>
                <a:blip r:embed="rId2"/>
                <a:stretch>
                  <a:fillRect l="-871" t="-217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3A8F4-40B3-626C-8539-7E1AD74F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1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94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59469E-A6B7-4E26-BEB6-3F07C3088CB8}"/>
</file>

<file path=customXml/itemProps2.xml><?xml version="1.0" encoding="utf-8"?>
<ds:datastoreItem xmlns:ds="http://schemas.openxmlformats.org/officeDocument/2006/customXml" ds:itemID="{AF60AB59-B4DB-4D86-97AE-E29A8FE22218}"/>
</file>

<file path=customXml/itemProps3.xml><?xml version="1.0" encoding="utf-8"?>
<ds:datastoreItem xmlns:ds="http://schemas.openxmlformats.org/officeDocument/2006/customXml" ds:itemID="{93D75368-C37D-46FC-8B85-4EABE3AB817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</Words>
  <Application>Microsoft Office PowerPoint</Application>
  <PresentationFormat>Màn hình rộng</PresentationFormat>
  <Paragraphs>38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Nurse</vt:lpstr>
      <vt:lpstr>Nurse</vt:lpstr>
      <vt:lpstr>Nurse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1</cp:revision>
  <dcterms:created xsi:type="dcterms:W3CDTF">2025-09-17T03:46:07Z</dcterms:created>
  <dcterms:modified xsi:type="dcterms:W3CDTF">2025-09-17T03:47:57Z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