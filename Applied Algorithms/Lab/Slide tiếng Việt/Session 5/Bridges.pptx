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5" r:id="rId5"/>
    <p:sldId id="266" r:id="rId6"/>
    <p:sldId id="260" r:id="rId7"/>
    <p:sldId id="267" r:id="rId8"/>
    <p:sldId id="268" r:id="rId9"/>
    <p:sldId id="308" r:id="rId10"/>
    <p:sldId id="291" r:id="rId11"/>
    <p:sldId id="292" r:id="rId12"/>
    <p:sldId id="293" r:id="rId13"/>
    <p:sldId id="296" r:id="rId14"/>
    <p:sldId id="294" r:id="rId15"/>
    <p:sldId id="309" r:id="rId16"/>
    <p:sldId id="300" r:id="rId17"/>
    <p:sldId id="303" r:id="rId18"/>
    <p:sldId id="304" r:id="rId19"/>
    <p:sldId id="310" r:id="rId20"/>
    <p:sldId id="305" r:id="rId21"/>
    <p:sldId id="262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êu đề Bản chiế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9DD51B03-F944-9283-EA0E-136E7E9FC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Tiêu đề phụ 2">
            <a:extLst>
              <a:ext uri="{FF2B5EF4-FFF2-40B4-BE49-F238E27FC236}">
                <a16:creationId xmlns:a16="http://schemas.microsoft.com/office/drawing/2014/main" id="{B14D3FCA-10F5-D841-D0D5-BE9E9C4082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vi-VN"/>
              <a:t>Bấm để chỉnh sửa kiểu tiêu đề phụ của Bản cái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4986636E-577E-7AE3-71FA-3CADC590B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602BED6-CC19-B6FF-91D2-2B5F6B333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7B38E822-E1E7-07DC-8A54-DB71ACC81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417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êu đề và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41625BF0-83CF-EA76-FC93-B3C9EA06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955F25A-D702-D8CC-91BF-B5E0E3F00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20AFA569-C22B-45E4-6541-BB3809029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53B1CE86-3CBF-61B9-9CBD-CACE5B900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5E99A50F-6E7B-622F-E07E-E8E10D88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Đầu trang của Phầ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9B7E5E6-37A8-F4F6-910F-84E0E36AA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EDE60B4B-2B6F-E9D8-4B45-6B1BC90D05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8CEC79B-56EF-CFE4-3E25-7EC6BB0B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3BEF7F71-A0C7-8AC9-15D4-946814E4D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92A49B61-DE24-B607-3DB9-370EDDC37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156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Hai Nội d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C2BE7D6-D783-FA67-7264-0199D49E0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0D584B77-7B6C-A868-F92E-09DAD1BE96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5201D6E0-A3D2-A40F-89C0-90F3E371A9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6B9F7255-D6B8-C049-EF54-4A803BC4F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42C9478E-E3E7-CE15-8307-45E692996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97F0060-6CF0-BC9E-924A-23B7ADB40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29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hép so sán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0A33838C-9254-E1BA-3F09-23EF14AD6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90D44F19-A77A-9BE5-5C0D-5E7C0F308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4" name="Chỗ dành sẵn cho Nội dung 3">
            <a:extLst>
              <a:ext uri="{FF2B5EF4-FFF2-40B4-BE49-F238E27FC236}">
                <a16:creationId xmlns:a16="http://schemas.microsoft.com/office/drawing/2014/main" id="{080E3891-D7E5-EA6C-9B1D-5E5A1B36D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5" name="Chỗ dành sẵn cho Văn bản 4">
            <a:extLst>
              <a:ext uri="{FF2B5EF4-FFF2-40B4-BE49-F238E27FC236}">
                <a16:creationId xmlns:a16="http://schemas.microsoft.com/office/drawing/2014/main" id="{AF9D9754-3845-F931-C7ED-E4EC9A2B9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6" name="Chỗ dành sẵn cho Nội dung 5">
            <a:extLst>
              <a:ext uri="{FF2B5EF4-FFF2-40B4-BE49-F238E27FC236}">
                <a16:creationId xmlns:a16="http://schemas.microsoft.com/office/drawing/2014/main" id="{70988AB4-C9CD-1A2B-FE24-3D07AB034E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7" name="Chỗ dành sẵn cho Ngày tháng 6">
            <a:extLst>
              <a:ext uri="{FF2B5EF4-FFF2-40B4-BE49-F238E27FC236}">
                <a16:creationId xmlns:a16="http://schemas.microsoft.com/office/drawing/2014/main" id="{27AFC2D3-55A0-693A-1129-33B4932EF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8" name="Chỗ dành sẵn cho Chân trang 7">
            <a:extLst>
              <a:ext uri="{FF2B5EF4-FFF2-40B4-BE49-F238E27FC236}">
                <a16:creationId xmlns:a16="http://schemas.microsoft.com/office/drawing/2014/main" id="{8784D58C-44DA-52E7-63B8-F56E3F45A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hỗ dành sẵn cho Số hiệu Bản chiếu 8">
            <a:extLst>
              <a:ext uri="{FF2B5EF4-FFF2-40B4-BE49-F238E27FC236}">
                <a16:creationId xmlns:a16="http://schemas.microsoft.com/office/drawing/2014/main" id="{4BB7CA7A-C1AC-E697-3A2D-2EB34EA74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12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hỉ Tiêu đê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389DDBA-B3B1-0378-5B64-5A5187783C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gày tháng 2">
            <a:extLst>
              <a:ext uri="{FF2B5EF4-FFF2-40B4-BE49-F238E27FC236}">
                <a16:creationId xmlns:a16="http://schemas.microsoft.com/office/drawing/2014/main" id="{2497EFBD-DB44-FB9F-05AF-E55306E8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4" name="Chỗ dành sẵn cho Chân trang 3">
            <a:extLst>
              <a:ext uri="{FF2B5EF4-FFF2-40B4-BE49-F238E27FC236}">
                <a16:creationId xmlns:a16="http://schemas.microsoft.com/office/drawing/2014/main" id="{55E5525F-97F4-7326-1C2C-2F9454356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hỗ dành sẵn cho Số hiệu Bản chiếu 4">
            <a:extLst>
              <a:ext uri="{FF2B5EF4-FFF2-40B4-BE49-F238E27FC236}">
                <a16:creationId xmlns:a16="http://schemas.microsoft.com/office/drawing/2014/main" id="{84DCB1D8-D43F-ED04-0A45-94F980136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462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rố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Ngày tháng 1">
            <a:extLst>
              <a:ext uri="{FF2B5EF4-FFF2-40B4-BE49-F238E27FC236}">
                <a16:creationId xmlns:a16="http://schemas.microsoft.com/office/drawing/2014/main" id="{9E011733-06AB-57B1-61AE-9C184E1400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3" name="Chỗ dành sẵn cho Chân trang 2">
            <a:extLst>
              <a:ext uri="{FF2B5EF4-FFF2-40B4-BE49-F238E27FC236}">
                <a16:creationId xmlns:a16="http://schemas.microsoft.com/office/drawing/2014/main" id="{64BD6558-DA9E-74DA-7D60-39DDB9B7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hỗ dành sẵn cho Số hiệu Bản chiếu 3">
            <a:extLst>
              <a:ext uri="{FF2B5EF4-FFF2-40B4-BE49-F238E27FC236}">
                <a16:creationId xmlns:a16="http://schemas.microsoft.com/office/drawing/2014/main" id="{17EA3216-7E26-CC95-221F-426A49DCC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923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Nội dung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F91AEB8-1623-5F47-8FBA-EB99C7D98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Nội dung 2">
            <a:extLst>
              <a:ext uri="{FF2B5EF4-FFF2-40B4-BE49-F238E27FC236}">
                <a16:creationId xmlns:a16="http://schemas.microsoft.com/office/drawing/2014/main" id="{18950611-2CDE-4F8F-26A6-B43B38669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B9C6B69D-259D-B7FF-5260-CEC8362F24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2F8E249-2935-7DFF-3481-66D779F2A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AA64D014-C124-9919-F907-1A1636F22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0E9C93B2-12AB-A420-B496-E3937D48B4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29613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̉nh với Chú thí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329C5D35-33D8-C48B-CAFC-4F0A9CC3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Hình ảnh 2">
            <a:extLst>
              <a:ext uri="{FF2B5EF4-FFF2-40B4-BE49-F238E27FC236}">
                <a16:creationId xmlns:a16="http://schemas.microsoft.com/office/drawing/2014/main" id="{525A0A4B-72A8-070C-5921-6704E45F34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Chỗ dành sẵn cho Văn bản 3">
            <a:extLst>
              <a:ext uri="{FF2B5EF4-FFF2-40B4-BE49-F238E27FC236}">
                <a16:creationId xmlns:a16="http://schemas.microsoft.com/office/drawing/2014/main" id="{839E8920-BBCB-A353-E314-423801E2EA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vi-VN"/>
              <a:t>Bấm để chỉnh sửa kiểu văn bản của Bản cái</a:t>
            </a:r>
          </a:p>
        </p:txBody>
      </p:sp>
      <p:sp>
        <p:nvSpPr>
          <p:cNvPr id="5" name="Chỗ dành sẵn cho Ngày tháng 4">
            <a:extLst>
              <a:ext uri="{FF2B5EF4-FFF2-40B4-BE49-F238E27FC236}">
                <a16:creationId xmlns:a16="http://schemas.microsoft.com/office/drawing/2014/main" id="{40B343CB-5428-557D-A48D-DCB301554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6" name="Chỗ dành sẵn cho Chân trang 5">
            <a:extLst>
              <a:ext uri="{FF2B5EF4-FFF2-40B4-BE49-F238E27FC236}">
                <a16:creationId xmlns:a16="http://schemas.microsoft.com/office/drawing/2014/main" id="{1F51CDD0-5BC4-D60B-B220-9F142899A1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hỗ dành sẵn cho Số hiệu Bản chiếu 6">
            <a:extLst>
              <a:ext uri="{FF2B5EF4-FFF2-40B4-BE49-F238E27FC236}">
                <a16:creationId xmlns:a16="http://schemas.microsoft.com/office/drawing/2014/main" id="{7D81D907-B135-DD44-4961-0938ABEBD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344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êu đề và Văn bản Dọ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1">
            <a:extLst>
              <a:ext uri="{FF2B5EF4-FFF2-40B4-BE49-F238E27FC236}">
                <a16:creationId xmlns:a16="http://schemas.microsoft.com/office/drawing/2014/main" id="{D0710184-CD10-32FC-12C0-D7AE2FCA2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38275F92-D75F-526C-6B8E-00C25A57D0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F78AB7A4-96EC-19D4-82B6-4BA4C4AF7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266BF2BC-903D-8954-E9EA-E04A6B068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AE4E9B6C-3C6A-F74D-371D-351C9AAED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4321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êu đề Dọc và Văn bả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êu đề Dọc 1">
            <a:extLst>
              <a:ext uri="{FF2B5EF4-FFF2-40B4-BE49-F238E27FC236}">
                <a16:creationId xmlns:a16="http://schemas.microsoft.com/office/drawing/2014/main" id="{E18D5B4D-BE61-7B89-5F5C-EB917A9EFA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Dọc 2">
            <a:extLst>
              <a:ext uri="{FF2B5EF4-FFF2-40B4-BE49-F238E27FC236}">
                <a16:creationId xmlns:a16="http://schemas.microsoft.com/office/drawing/2014/main" id="{6333C0D2-B86D-F008-EB11-A7FA603850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05A984CF-7749-7290-EBE5-71943B969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4A273CD3-EC0B-5C0C-1CA4-944FBA0EC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13BD9532-C882-0AF6-3F58-84048C453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73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6047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6152509-8D0C-4712-AA81-AF54972C78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58E92B09-5AF4-4E86-A8BE-E866F0E2C017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A90DE7-FAAB-4B91-AC83-B18850F1E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0FD5971E-BD21-416C-BC2E-97EE0E09A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287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A21A061D-9F38-49ED-BAF8-8055D9FB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2F65D4C-DEE4-4C7B-91C4-D6D57A523E98}" type="datetime1">
              <a:rPr lang="en-US" smtClean="0"/>
              <a:pPr/>
              <a:t>9/17/2025</a:t>
            </a:fld>
            <a:endParaRPr lang="en-US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90FAA6E-46AD-4366-8E80-2F5BEB7D5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A5604C7-0828-446E-97CC-8D6162E69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76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8">
            <a:extLst>
              <a:ext uri="{FF2B5EF4-FFF2-40B4-BE49-F238E27FC236}">
                <a16:creationId xmlns:a16="http://schemas.microsoft.com/office/drawing/2014/main" id="{3E6AE9CF-41FF-46D0-BF7A-815E477789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3:……………………………………..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85E41C6-3987-4F5C-A750-35F5C730A5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539" y="1032510"/>
            <a:ext cx="11515725" cy="493871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C99BA7CA-DC84-4A35-BD8A-C14D582181A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8CDB0C24-DFE0-41C5-B02D-FC32F5C22F7C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E1DCC345-F4E6-42D6-9173-88011D0E2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82AFB1-CD7C-4710-A82A-F9FEE6DA5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866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86006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9/17/2025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6006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6511" y="649287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rgbClr val="00376F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8">
            <a:extLst>
              <a:ext uri="{FF2B5EF4-FFF2-40B4-BE49-F238E27FC236}">
                <a16:creationId xmlns:a16="http://schemas.microsoft.com/office/drawing/2014/main" id="{DEAFB3E9-4F5E-435C-B51A-CC5766A852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736" y="112543"/>
            <a:ext cx="11514528" cy="436098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1:……………………………………..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9C57778-6639-411E-9B4C-12D035AEC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6" y="1058844"/>
            <a:ext cx="11514528" cy="4909124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37183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Tiêu đề 1">
            <a:extLst>
              <a:ext uri="{FF2B5EF4-FFF2-40B4-BE49-F238E27FC236}">
                <a16:creationId xmlns:a16="http://schemas.microsoft.com/office/drawing/2014/main" id="{93C0B481-2372-B61C-5A36-8E8F1C797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vi-VN"/>
              <a:t>Bấm để sửa kiểu tiêu đề Bản cái</a:t>
            </a:r>
            <a:endParaRPr lang="en-US"/>
          </a:p>
        </p:txBody>
      </p:sp>
      <p:sp>
        <p:nvSpPr>
          <p:cNvPr id="3" name="Chỗ dành sẵn cho Văn bản 2">
            <a:extLst>
              <a:ext uri="{FF2B5EF4-FFF2-40B4-BE49-F238E27FC236}">
                <a16:creationId xmlns:a16="http://schemas.microsoft.com/office/drawing/2014/main" id="{15EF9F09-124A-F4AC-A877-22CDE855B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vi-VN"/>
              <a:t>Bấm để chỉnh sửa kiểu văn bản của Bản cái</a:t>
            </a:r>
          </a:p>
          <a:p>
            <a:pPr lvl="1"/>
            <a:r>
              <a:rPr lang="vi-VN"/>
              <a:t>Mức hai</a:t>
            </a:r>
          </a:p>
          <a:p>
            <a:pPr lvl="2"/>
            <a:r>
              <a:rPr lang="vi-VN"/>
              <a:t>Mức ba</a:t>
            </a:r>
          </a:p>
          <a:p>
            <a:pPr lvl="3"/>
            <a:r>
              <a:rPr lang="vi-VN"/>
              <a:t>Mức bốn</a:t>
            </a:r>
          </a:p>
          <a:p>
            <a:pPr lvl="4"/>
            <a:r>
              <a:rPr lang="vi-VN"/>
              <a:t>Mức năm</a:t>
            </a:r>
            <a:endParaRPr lang="en-US"/>
          </a:p>
        </p:txBody>
      </p:sp>
      <p:sp>
        <p:nvSpPr>
          <p:cNvPr id="4" name="Chỗ dành sẵn cho Ngày tháng 3">
            <a:extLst>
              <a:ext uri="{FF2B5EF4-FFF2-40B4-BE49-F238E27FC236}">
                <a16:creationId xmlns:a16="http://schemas.microsoft.com/office/drawing/2014/main" id="{5D8169C7-F4F7-1449-9BBE-DC7AAD04FA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973A16-86AE-49CF-B13B-651340DBEE53}" type="datetimeFigureOut">
              <a:rPr lang="en-US" smtClean="0"/>
              <a:t>9/17/2025</a:t>
            </a:fld>
            <a:endParaRPr lang="en-US"/>
          </a:p>
        </p:txBody>
      </p:sp>
      <p:sp>
        <p:nvSpPr>
          <p:cNvPr id="5" name="Chỗ dành sẵn cho Chân trang 4">
            <a:extLst>
              <a:ext uri="{FF2B5EF4-FFF2-40B4-BE49-F238E27FC236}">
                <a16:creationId xmlns:a16="http://schemas.microsoft.com/office/drawing/2014/main" id="{FA5004FF-56C3-031E-AB0E-1CF8D061B6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Chỗ dành sẵn cho Số hiệu Bản chiếu 5">
            <a:extLst>
              <a:ext uri="{FF2B5EF4-FFF2-40B4-BE49-F238E27FC236}">
                <a16:creationId xmlns:a16="http://schemas.microsoft.com/office/drawing/2014/main" id="{0A48452C-A12C-070E-3621-BC7813D237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AB72CB-44F6-4D94-8C3F-280C964AA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87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294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737FC17F-78B9-4DA3-B1E3-B6651CB174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634" y="331380"/>
            <a:ext cx="3174367" cy="952975"/>
          </a:xfrm>
          <a:prstGeom prst="rect">
            <a:avLst/>
          </a:prstGeom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5702E00C-3125-4CD1-A5F8-64723BF48E3E}"/>
              </a:ext>
            </a:extLst>
          </p:cNvPr>
          <p:cNvSpPr txBox="1">
            <a:spLocks/>
          </p:cNvSpPr>
          <p:nvPr/>
        </p:nvSpPr>
        <p:spPr>
          <a:xfrm>
            <a:off x="386634" y="2219413"/>
            <a:ext cx="7342482" cy="8487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TTUD</a:t>
            </a:r>
          </a:p>
        </p:txBody>
      </p:sp>
      <p:sp>
        <p:nvSpPr>
          <p:cNvPr id="4" name="Title 6">
            <a:extLst>
              <a:ext uri="{FF2B5EF4-FFF2-40B4-BE49-F238E27FC236}">
                <a16:creationId xmlns:a16="http://schemas.microsoft.com/office/drawing/2014/main" id="{72BF49D9-2FCE-4950-8B1C-F580CC18F4C9}"/>
              </a:ext>
            </a:extLst>
          </p:cNvPr>
          <p:cNvSpPr txBox="1">
            <a:spLocks/>
          </p:cNvSpPr>
          <p:nvPr/>
        </p:nvSpPr>
        <p:spPr>
          <a:xfrm>
            <a:off x="386634" y="3365399"/>
            <a:ext cx="7342482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800" b="0" dirty="0"/>
              <a:t>Bridges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BF4829-01AB-4F75-A03B-DF4FC4C31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3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A5D019-96A4-4D1E-AFB5-09D65C86E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26603-7893-4AE0-9532-68058044B6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>
                <a:sym typeface="Arial"/>
              </a:rPr>
              <a:t>Tìm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cầu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và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đỉnh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khớp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của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một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đồ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thị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vô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hướng</a:t>
            </a:r>
            <a:r>
              <a:rPr lang="en-US" sz="2800" dirty="0">
                <a:sym typeface="Arial"/>
              </a:rPr>
              <a:t>.</a:t>
            </a:r>
          </a:p>
          <a:p>
            <a:pPr lvl="1"/>
            <a:r>
              <a:rPr lang="en-US" dirty="0">
                <a:sym typeface="Arial"/>
              </a:rPr>
              <a:t>Định </a:t>
            </a:r>
            <a:r>
              <a:rPr lang="en-US" dirty="0" err="1">
                <a:sym typeface="Arial"/>
              </a:rPr>
              <a:t>nghĩa</a:t>
            </a:r>
            <a:r>
              <a:rPr lang="en-US" dirty="0">
                <a:sym typeface="Arial"/>
              </a:rPr>
              <a:t>: </a:t>
            </a:r>
            <a:r>
              <a:rPr lang="en-US" dirty="0" err="1">
                <a:sym typeface="Arial"/>
              </a:rPr>
              <a:t>Nếu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bỏ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cầu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hoặc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đỉnh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khớp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thì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thành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phần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liên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thông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của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đồ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thị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sẽ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tăng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lên</a:t>
            </a:r>
            <a:endParaRPr lang="en-US" dirty="0">
              <a:sym typeface="Arial"/>
            </a:endParaRP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Input: </a:t>
            </a:r>
            <a:r>
              <a:rPr lang="en-US" dirty="0">
                <a:sym typeface="Arial"/>
              </a:rPr>
              <a:t>Danh </a:t>
            </a:r>
            <a:r>
              <a:rPr lang="en-US" dirty="0" err="1">
                <a:sym typeface="Arial"/>
              </a:rPr>
              <a:t>sách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cạnh</a:t>
            </a:r>
            <a:endParaRPr lang="en-US" dirty="0">
              <a:sym typeface="Arial"/>
            </a:endParaRPr>
          </a:p>
          <a:p>
            <a:pPr lvl="1"/>
            <a:r>
              <a:rPr lang="en-US" dirty="0">
                <a:sym typeface="Arial"/>
              </a:rPr>
              <a:t>Line 1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N, M</a:t>
            </a:r>
          </a:p>
          <a:p>
            <a:pPr lvl="1"/>
            <a:r>
              <a:rPr lang="en-US" dirty="0">
                <a:sym typeface="Arial"/>
              </a:rPr>
              <a:t>M lines </a:t>
            </a:r>
            <a:r>
              <a:rPr lang="en-US" dirty="0" err="1">
                <a:sym typeface="Arial"/>
              </a:rPr>
              <a:t>tiếp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theo</a:t>
            </a:r>
            <a:r>
              <a:rPr lang="en-US" dirty="0">
                <a:sym typeface="Arial"/>
              </a:rPr>
              <a:t>, </a:t>
            </a:r>
            <a:r>
              <a:rPr lang="en-US" dirty="0" err="1">
                <a:sym typeface="Arial"/>
              </a:rPr>
              <a:t>các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cặp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nguyên</a:t>
            </a:r>
            <a:r>
              <a:rPr lang="en-US" dirty="0">
                <a:sym typeface="Arial"/>
              </a:rPr>
              <a:t> a, b </a:t>
            </a:r>
            <a:r>
              <a:rPr lang="en-US" dirty="0" err="1">
                <a:sym typeface="Arial"/>
              </a:rPr>
              <a:t>có</a:t>
            </a:r>
            <a:r>
              <a:rPr lang="en-US" dirty="0">
                <a:sym typeface="Arial"/>
              </a:rPr>
              <a:t> 1 </a:t>
            </a:r>
            <a:r>
              <a:rPr lang="en-US" dirty="0" err="1">
                <a:sym typeface="Arial"/>
              </a:rPr>
              <a:t>cạnh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vô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hướng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từ</a:t>
            </a:r>
            <a:r>
              <a:rPr lang="en-US" dirty="0">
                <a:sym typeface="Arial"/>
              </a:rPr>
              <a:t> a </a:t>
            </a:r>
            <a:r>
              <a:rPr lang="en-US" dirty="0" err="1">
                <a:sym typeface="Arial"/>
              </a:rPr>
              <a:t>tới</a:t>
            </a:r>
            <a:r>
              <a:rPr lang="en-US" dirty="0">
                <a:sym typeface="Arial"/>
              </a:rPr>
              <a:t> b.</a:t>
            </a:r>
          </a:p>
          <a:p>
            <a:r>
              <a:rPr lang="en-US" b="1" dirty="0">
                <a:solidFill>
                  <a:srgbClr val="C00000"/>
                </a:solidFill>
                <a:sym typeface="Arial"/>
              </a:rPr>
              <a:t>Output:</a:t>
            </a:r>
            <a:endParaRPr lang="en-US" sz="2400" b="1" dirty="0">
              <a:solidFill>
                <a:srgbClr val="C00000"/>
              </a:solidFill>
              <a:sym typeface="Arial"/>
            </a:endParaRPr>
          </a:p>
          <a:p>
            <a:pPr lvl="1"/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đỉnh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khớp</a:t>
            </a:r>
            <a:r>
              <a:rPr lang="en-US" dirty="0">
                <a:sym typeface="Arial"/>
              </a:rPr>
              <a:t>, </a:t>
            </a:r>
            <a:r>
              <a:rPr lang="en-US" dirty="0" err="1">
                <a:sym typeface="Arial"/>
              </a:rPr>
              <a:t>số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cầu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của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đồ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thị</a:t>
            </a:r>
            <a:r>
              <a:rPr lang="en-US" dirty="0">
                <a:sym typeface="Arial"/>
              </a:rPr>
              <a:t>.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4677A-4F02-4478-B9B8-685D0B626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52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812A94-16D6-7EC5-778D-DD6B68B26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067259-8D3D-FD46-FA1D-4D005C065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F061A-22BD-2F46-7734-9E5F17BD84A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>
                <a:sym typeface="Arial"/>
              </a:rPr>
              <a:t>Example 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F7DD84-B2DC-5211-16EE-BE23F7337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/>
          </a:p>
        </p:txBody>
      </p:sp>
      <p:graphicFrame>
        <p:nvGraphicFramePr>
          <p:cNvPr id="7" name="Google Shape;93;g1b3968dca7a_0_6">
            <a:extLst>
              <a:ext uri="{FF2B5EF4-FFF2-40B4-BE49-F238E27FC236}">
                <a16:creationId xmlns:a16="http://schemas.microsoft.com/office/drawing/2014/main" id="{D5E0F2F2-E09E-2B22-D931-C6290C89C868}"/>
              </a:ext>
            </a:extLst>
          </p:cNvPr>
          <p:cNvGraphicFramePr/>
          <p:nvPr/>
        </p:nvGraphicFramePr>
        <p:xfrm>
          <a:off x="1568473" y="1488581"/>
          <a:ext cx="3880349" cy="474346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645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636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Input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/>
                        <a:t>Output</a:t>
                      </a:r>
                      <a:endParaRPr sz="200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5818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10 12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1 10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10 3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2 4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4 5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5 2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3 6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6 7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7 3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7 8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8 9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9 7</a:t>
                      </a:r>
                      <a:endParaRPr sz="20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000" dirty="0"/>
                        <a:t>4 3</a:t>
                      </a:r>
                      <a:endParaRPr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vi-VN" sz="2000" dirty="0"/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Explain: 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A</a:t>
                      </a:r>
                      <a:r>
                        <a:rPr lang="en-VN" sz="2000" dirty="0"/>
                        <a:t>rticulation points: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   10, 2, 3, 7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Bridges:</a:t>
                      </a: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VN" sz="2000" dirty="0"/>
                        <a:t>   (2-10), (10-3), (10-1)</a:t>
                      </a:r>
                      <a:endParaRPr sz="20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8" name="Google Shape;100;g1b3968dca7a_0_15">
            <a:extLst>
              <a:ext uri="{FF2B5EF4-FFF2-40B4-BE49-F238E27FC236}">
                <a16:creationId xmlns:a16="http://schemas.microsoft.com/office/drawing/2014/main" id="{64E1D70A-94F1-15A2-4C73-4C3664741B6C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rcRect l="9814" t="9069" r="8866" b="6419"/>
          <a:stretch/>
        </p:blipFill>
        <p:spPr>
          <a:xfrm>
            <a:off x="5953247" y="1615982"/>
            <a:ext cx="5617028" cy="43369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3205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F4F50-810C-0260-ACBE-EAA15FA6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CB158-68BD-3F70-554E-795AEF9D4C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280E3-2FF7-CA03-F1A9-063B85CCC8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2800" dirty="0" err="1">
                <a:sym typeface="Arial"/>
              </a:rPr>
              <a:t>Ý</a:t>
            </a:r>
            <a:r>
              <a:rPr lang="en-US" sz="2800" dirty="0">
                <a:sym typeface="Arial"/>
              </a:rPr>
              <a:t> </a:t>
            </a:r>
            <a:r>
              <a:rPr lang="en-US" sz="2800" dirty="0" err="1">
                <a:sym typeface="Arial"/>
              </a:rPr>
              <a:t>tưởng</a:t>
            </a:r>
            <a:r>
              <a:rPr lang="en-US" sz="2800" dirty="0">
                <a:sym typeface="Arial"/>
              </a:rPr>
              <a:t>: DFS</a:t>
            </a:r>
          </a:p>
          <a:p>
            <a:pPr lvl="1"/>
            <a:r>
              <a:rPr lang="en-US" dirty="0" err="1">
                <a:sym typeface="Arial"/>
              </a:rPr>
              <a:t>Lưu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đồ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thị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dưới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dạng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danh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sách</a:t>
            </a:r>
            <a:r>
              <a:rPr lang="en-US" dirty="0">
                <a:sym typeface="Arial"/>
              </a:rPr>
              <a:t> </a:t>
            </a:r>
            <a:r>
              <a:rPr lang="en-US" dirty="0" err="1">
                <a:sym typeface="Arial"/>
              </a:rPr>
              <a:t>kề</a:t>
            </a:r>
            <a:r>
              <a:rPr lang="en-US" dirty="0">
                <a:sym typeface="Arial"/>
              </a:rPr>
              <a:t>:  </a:t>
            </a:r>
            <a:r>
              <a:rPr lang="en-US" dirty="0"/>
              <a:t>vector&lt;vector&lt;int&gt;&gt; adj(N);</a:t>
            </a:r>
          </a:p>
          <a:p>
            <a:pPr lvl="1"/>
            <a:endParaRPr lang="en-US" dirty="0">
              <a:sym typeface="Arial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134A7-5B92-DAA0-5B82-3C9C27A83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6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b="1" dirty="0" err="1"/>
              <a:t>Tìm</a:t>
            </a:r>
            <a:r>
              <a:rPr lang="en-US" sz="2400" b="1" dirty="0"/>
              <a:t> </a:t>
            </a:r>
            <a:r>
              <a:rPr lang="en-US" sz="2400" b="1" dirty="0" err="1"/>
              <a:t>kiếm</a:t>
            </a:r>
            <a:r>
              <a:rPr lang="en-US" sz="2400" b="1" dirty="0"/>
              <a:t> </a:t>
            </a:r>
            <a:r>
              <a:rPr lang="en-US" sz="2400" b="1" dirty="0" err="1"/>
              <a:t>theo</a:t>
            </a:r>
            <a:r>
              <a:rPr lang="en-US" sz="2400" b="1" dirty="0"/>
              <a:t> </a:t>
            </a:r>
            <a:r>
              <a:rPr lang="en-US" sz="2400" b="1" dirty="0" err="1"/>
              <a:t>chiều</a:t>
            </a:r>
            <a:r>
              <a:rPr lang="en-US" sz="2400" b="1" dirty="0"/>
              <a:t> </a:t>
            </a:r>
            <a:r>
              <a:rPr lang="en-US" sz="2400" b="1" dirty="0" err="1"/>
              <a:t>sâu</a:t>
            </a:r>
            <a:r>
              <a:rPr lang="en-US" sz="2400" b="1" dirty="0"/>
              <a:t> (DFS)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Cây</a:t>
            </a:r>
            <a:r>
              <a:rPr lang="en-US" sz="2400" dirty="0"/>
              <a:t> DFS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Num, Low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(bridges)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</a:t>
            </a:r>
            <a:r>
              <a:rPr lang="en-US" sz="2400" dirty="0" err="1"/>
              <a:t>khớp</a:t>
            </a:r>
            <a:r>
              <a:rPr lang="en-US" sz="2400" dirty="0"/>
              <a:t> (a</a:t>
            </a:r>
            <a:r>
              <a:rPr lang="vi-VN" sz="2400" dirty="0"/>
              <a:t>rticulation</a:t>
            </a:r>
            <a:r>
              <a:rPr lang="en-US" sz="2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33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14F76EF-F552-B05E-9AC0-2F53B7D42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3EEA53B-D427-9FDE-2692-475A02D43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Tìm kiếm theo chiều sâu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03C398D-BA41-EC32-FD5C-584302E262AC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dirty="0" err="1"/>
                  <a:t>Tìm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kiếm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theo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chiều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sâu</a:t>
                </a:r>
                <a:r>
                  <a:rPr lang="en-US" sz="2400" dirty="0"/>
                  <a:t> (Depth First Search)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thuật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duyệt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bản</a:t>
                </a:r>
                <a:r>
                  <a:rPr lang="en-US" sz="2400" dirty="0"/>
                  <a:t> (</a:t>
                </a:r>
                <a:r>
                  <a:rPr lang="en-US" sz="2400" dirty="0" err="1"/>
                  <a:t>thăm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).</a:t>
                </a:r>
              </a:p>
              <a:p>
                <a:pPr lvl="1"/>
                <a:r>
                  <a:rPr lang="en-US" dirty="0" err="1"/>
                  <a:t>Thuật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trả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câu</a:t>
                </a:r>
                <a:r>
                  <a:rPr lang="en-US" dirty="0"/>
                  <a:t> </a:t>
                </a:r>
                <a:r>
                  <a:rPr lang="en-US" dirty="0" err="1"/>
                  <a:t>hỏi</a:t>
                </a:r>
                <a:r>
                  <a:rPr lang="en-US" dirty="0"/>
                  <a:t>,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tồn</a:t>
                </a:r>
                <a:r>
                  <a:rPr lang="en-US" dirty="0"/>
                  <a:t> </a:t>
                </a:r>
                <a:r>
                  <a:rPr lang="en-US" dirty="0" err="1"/>
                  <a:t>tại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/>
                  <a:t>tới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hay </a:t>
                </a:r>
                <a:r>
                  <a:rPr lang="en-US" dirty="0" err="1"/>
                  <a:t>không</a:t>
                </a:r>
                <a:r>
                  <a:rPr lang="en-US" dirty="0"/>
                  <a:t>, </a:t>
                </a:r>
                <a:r>
                  <a:rPr lang="en-US" dirty="0" err="1"/>
                  <a:t>nếu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ra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.</a:t>
                </a:r>
              </a:p>
              <a:p>
                <a:pPr lvl="1"/>
                <a:r>
                  <a:rPr lang="en-US" dirty="0" err="1"/>
                  <a:t>Thuât</a:t>
                </a:r>
                <a:r>
                  <a:rPr lang="en-US" dirty="0"/>
                  <a:t> </a:t>
                </a:r>
                <a:r>
                  <a:rPr lang="en-US" dirty="0" err="1"/>
                  <a:t>toán</a:t>
                </a:r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chỉ</a:t>
                </a:r>
                <a:r>
                  <a:rPr lang="en-US" dirty="0"/>
                  <a:t> </a:t>
                </a:r>
                <a:r>
                  <a:rPr lang="en-US" dirty="0" err="1"/>
                  <a:t>trả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đường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mà</a:t>
                </a:r>
                <a:r>
                  <a:rPr lang="en-US" dirty="0"/>
                  <a:t> </a:t>
                </a:r>
                <a:r>
                  <a:rPr lang="en-US" dirty="0" err="1"/>
                  <a:t>nó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trả</a:t>
                </a:r>
                <a:r>
                  <a:rPr lang="en-US" dirty="0"/>
                  <a:t> </a:t>
                </a:r>
                <a:r>
                  <a:rPr lang="en-US" dirty="0" err="1"/>
                  <a:t>lời</a:t>
                </a:r>
                <a:r>
                  <a:rPr lang="en-US" dirty="0"/>
                  <a:t> </a:t>
                </a:r>
                <a:r>
                  <a:rPr lang="en-US" dirty="0" err="1"/>
                  <a:t>từ</a:t>
                </a:r>
                <a:r>
                  <a:rPr lang="en-US" dirty="0"/>
                  <a:t> u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đi</a:t>
                </a:r>
                <a:r>
                  <a:rPr lang="en-US" dirty="0"/>
                  <a:t> </a:t>
                </a:r>
                <a:r>
                  <a:rPr lang="en-US" dirty="0" err="1"/>
                  <a:t>được</a:t>
                </a:r>
                <a:r>
                  <a:rPr lang="en-US" dirty="0"/>
                  <a:t> </a:t>
                </a:r>
                <a:r>
                  <a:rPr lang="en-US" dirty="0" err="1"/>
                  <a:t>đến</a:t>
                </a:r>
                <a:r>
                  <a:rPr lang="en-US" dirty="0"/>
                  <a:t> </a:t>
                </a:r>
                <a:r>
                  <a:rPr lang="en-US" dirty="0" err="1"/>
                  <a:t>những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:r>
                  <a:rPr lang="en-US" dirty="0" err="1"/>
                  <a:t>nào</a:t>
                </a:r>
                <a:r>
                  <a:rPr lang="en-US" dirty="0"/>
                  <a:t> </a:t>
                </a:r>
                <a:r>
                  <a:rPr lang="en-US" dirty="0" err="1"/>
                  <a:t>khác</a:t>
                </a:r>
                <a:r>
                  <a:rPr lang="en-US" dirty="0"/>
                  <a:t> </a:t>
                </a:r>
                <a:r>
                  <a:rPr lang="en-US" dirty="0" err="1"/>
                  <a:t>trên</a:t>
                </a:r>
                <a:r>
                  <a:rPr lang="en-US" dirty="0"/>
                  <a:t> </a:t>
                </a:r>
                <a:r>
                  <a:rPr lang="en-US" dirty="0" err="1"/>
                  <a:t>đồ</a:t>
                </a:r>
                <a:r>
                  <a:rPr lang="en-US" dirty="0"/>
                  <a:t> </a:t>
                </a:r>
                <a:r>
                  <a:rPr lang="en-US" dirty="0" err="1"/>
                  <a:t>thị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sz="2400" dirty="0" err="1"/>
                  <a:t>Thứ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tự</a:t>
                </a:r>
                <a:r>
                  <a:rPr lang="en-US" sz="2400" dirty="0"/>
                  <a:t> </a:t>
                </a:r>
                <a:r>
                  <a:rPr lang="en-US" sz="2400" dirty="0" err="1"/>
                  <a:t>duyệt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DFS </a:t>
                </a:r>
                <a:r>
                  <a:rPr lang="en-US" sz="2400" dirty="0" err="1"/>
                  <a:t>theo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cơ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chế</a:t>
                </a:r>
                <a:r>
                  <a:rPr lang="en-US" sz="2400" dirty="0"/>
                  <a:t> </a:t>
                </a:r>
                <a:r>
                  <a:rPr lang="en-US" sz="2400" b="1" i="1" dirty="0" err="1"/>
                  <a:t>vào</a:t>
                </a:r>
                <a:r>
                  <a:rPr lang="en-US" sz="2400" b="1" i="1" dirty="0"/>
                  <a:t> </a:t>
                </a:r>
                <a:r>
                  <a:rPr lang="en-US" sz="2400" b="1" i="1" dirty="0" err="1"/>
                  <a:t>sau</a:t>
                </a:r>
                <a:r>
                  <a:rPr lang="en-US" sz="2400" b="1" i="1" dirty="0"/>
                  <a:t> </a:t>
                </a:r>
                <a:r>
                  <a:rPr lang="en-US" sz="2400" b="1" i="1" dirty="0" err="1"/>
                  <a:t>ra</a:t>
                </a:r>
                <a:r>
                  <a:rPr lang="en-US" sz="2400" b="1" i="1" dirty="0"/>
                  <a:t> </a:t>
                </a:r>
                <a:r>
                  <a:rPr lang="en-US" sz="2400" b="1" i="1" dirty="0" err="1"/>
                  <a:t>trước</a:t>
                </a:r>
                <a:r>
                  <a:rPr lang="en-US" sz="2400" b="1" i="1" dirty="0"/>
                  <a:t> </a:t>
                </a:r>
                <a:r>
                  <a:rPr lang="en-US" sz="2400" dirty="0"/>
                  <a:t>(LIFO – Last In First Out),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bắt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từ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xuất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phát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nào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đó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thể</a:t>
                </a:r>
                <a:r>
                  <a:rPr lang="en-US" dirty="0"/>
                  <a:t> </a:t>
                </a:r>
                <a:r>
                  <a:rPr lang="en-US" dirty="0" err="1"/>
                  <a:t>sử</a:t>
                </a:r>
                <a:r>
                  <a:rPr lang="en-US" dirty="0"/>
                  <a:t> </a:t>
                </a:r>
                <a:r>
                  <a:rPr lang="en-US" dirty="0" err="1"/>
                  <a:t>dụng</a:t>
                </a:r>
                <a:r>
                  <a:rPr lang="en-US" dirty="0"/>
                  <a:t> CTDL </a:t>
                </a:r>
                <a:r>
                  <a:rPr lang="en-US" dirty="0" err="1"/>
                  <a:t>Đệ</a:t>
                </a:r>
                <a:r>
                  <a:rPr lang="en-US" dirty="0"/>
                  <a:t> </a:t>
                </a:r>
                <a:r>
                  <a:rPr lang="en-US" dirty="0" err="1"/>
                  <a:t>quy</a:t>
                </a:r>
                <a:r>
                  <a:rPr lang="en-US" dirty="0"/>
                  <a:t> </a:t>
                </a:r>
                <a:r>
                  <a:rPr lang="en-US" dirty="0" err="1"/>
                  <a:t>quy</a:t>
                </a:r>
                <a:r>
                  <a:rPr lang="en-US" dirty="0"/>
                  <a:t> </a:t>
                </a:r>
                <a:r>
                  <a:rPr lang="en-US" dirty="0" err="1"/>
                  <a:t>lui</a:t>
                </a:r>
                <a:r>
                  <a:rPr lang="en-US" dirty="0"/>
                  <a:t> </a:t>
                </a:r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Ngăn</a:t>
                </a:r>
                <a:r>
                  <a:rPr lang="en-US" dirty="0"/>
                  <a:t> </a:t>
                </a:r>
                <a:r>
                  <a:rPr lang="en-US" dirty="0" err="1"/>
                  <a:t>xếp</a:t>
                </a:r>
                <a:r>
                  <a:rPr lang="en-US" dirty="0"/>
                  <a:t> </a:t>
                </a:r>
                <a:r>
                  <a:rPr lang="en-US" dirty="0" err="1"/>
                  <a:t>để</a:t>
                </a:r>
                <a:r>
                  <a:rPr lang="en-US" dirty="0"/>
                  <a:t> </a:t>
                </a:r>
                <a:r>
                  <a:rPr lang="en-US" dirty="0" err="1"/>
                  <a:t>hỗ</a:t>
                </a:r>
                <a:r>
                  <a:rPr lang="en-US" dirty="0"/>
                  <a:t> </a:t>
                </a:r>
                <a:r>
                  <a:rPr lang="en-US" dirty="0" err="1"/>
                  <a:t>trợ</a:t>
                </a:r>
                <a:r>
                  <a:rPr lang="en-US" dirty="0"/>
                  <a:t> </a:t>
                </a:r>
                <a:r>
                  <a:rPr lang="en-US" dirty="0" err="1"/>
                  <a:t>duyệt</a:t>
                </a:r>
                <a:endParaRPr lang="en-US" dirty="0"/>
              </a:p>
              <a:p>
                <a:r>
                  <a:rPr lang="en-US" sz="2400" dirty="0" err="1"/>
                  <a:t>Độ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phức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tạp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tính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toán</a:t>
                </a:r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:r>
                  <a:rPr lang="en-US" sz="2400" dirty="0" err="1"/>
                  <a:t>trong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đó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tập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vì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mỗi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thăm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lần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03C398D-BA41-EC32-FD5C-584302E262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42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560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5943868-0306-4BE0-3D08-15BC1F28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534F37-3F2E-5174-2917-07CA95E7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Ý tưởng cài đặt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918BA6-7917-FDDC-1F1A-D2232F2B63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20" y="890420"/>
            <a:ext cx="7101840" cy="53275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visit(u); // assign visited[u] = true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not visited[v] then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 DFS(v);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DFS(){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for u in V  do {   visited[u] = false;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for u in V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if not visited[u] then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DFS(u);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} 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A9EA9A4-9A3C-42B3-444A-615EEFB4EA4A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/>
              <a:t>Đồ</a:t>
            </a:r>
            <a:r>
              <a:rPr lang="en-US" sz="2000" dirty="0"/>
              <a:t> </a:t>
            </a:r>
            <a:r>
              <a:rPr lang="en-US" sz="2000" dirty="0" err="1"/>
              <a:t>thị</a:t>
            </a:r>
            <a:r>
              <a:rPr lang="en-US" sz="2000" dirty="0"/>
              <a:t> G = (V, E)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biểu</a:t>
            </a:r>
            <a:r>
              <a:rPr lang="en-US" sz="2000" dirty="0"/>
              <a:t> </a:t>
            </a:r>
            <a:r>
              <a:rPr lang="en-US" sz="2000" dirty="0" err="1"/>
              <a:t>diễn</a:t>
            </a:r>
            <a:r>
              <a:rPr lang="en-US" sz="2000" dirty="0"/>
              <a:t> </a:t>
            </a:r>
            <a:r>
              <a:rPr lang="en-US" sz="2000" dirty="0" err="1"/>
              <a:t>bởi</a:t>
            </a:r>
            <a:r>
              <a:rPr lang="en-US" sz="2000" dirty="0"/>
              <a:t> </a:t>
            </a: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kề</a:t>
            </a:r>
            <a:endParaRPr lang="en-US" sz="2000" dirty="0"/>
          </a:p>
          <a:p>
            <a:r>
              <a:rPr lang="en-US" sz="2000" dirty="0" err="1"/>
              <a:t>Mảng</a:t>
            </a:r>
            <a:r>
              <a:rPr lang="en-US" sz="2000" dirty="0"/>
              <a:t> </a:t>
            </a:r>
            <a:r>
              <a:rPr lang="en-US" sz="2000" dirty="0" err="1"/>
              <a:t>đánh</a:t>
            </a:r>
            <a:r>
              <a:rPr lang="en-US" sz="2000" dirty="0"/>
              <a:t> </a:t>
            </a:r>
            <a:r>
              <a:rPr lang="en-US" sz="2000" dirty="0" err="1"/>
              <a:t>dấu</a:t>
            </a:r>
            <a:r>
              <a:rPr lang="en-US" sz="2000" dirty="0"/>
              <a:t>: </a:t>
            </a:r>
          </a:p>
          <a:p>
            <a:pPr lvl="1"/>
            <a:r>
              <a:rPr lang="en-US" sz="2000" dirty="0"/>
              <a:t>visited[u] = true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r>
              <a:rPr lang="en-US" sz="2000" dirty="0"/>
              <a:t> u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visited[u] = false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nghĩa</a:t>
            </a:r>
            <a:r>
              <a:rPr lang="en-US" sz="2000" dirty="0"/>
              <a:t> u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933891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(DFS</a:t>
            </a:r>
            <a:r>
              <a:rPr lang="en-US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400" b="1" dirty="0" err="1"/>
              <a:t>Cây</a:t>
            </a:r>
            <a:r>
              <a:rPr lang="en-US" sz="2400" b="1" dirty="0"/>
              <a:t> DFS </a:t>
            </a:r>
            <a:r>
              <a:rPr lang="en-US" sz="2400" b="1" dirty="0" err="1"/>
              <a:t>và</a:t>
            </a:r>
            <a:r>
              <a:rPr lang="en-US" sz="2400" b="1" dirty="0"/>
              <a:t> </a:t>
            </a:r>
            <a:r>
              <a:rPr lang="en-US" sz="2400" b="1" dirty="0" err="1"/>
              <a:t>cấu</a:t>
            </a:r>
            <a:r>
              <a:rPr lang="en-US" sz="2400" b="1" dirty="0"/>
              <a:t> </a:t>
            </a:r>
            <a:r>
              <a:rPr lang="en-US" sz="2400" b="1" dirty="0" err="1"/>
              <a:t>trúc</a:t>
            </a:r>
            <a:r>
              <a:rPr lang="en-US" sz="2400" b="1" dirty="0"/>
              <a:t> Num, Low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(bridges)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</a:t>
            </a:r>
            <a:r>
              <a:rPr lang="en-US" sz="2400" dirty="0" err="1"/>
              <a:t>khớp</a:t>
            </a:r>
            <a:r>
              <a:rPr lang="en-US" sz="2400" dirty="0"/>
              <a:t> (a</a:t>
            </a:r>
            <a:r>
              <a:rPr lang="vi-VN" sz="2400" dirty="0"/>
              <a:t>rticulation</a:t>
            </a:r>
            <a:r>
              <a:rPr lang="en-US" sz="24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phần</a:t>
            </a:r>
            <a:r>
              <a:rPr lang="en-US" sz="2400" dirty="0"/>
              <a:t> </a:t>
            </a:r>
            <a:r>
              <a:rPr lang="en-US" sz="2400" dirty="0" err="1"/>
              <a:t>liên</a:t>
            </a:r>
            <a:r>
              <a:rPr lang="en-US" sz="2400" dirty="0"/>
              <a:t> </a:t>
            </a:r>
            <a:r>
              <a:rPr lang="en-US" sz="2400" dirty="0" err="1"/>
              <a:t>thông</a:t>
            </a:r>
            <a:r>
              <a:rPr lang="en-US" sz="2400" dirty="0"/>
              <a:t> </a:t>
            </a:r>
            <a:r>
              <a:rPr lang="en-US" sz="2400" dirty="0" err="1"/>
              <a:t>mạnh</a:t>
            </a:r>
            <a:r>
              <a:rPr lang="en-US" sz="2400" dirty="0"/>
              <a:t> (strongly connected component)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892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BD297-4598-4499-B77F-D00B64C9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EC49E-CD56-D4BA-B4DA-0AACE1A1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Cây DFS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1247-4C8B-31E5-A2F2-C1EDE277714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2400" dirty="0" err="1"/>
              <a:t>Vết</a:t>
            </a:r>
            <a:r>
              <a:rPr lang="en-US" sz="2400" dirty="0"/>
              <a:t> </a:t>
            </a:r>
            <a:r>
              <a:rPr lang="en-US" sz="2400" dirty="0" err="1"/>
              <a:t>của</a:t>
            </a:r>
            <a:r>
              <a:rPr lang="en-US" sz="2400" dirty="0"/>
              <a:t> </a:t>
            </a:r>
            <a:r>
              <a:rPr lang="en-US" sz="2400" dirty="0" err="1"/>
              <a:t>quá</a:t>
            </a:r>
            <a:r>
              <a:rPr lang="en-US" sz="2400" dirty="0"/>
              <a:t> </a:t>
            </a:r>
            <a:r>
              <a:rPr lang="en-US" sz="2400" dirty="0" err="1"/>
              <a:t>trình</a:t>
            </a:r>
            <a:r>
              <a:rPr lang="en-US" sz="2400" dirty="0"/>
              <a:t> </a:t>
            </a: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dirty="0" err="1"/>
              <a:t>tạo</a:t>
            </a:r>
            <a:r>
              <a:rPr lang="en-US" sz="2400" dirty="0"/>
              <a:t> </a:t>
            </a:r>
            <a:r>
              <a:rPr lang="en-US" sz="2400" dirty="0" err="1"/>
              <a:t>thành</a:t>
            </a:r>
            <a:r>
              <a:rPr lang="en-US" sz="2400" dirty="0"/>
              <a:t> </a:t>
            </a:r>
            <a:r>
              <a:rPr lang="en-US" sz="2400" dirty="0" err="1"/>
              <a:t>một</a:t>
            </a:r>
            <a:r>
              <a:rPr lang="en-US" sz="2400" dirty="0"/>
              <a:t> </a:t>
            </a:r>
            <a:r>
              <a:rPr lang="en-US" sz="2400" dirty="0" err="1"/>
              <a:t>cây</a:t>
            </a:r>
            <a:endParaRPr lang="en-US" sz="2400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B48DD76-F7BC-8A11-CF89-A92A663D4D15}"/>
              </a:ext>
            </a:extLst>
          </p:cNvPr>
          <p:cNvSpPr/>
          <p:nvPr/>
        </p:nvSpPr>
        <p:spPr>
          <a:xfrm>
            <a:off x="2706757" y="1891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CE2A867-B35F-4D78-3CB6-AE17030756B8}"/>
              </a:ext>
            </a:extLst>
          </p:cNvPr>
          <p:cNvSpPr/>
          <p:nvPr/>
        </p:nvSpPr>
        <p:spPr>
          <a:xfrm>
            <a:off x="1546131" y="3034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A2595D-93AB-0854-D994-FDE403862A74}"/>
              </a:ext>
            </a:extLst>
          </p:cNvPr>
          <p:cNvSpPr/>
          <p:nvPr/>
        </p:nvSpPr>
        <p:spPr>
          <a:xfrm>
            <a:off x="1639957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C8FFEA-E869-852D-2F51-CF6A813387E8}"/>
              </a:ext>
            </a:extLst>
          </p:cNvPr>
          <p:cNvSpPr/>
          <p:nvPr/>
        </p:nvSpPr>
        <p:spPr>
          <a:xfrm>
            <a:off x="4017003" y="2908852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4D3DA57-9368-14B6-957B-EAAE9CA54273}"/>
              </a:ext>
            </a:extLst>
          </p:cNvPr>
          <p:cNvSpPr/>
          <p:nvPr/>
        </p:nvSpPr>
        <p:spPr>
          <a:xfrm>
            <a:off x="4017003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31EA7BF-F296-D8C6-531B-88041D8579F8}"/>
              </a:ext>
            </a:extLst>
          </p:cNvPr>
          <p:cNvCxnSpPr>
            <a:stCxn id="5" idx="3"/>
            <a:endCxn id="6" idx="7"/>
          </p:cNvCxnSpPr>
          <p:nvPr/>
        </p:nvCxnSpPr>
        <p:spPr>
          <a:xfrm flipH="1">
            <a:off x="2131498" y="2412074"/>
            <a:ext cx="675692" cy="7119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0708F7-1FAF-EA34-14E0-7F71CF8D6DE8}"/>
              </a:ext>
            </a:extLst>
          </p:cNvPr>
          <p:cNvCxnSpPr>
            <a:stCxn id="6" idx="4"/>
            <a:endCxn id="7" idx="0"/>
          </p:cNvCxnSpPr>
          <p:nvPr/>
        </p:nvCxnSpPr>
        <p:spPr>
          <a:xfrm>
            <a:off x="1889031" y="3644348"/>
            <a:ext cx="93826" cy="1143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9E903F1-2081-BF65-90F0-85F9E316D356}"/>
              </a:ext>
            </a:extLst>
          </p:cNvPr>
          <p:cNvCxnSpPr>
            <a:endCxn id="7" idx="6"/>
          </p:cNvCxnSpPr>
          <p:nvPr/>
        </p:nvCxnSpPr>
        <p:spPr>
          <a:xfrm flipH="1">
            <a:off x="2325757" y="5092148"/>
            <a:ext cx="1691246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876A82-7C87-8F91-A044-57A3AF941D91}"/>
              </a:ext>
            </a:extLst>
          </p:cNvPr>
          <p:cNvCxnSpPr>
            <a:stCxn id="8" idx="4"/>
            <a:endCxn id="9" idx="0"/>
          </p:cNvCxnSpPr>
          <p:nvPr/>
        </p:nvCxnSpPr>
        <p:spPr>
          <a:xfrm>
            <a:off x="4359903" y="3518452"/>
            <a:ext cx="0" cy="12688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E1E60F0-11EA-A869-CF04-691CEFD805EF}"/>
              </a:ext>
            </a:extLst>
          </p:cNvPr>
          <p:cNvCxnSpPr>
            <a:stCxn id="5" idx="5"/>
            <a:endCxn id="8" idx="0"/>
          </p:cNvCxnSpPr>
          <p:nvPr/>
        </p:nvCxnSpPr>
        <p:spPr>
          <a:xfrm>
            <a:off x="3292124" y="2412074"/>
            <a:ext cx="1067779" cy="49677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0CBB3F5-9B32-3A49-C162-39461A59F3E9}"/>
              </a:ext>
            </a:extLst>
          </p:cNvPr>
          <p:cNvCxnSpPr>
            <a:stCxn id="5" idx="4"/>
            <a:endCxn id="7" idx="7"/>
          </p:cNvCxnSpPr>
          <p:nvPr/>
        </p:nvCxnSpPr>
        <p:spPr>
          <a:xfrm flipH="1">
            <a:off x="2225324" y="2501348"/>
            <a:ext cx="824333" cy="2375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8A0071B-2BF6-9587-609C-2E2127C12950}"/>
              </a:ext>
            </a:extLst>
          </p:cNvPr>
          <p:cNvCxnSpPr>
            <a:stCxn id="9" idx="1"/>
          </p:cNvCxnSpPr>
          <p:nvPr/>
        </p:nvCxnSpPr>
        <p:spPr>
          <a:xfrm flipH="1" flipV="1">
            <a:off x="3202058" y="2501348"/>
            <a:ext cx="915378" cy="23752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AF4949F7-52D2-64B8-2C3A-6D395288AA39}"/>
              </a:ext>
            </a:extLst>
          </p:cNvPr>
          <p:cNvSpPr/>
          <p:nvPr/>
        </p:nvSpPr>
        <p:spPr>
          <a:xfrm>
            <a:off x="8453381" y="18917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DCC971-2E8E-34AE-2880-5B34EA0B66B4}"/>
              </a:ext>
            </a:extLst>
          </p:cNvPr>
          <p:cNvSpPr/>
          <p:nvPr/>
        </p:nvSpPr>
        <p:spPr>
          <a:xfrm>
            <a:off x="7386581" y="31109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4DC54F-BE3C-DE70-7F16-971EB4320FAB}"/>
              </a:ext>
            </a:extLst>
          </p:cNvPr>
          <p:cNvSpPr/>
          <p:nvPr/>
        </p:nvSpPr>
        <p:spPr>
          <a:xfrm>
            <a:off x="7386581" y="47873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A84769-4B14-14E7-C12E-1CC55ED7FE5D}"/>
              </a:ext>
            </a:extLst>
          </p:cNvPr>
          <p:cNvSpPr/>
          <p:nvPr/>
        </p:nvSpPr>
        <p:spPr>
          <a:xfrm>
            <a:off x="9367781" y="311094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A0D13B-3B9A-E97B-9A19-FC6068F0EAC3}"/>
              </a:ext>
            </a:extLst>
          </p:cNvPr>
          <p:cNvSpPr/>
          <p:nvPr/>
        </p:nvSpPr>
        <p:spPr>
          <a:xfrm>
            <a:off x="9420727" y="4858252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0DFDCD-9DA2-3140-352C-A2D97E478987}"/>
              </a:ext>
            </a:extLst>
          </p:cNvPr>
          <p:cNvCxnSpPr>
            <a:stCxn id="17" idx="3"/>
            <a:endCxn id="18" idx="7"/>
          </p:cNvCxnSpPr>
          <p:nvPr/>
        </p:nvCxnSpPr>
        <p:spPr>
          <a:xfrm flipH="1">
            <a:off x="7971948" y="2412074"/>
            <a:ext cx="581866" cy="7881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48275-7AD8-3E81-4835-2257B5867B76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>
            <a:off x="7729481" y="3720548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47418C-1BBD-17C4-D8D8-D80B31E44351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>
            <a:off x="9710681" y="3720548"/>
            <a:ext cx="52946" cy="113770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F60959-FD6E-7D1F-09FD-3C5AB192C6C8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9038748" y="2412074"/>
            <a:ext cx="671933" cy="69887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725AAF4C-0C20-E243-4D40-290561E4C086}"/>
              </a:ext>
            </a:extLst>
          </p:cNvPr>
          <p:cNvSpPr/>
          <p:nvPr/>
        </p:nvSpPr>
        <p:spPr>
          <a:xfrm>
            <a:off x="5282455" y="3213652"/>
            <a:ext cx="1182757" cy="430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416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7BD297-4598-4499-B77F-D00B64C95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47EC49E-CD56-D4BA-B4DA-0AACE1A1B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Cây DFS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61247-4C8B-31E5-A2F2-C1EDE277714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38735" y="1058844"/>
            <a:ext cx="8089859" cy="4631837"/>
          </a:xfrm>
        </p:spPr>
        <p:txBody>
          <a:bodyPr/>
          <a:lstStyle/>
          <a:p>
            <a:r>
              <a:rPr lang="en-US" sz="2000" dirty="0" err="1"/>
              <a:t>Vết</a:t>
            </a:r>
            <a:r>
              <a:rPr lang="en-US" sz="2000" dirty="0"/>
              <a:t> </a:t>
            </a:r>
            <a:r>
              <a:rPr lang="en-US" sz="2000" dirty="0" err="1"/>
              <a:t>của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sâu</a:t>
            </a:r>
            <a:r>
              <a:rPr lang="en-US" sz="2000" dirty="0"/>
              <a:t> </a:t>
            </a:r>
            <a:r>
              <a:rPr lang="en-US" sz="2000" dirty="0" err="1"/>
              <a:t>sẽ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thành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cây</a:t>
            </a:r>
            <a:endParaRPr lang="en-US" sz="2000" dirty="0"/>
          </a:p>
          <a:p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số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</a:t>
            </a:r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tìm</a:t>
            </a:r>
            <a:r>
              <a:rPr lang="en-US" sz="2000" dirty="0"/>
              <a:t> </a:t>
            </a:r>
            <a:r>
              <a:rPr lang="en-US" sz="2000" dirty="0" err="1"/>
              <a:t>kiếm</a:t>
            </a:r>
            <a:endParaRPr lang="en-US" sz="2000" dirty="0"/>
          </a:p>
          <a:p>
            <a:pPr lvl="1"/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cây</a:t>
            </a:r>
            <a:r>
              <a:rPr lang="en-US" sz="2000" dirty="0"/>
              <a:t> (Tree Edge): </a:t>
            </a:r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đó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đỉnh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đỉnh</a:t>
            </a:r>
            <a:r>
              <a:rPr lang="en-US" sz="2000" dirty="0"/>
              <a:t> </a:t>
            </a:r>
            <a:r>
              <a:rPr lang="en-US" sz="2000" dirty="0" err="1"/>
              <a:t>mới</a:t>
            </a:r>
            <a:r>
              <a:rPr lang="en-US" sz="2000" dirty="0"/>
              <a:t>, </a:t>
            </a:r>
            <a:r>
              <a:rPr lang="en-US" sz="2000" i="1" dirty="0" err="1"/>
              <a:t>ví</a:t>
            </a:r>
            <a:r>
              <a:rPr lang="en-US" sz="2000" i="1" dirty="0"/>
              <a:t> </a:t>
            </a:r>
            <a:r>
              <a:rPr lang="en-US" sz="2000" i="1" dirty="0" err="1"/>
              <a:t>dụ</a:t>
            </a:r>
            <a:r>
              <a:rPr lang="en-US" sz="2000" i="1" dirty="0"/>
              <a:t> </a:t>
            </a:r>
            <a:r>
              <a:rPr lang="en-US" sz="2000" i="1" dirty="0" err="1"/>
              <a:t>cạnh</a:t>
            </a:r>
            <a:r>
              <a:rPr lang="en-US" sz="2000" i="1" dirty="0"/>
              <a:t> </a:t>
            </a:r>
            <a:r>
              <a:rPr lang="en-US" sz="2000" i="1" dirty="0" err="1"/>
              <a:t>màu</a:t>
            </a:r>
            <a:r>
              <a:rPr lang="en-US" sz="2000" i="1" dirty="0"/>
              <a:t> </a:t>
            </a:r>
            <a:r>
              <a:rPr lang="en-US" sz="2000" i="1" dirty="0" err="1"/>
              <a:t>đen</a:t>
            </a:r>
            <a:r>
              <a:rPr lang="en-US" sz="2000" i="1" dirty="0"/>
              <a:t> </a:t>
            </a:r>
            <a:r>
              <a:rPr lang="en-US" sz="2000" i="1" dirty="0" err="1"/>
              <a:t>trong</a:t>
            </a:r>
            <a:r>
              <a:rPr lang="en-US" sz="2000" i="1" dirty="0"/>
              <a:t> </a:t>
            </a:r>
            <a:r>
              <a:rPr lang="en-US" sz="2000" i="1" dirty="0" err="1"/>
              <a:t>hình</a:t>
            </a:r>
            <a:r>
              <a:rPr lang="en-US" sz="2000" i="1" dirty="0"/>
              <a:t> </a:t>
            </a:r>
            <a:r>
              <a:rPr lang="en-US" sz="2000" i="1" dirty="0" err="1"/>
              <a:t>bên</a:t>
            </a:r>
            <a:endParaRPr lang="en-US" sz="2000" i="1" dirty="0"/>
          </a:p>
          <a:p>
            <a:pPr lvl="1"/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ngược</a:t>
            </a:r>
            <a:r>
              <a:rPr lang="en-US" sz="2000" dirty="0"/>
              <a:t> (Back Edge): </a:t>
            </a:r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con </a:t>
            </a:r>
            <a:r>
              <a:rPr lang="en-US" sz="2000" dirty="0" err="1"/>
              <a:t>cháu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, </a:t>
            </a:r>
            <a:r>
              <a:rPr lang="en-US" sz="2000" i="1" dirty="0" err="1"/>
              <a:t>ví</a:t>
            </a:r>
            <a:r>
              <a:rPr lang="en-US" sz="2000" i="1" dirty="0"/>
              <a:t> </a:t>
            </a:r>
            <a:r>
              <a:rPr lang="en-US" sz="2000" i="1" dirty="0" err="1"/>
              <a:t>dụ</a:t>
            </a:r>
            <a:r>
              <a:rPr lang="en-US" sz="2000" i="1" dirty="0"/>
              <a:t> </a:t>
            </a:r>
            <a:r>
              <a:rPr lang="en-US" sz="2000" i="1" dirty="0" err="1"/>
              <a:t>cạnh</a:t>
            </a:r>
            <a:r>
              <a:rPr lang="en-US" sz="2000" i="1" dirty="0"/>
              <a:t> </a:t>
            </a:r>
            <a:r>
              <a:rPr lang="en-US" sz="2000" i="1" dirty="0" err="1"/>
              <a:t>màu</a:t>
            </a:r>
            <a:r>
              <a:rPr lang="en-US" sz="2000" i="1" dirty="0"/>
              <a:t> </a:t>
            </a:r>
            <a:r>
              <a:rPr lang="en-US" sz="2000" i="1" dirty="0" err="1"/>
              <a:t>đỏ</a:t>
            </a:r>
            <a:r>
              <a:rPr lang="en-US" sz="2000" i="1" dirty="0"/>
              <a:t> (</a:t>
            </a:r>
            <a:r>
              <a:rPr lang="en-US" sz="2000" i="1" dirty="0" err="1"/>
              <a:t>g,a</a:t>
            </a:r>
            <a:r>
              <a:rPr lang="en-US" sz="2000" i="1" dirty="0"/>
              <a:t>) </a:t>
            </a:r>
            <a:r>
              <a:rPr lang="en-US" sz="2000" i="1" dirty="0" err="1"/>
              <a:t>trong</a:t>
            </a:r>
            <a:r>
              <a:rPr lang="en-US" sz="2000" i="1" dirty="0"/>
              <a:t> </a:t>
            </a:r>
            <a:r>
              <a:rPr lang="en-US" sz="2000" i="1" dirty="0" err="1"/>
              <a:t>hình</a:t>
            </a:r>
            <a:r>
              <a:rPr lang="en-US" sz="2000" i="1" dirty="0"/>
              <a:t> </a:t>
            </a:r>
            <a:r>
              <a:rPr lang="en-US" sz="2000" i="1" dirty="0" err="1"/>
              <a:t>bên</a:t>
            </a:r>
            <a:endParaRPr lang="en-US" sz="2000" i="1" dirty="0"/>
          </a:p>
          <a:p>
            <a:pPr lvl="1"/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xuôi</a:t>
            </a:r>
            <a:r>
              <a:rPr lang="en-US" sz="2000" dirty="0"/>
              <a:t> (Forward Edge):  </a:t>
            </a:r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đi</a:t>
            </a:r>
            <a:r>
              <a:rPr lang="en-US" sz="2000" dirty="0"/>
              <a:t> </a:t>
            </a:r>
            <a:r>
              <a:rPr lang="en-US" sz="2000" dirty="0" err="1"/>
              <a:t>từ</a:t>
            </a:r>
            <a:r>
              <a:rPr lang="en-US" sz="2000" dirty="0"/>
              <a:t> </a:t>
            </a:r>
            <a:r>
              <a:rPr lang="en-US" sz="2000" dirty="0" err="1"/>
              <a:t>tổ</a:t>
            </a:r>
            <a:r>
              <a:rPr lang="en-US" sz="2000" dirty="0"/>
              <a:t> </a:t>
            </a:r>
            <a:r>
              <a:rPr lang="en-US" sz="2000" dirty="0" err="1"/>
              <a:t>tiên</a:t>
            </a:r>
            <a:r>
              <a:rPr lang="en-US" sz="2000" dirty="0"/>
              <a:t> </a:t>
            </a:r>
            <a:r>
              <a:rPr lang="en-US" sz="2000" dirty="0" err="1"/>
              <a:t>đến</a:t>
            </a:r>
            <a:r>
              <a:rPr lang="en-US" sz="2000" dirty="0"/>
              <a:t> con </a:t>
            </a:r>
            <a:r>
              <a:rPr lang="en-US" sz="2000" dirty="0" err="1"/>
              <a:t>cháu</a:t>
            </a:r>
            <a:r>
              <a:rPr lang="en-US" sz="2000" dirty="0"/>
              <a:t>, </a:t>
            </a:r>
            <a:r>
              <a:rPr lang="en-US" sz="2000" i="1" dirty="0" err="1"/>
              <a:t>ví</a:t>
            </a:r>
            <a:r>
              <a:rPr lang="en-US" sz="2000" i="1" dirty="0"/>
              <a:t> </a:t>
            </a:r>
            <a:r>
              <a:rPr lang="en-US" sz="2000" i="1" dirty="0" err="1"/>
              <a:t>dụ</a:t>
            </a:r>
            <a:r>
              <a:rPr lang="en-US" sz="2000" i="1" dirty="0"/>
              <a:t> </a:t>
            </a:r>
            <a:r>
              <a:rPr lang="en-US" sz="2000" i="1" dirty="0" err="1"/>
              <a:t>cạnh</a:t>
            </a:r>
            <a:r>
              <a:rPr lang="en-US" sz="2000" i="1" dirty="0"/>
              <a:t> </a:t>
            </a:r>
            <a:r>
              <a:rPr lang="en-US" sz="2000" i="1" dirty="0" err="1"/>
              <a:t>màu</a:t>
            </a:r>
            <a:r>
              <a:rPr lang="en-US" sz="2000" i="1" dirty="0"/>
              <a:t> </a:t>
            </a:r>
            <a:r>
              <a:rPr lang="en-US" sz="2000" i="1" dirty="0" err="1"/>
              <a:t>xanh</a:t>
            </a:r>
            <a:r>
              <a:rPr lang="en-US" sz="2000" i="1" dirty="0"/>
              <a:t> (</a:t>
            </a:r>
            <a:r>
              <a:rPr lang="en-US" sz="2000" i="1" dirty="0" err="1"/>
              <a:t>a,c</a:t>
            </a:r>
            <a:r>
              <a:rPr lang="en-US" sz="2000" i="1" dirty="0"/>
              <a:t>) </a:t>
            </a:r>
            <a:r>
              <a:rPr lang="en-US" sz="2000" i="1" dirty="0" err="1"/>
              <a:t>trong</a:t>
            </a:r>
            <a:r>
              <a:rPr lang="en-US" sz="2000" i="1" dirty="0"/>
              <a:t> </a:t>
            </a:r>
            <a:r>
              <a:rPr lang="en-US" sz="2000" i="1" dirty="0" err="1"/>
              <a:t>hình</a:t>
            </a:r>
            <a:r>
              <a:rPr lang="en-US" sz="2000" i="1" dirty="0"/>
              <a:t> </a:t>
            </a:r>
            <a:r>
              <a:rPr lang="en-US" sz="2000" i="1" dirty="0" err="1"/>
              <a:t>bên</a:t>
            </a:r>
            <a:endParaRPr lang="en-US" sz="2000" i="1" dirty="0"/>
          </a:p>
          <a:p>
            <a:pPr lvl="1"/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vòng</a:t>
            </a:r>
            <a:r>
              <a:rPr lang="en-US" sz="2000" dirty="0"/>
              <a:t> (Crossing Edge): </a:t>
            </a:r>
            <a:r>
              <a:rPr lang="en-US" sz="2000" dirty="0" err="1"/>
              <a:t>Cạnh</a:t>
            </a:r>
            <a:r>
              <a:rPr lang="en-US" sz="2000" dirty="0"/>
              <a:t> </a:t>
            </a:r>
            <a:r>
              <a:rPr lang="en-US" sz="2000" dirty="0" err="1"/>
              <a:t>nối</a:t>
            </a:r>
            <a:r>
              <a:rPr lang="en-US" sz="2000" dirty="0"/>
              <a:t> </a:t>
            </a:r>
            <a:r>
              <a:rPr lang="en-US" sz="2000" dirty="0" err="1"/>
              <a:t>giữa</a:t>
            </a:r>
            <a:r>
              <a:rPr lang="en-US" sz="2000" dirty="0"/>
              <a:t> 2 </a:t>
            </a:r>
            <a:r>
              <a:rPr lang="en-US" sz="2000" dirty="0" err="1"/>
              <a:t>đỉnh</a:t>
            </a:r>
            <a:r>
              <a:rPr lang="en-US" sz="2000" dirty="0"/>
              <a:t> </a:t>
            </a:r>
            <a:r>
              <a:rPr lang="en-US" sz="2000" dirty="0" err="1"/>
              <a:t>không</a:t>
            </a:r>
            <a:r>
              <a:rPr lang="en-US" sz="2000" dirty="0"/>
              <a:t>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, </a:t>
            </a:r>
            <a:r>
              <a:rPr lang="en-US" sz="2000" i="1" dirty="0" err="1"/>
              <a:t>ví</a:t>
            </a:r>
            <a:r>
              <a:rPr lang="en-US" sz="2000" i="1" dirty="0"/>
              <a:t> </a:t>
            </a:r>
            <a:r>
              <a:rPr lang="en-US" sz="2000" i="1" dirty="0" err="1"/>
              <a:t>dụ</a:t>
            </a:r>
            <a:r>
              <a:rPr lang="en-US" sz="2000" i="1" dirty="0"/>
              <a:t> </a:t>
            </a:r>
            <a:r>
              <a:rPr lang="en-US" sz="2000" i="1" dirty="0" err="1"/>
              <a:t>cạnh</a:t>
            </a:r>
            <a:r>
              <a:rPr lang="en-US" sz="2000" i="1" dirty="0"/>
              <a:t> </a:t>
            </a:r>
            <a:r>
              <a:rPr lang="en-US" sz="2000" i="1" dirty="0" err="1"/>
              <a:t>màu</a:t>
            </a:r>
            <a:r>
              <a:rPr lang="en-US" sz="2000" i="1" dirty="0"/>
              <a:t> </a:t>
            </a:r>
            <a:r>
              <a:rPr lang="en-US" sz="2000" i="1" dirty="0" err="1"/>
              <a:t>tím</a:t>
            </a:r>
            <a:r>
              <a:rPr lang="en-US" sz="2000" i="1" dirty="0"/>
              <a:t> </a:t>
            </a:r>
            <a:r>
              <a:rPr lang="en-US" sz="2000" i="1" dirty="0" err="1"/>
              <a:t>nét</a:t>
            </a:r>
            <a:r>
              <a:rPr lang="en-US" sz="2000" i="1" dirty="0"/>
              <a:t> </a:t>
            </a:r>
            <a:r>
              <a:rPr lang="en-US" sz="2000" i="1" dirty="0" err="1"/>
              <a:t>đứt</a:t>
            </a:r>
            <a:r>
              <a:rPr lang="en-US" sz="2000" i="1" dirty="0"/>
              <a:t> (</a:t>
            </a:r>
            <a:r>
              <a:rPr lang="en-US" sz="2000" i="1" dirty="0" err="1"/>
              <a:t>c,g</a:t>
            </a:r>
            <a:r>
              <a:rPr lang="en-US" sz="2000" i="1" dirty="0"/>
              <a:t>) </a:t>
            </a:r>
            <a:r>
              <a:rPr lang="en-US" sz="2000" i="1" dirty="0" err="1"/>
              <a:t>trong</a:t>
            </a:r>
            <a:r>
              <a:rPr lang="en-US" sz="2000" i="1" dirty="0"/>
              <a:t> </a:t>
            </a:r>
            <a:r>
              <a:rPr lang="en-US" sz="2000" i="1" dirty="0" err="1"/>
              <a:t>hình</a:t>
            </a:r>
            <a:r>
              <a:rPr lang="en-US" sz="2000" i="1" dirty="0"/>
              <a:t> </a:t>
            </a:r>
            <a:r>
              <a:rPr lang="en-US" sz="2000" i="1" dirty="0" err="1"/>
              <a:t>bên</a:t>
            </a:r>
            <a:endParaRPr lang="en-US" sz="2000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F4949F7-52D2-64B8-2C3A-6D395288AA39}"/>
              </a:ext>
            </a:extLst>
          </p:cNvPr>
          <p:cNvSpPr/>
          <p:nvPr/>
        </p:nvSpPr>
        <p:spPr>
          <a:xfrm>
            <a:off x="9534473" y="17681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a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EDCC971-2E8E-34AE-2880-5B34EA0B66B4}"/>
              </a:ext>
            </a:extLst>
          </p:cNvPr>
          <p:cNvSpPr/>
          <p:nvPr/>
        </p:nvSpPr>
        <p:spPr>
          <a:xfrm>
            <a:off x="8467673" y="29873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34DC54F-BE3C-DE70-7F16-971EB4320FAB}"/>
              </a:ext>
            </a:extLst>
          </p:cNvPr>
          <p:cNvSpPr/>
          <p:nvPr/>
        </p:nvSpPr>
        <p:spPr>
          <a:xfrm>
            <a:off x="8467673" y="46637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c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8A84769-4B14-14E7-C12E-1CC55ED7FE5D}"/>
              </a:ext>
            </a:extLst>
          </p:cNvPr>
          <p:cNvSpPr/>
          <p:nvPr/>
        </p:nvSpPr>
        <p:spPr>
          <a:xfrm>
            <a:off x="10802655" y="2869490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f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F5A0D13B-3B9A-E97B-9A19-FC6068F0EAC3}"/>
              </a:ext>
            </a:extLst>
          </p:cNvPr>
          <p:cNvSpPr/>
          <p:nvPr/>
        </p:nvSpPr>
        <p:spPr>
          <a:xfrm>
            <a:off x="10844719" y="4663758"/>
            <a:ext cx="685800" cy="609600"/>
          </a:xfrm>
          <a:prstGeom prst="ellipse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000" dirty="0"/>
              <a:t>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80DFDCD-9DA2-3140-352C-A2D97E478987}"/>
              </a:ext>
            </a:extLst>
          </p:cNvPr>
          <p:cNvCxnSpPr>
            <a:stCxn id="17" idx="3"/>
            <a:endCxn id="18" idx="7"/>
          </p:cNvCxnSpPr>
          <p:nvPr/>
        </p:nvCxnSpPr>
        <p:spPr>
          <a:xfrm flipH="1">
            <a:off x="9053040" y="2288484"/>
            <a:ext cx="581866" cy="78814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6E48275-7AD8-3E81-4835-2257B5867B76}"/>
              </a:ext>
            </a:extLst>
          </p:cNvPr>
          <p:cNvCxnSpPr>
            <a:stCxn id="18" idx="4"/>
            <a:endCxn id="19" idx="0"/>
          </p:cNvCxnSpPr>
          <p:nvPr/>
        </p:nvCxnSpPr>
        <p:spPr>
          <a:xfrm>
            <a:off x="8810573" y="3596958"/>
            <a:ext cx="0" cy="106680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4F03361-15D8-2E33-1E07-EB0968CF109F}"/>
              </a:ext>
            </a:extLst>
          </p:cNvPr>
          <p:cNvCxnSpPr>
            <a:endCxn id="19" idx="6"/>
          </p:cNvCxnSpPr>
          <p:nvPr/>
        </p:nvCxnSpPr>
        <p:spPr>
          <a:xfrm flipH="1">
            <a:off x="9153473" y="4968558"/>
            <a:ext cx="1691246" cy="0"/>
          </a:xfrm>
          <a:prstGeom prst="straightConnector1">
            <a:avLst/>
          </a:prstGeom>
          <a:ln w="38100">
            <a:solidFill>
              <a:srgbClr val="7030A0"/>
            </a:solidFill>
            <a:prstDash val="sysDot"/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847418C-1BBD-17C4-D8D8-D80B31E44351}"/>
              </a:ext>
            </a:extLst>
          </p:cNvPr>
          <p:cNvCxnSpPr>
            <a:stCxn id="20" idx="4"/>
            <a:endCxn id="21" idx="0"/>
          </p:cNvCxnSpPr>
          <p:nvPr/>
        </p:nvCxnSpPr>
        <p:spPr>
          <a:xfrm>
            <a:off x="11145555" y="3479090"/>
            <a:ext cx="42064" cy="118466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5F60959-FD6E-7D1F-09FD-3C5AB192C6C8}"/>
              </a:ext>
            </a:extLst>
          </p:cNvPr>
          <p:cNvCxnSpPr>
            <a:stCxn id="17" idx="5"/>
            <a:endCxn id="20" idx="0"/>
          </p:cNvCxnSpPr>
          <p:nvPr/>
        </p:nvCxnSpPr>
        <p:spPr>
          <a:xfrm>
            <a:off x="10119840" y="2288484"/>
            <a:ext cx="1025715" cy="581006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6C7A7FD-3C73-E6E8-2CEF-FD40A2822328}"/>
              </a:ext>
            </a:extLst>
          </p:cNvPr>
          <p:cNvCxnSpPr>
            <a:stCxn id="17" idx="4"/>
            <a:endCxn id="19" idx="7"/>
          </p:cNvCxnSpPr>
          <p:nvPr/>
        </p:nvCxnSpPr>
        <p:spPr>
          <a:xfrm flipH="1">
            <a:off x="9053040" y="2377758"/>
            <a:ext cx="824333" cy="2375274"/>
          </a:xfrm>
          <a:prstGeom prst="straightConnector1">
            <a:avLst/>
          </a:prstGeom>
          <a:ln w="38100">
            <a:solidFill>
              <a:schemeClr val="accent5">
                <a:lumMod val="50000"/>
              </a:schemeClr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C3CE206-71AF-9D67-EFBE-BE4446A8CEDE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10029774" y="2377758"/>
            <a:ext cx="915378" cy="237527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5049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BCAE1A-18BB-188D-6382-88CACEFDD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88D07B6-0C44-4E23-499C-C71D6C982D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Cây DFS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8C4743-791B-10B0-B944-F5C0E4611E89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5" y="1058844"/>
                <a:ext cx="5270587" cy="4909124"/>
              </a:xfrm>
            </p:spPr>
            <p:txBody>
              <a:bodyPr/>
              <a:lstStyle/>
              <a:p>
                <a:r>
                  <a:rPr lang="en-US" sz="2000" dirty="0" err="1"/>
                  <a:t>Cấu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trúc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và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gắn</a:t>
                </a:r>
                <a:r>
                  <a:rPr lang="en-US" sz="2000" dirty="0"/>
                  <a:t> </a:t>
                </a:r>
                <a:r>
                  <a:rPr lang="en-US" sz="2000" dirty="0" err="1"/>
                  <a:t>với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mỗi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đỉnh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cây</a:t>
                </a:r>
                <a:r>
                  <a:rPr lang="en-US" sz="2000" dirty="0"/>
                  <a:t> DFS.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]: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thứ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tự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thăm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của</a:t>
                </a:r>
                <a:r>
                  <a:rPr lang="en-US" sz="2000" dirty="0"/>
                  <a:t> </a:t>
                </a:r>
                <a:r>
                  <a:rPr lang="en-US" sz="2000" dirty="0" err="1"/>
                  <a:t>đỉnh</a:t>
                </a:r>
                <a:r>
                  <a:rPr lang="en-US" sz="2000" dirty="0"/>
                  <a:t> u </a:t>
                </a:r>
                <a:r>
                  <a:rPr lang="en-US" sz="2000" dirty="0" err="1"/>
                  <a:t>trong</a:t>
                </a:r>
                <a:r>
                  <a:rPr lang="en-US" sz="2000" dirty="0"/>
                  <a:t> DFS</a:t>
                </a:r>
              </a:p>
              <a:p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: </a:t>
                </a:r>
                <a:r>
                  <a:rPr lang="en-US" sz="2000" dirty="0" err="1"/>
                  <a:t>Giá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nhỏ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nhất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trong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những</a:t>
                </a:r>
                <a:r>
                  <a:rPr lang="en-US" sz="2000" dirty="0"/>
                  <a:t> </a:t>
                </a:r>
                <a:r>
                  <a:rPr lang="en-US" sz="2000" dirty="0" err="1"/>
                  <a:t>giá</a:t>
                </a:r>
                <a:r>
                  <a:rPr lang="en-US" sz="2000" dirty="0"/>
                  <a:t> </a:t>
                </a:r>
                <a:r>
                  <a:rPr lang="en-US" sz="2000" dirty="0" err="1"/>
                  <a:t>trị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sau</a:t>
                </a:r>
                <a:r>
                  <a:rPr lang="en-US" sz="2000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nếu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 err="1"/>
                  <a:t>là</a:t>
                </a:r>
                <a:r>
                  <a:rPr lang="en-US" sz="2000" dirty="0"/>
                  <a:t> </a:t>
                </a:r>
                <a:r>
                  <a:rPr lang="en-US" sz="2000" dirty="0" err="1"/>
                  <a:t>một</a:t>
                </a:r>
                <a:r>
                  <a:rPr lang="en-US" sz="2000" dirty="0"/>
                  <a:t> </a:t>
                </a:r>
                <a:r>
                  <a:rPr lang="en-US" sz="2000" dirty="0" err="1"/>
                  <a:t>cạnh</a:t>
                </a:r>
                <a:r>
                  <a:rPr lang="en-US" sz="2000" dirty="0"/>
                  <a:t> </a:t>
                </a:r>
                <a:r>
                  <a:rPr lang="en-US" sz="2000" dirty="0" err="1"/>
                  <a:t>ngược</a:t>
                </a:r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000" dirty="0"/>
                  <a:t>: </a:t>
                </a:r>
              </a:p>
              <a:p>
                <a:pPr marL="914400" lvl="2" indent="0">
                  <a:buNone/>
                </a:pPr>
                <a:r>
                  <a:rPr lang="vi-VN" sz="1600" dirty="0"/>
                  <a:t>Giá trị num[v] nhỏ nhất đạt được trong cây DFS con của đỉnh v cạnh ngược.</a:t>
                </a:r>
              </a:p>
              <a:p>
                <a:pPr marL="914400" lvl="2" indent="0">
                  <a:buNone/>
                </a:pPr>
                <a:r>
                  <a:rPr lang="vi-VN" sz="1600" dirty="0"/>
                  <a:t>Hay Giá trị num[v] nhỏ nhất mà v và các con của v visit được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D78C4743-791B-10B0-B944-F5C0E4611E8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5" y="1058844"/>
                <a:ext cx="5270587" cy="4909124"/>
              </a:xfrm>
              <a:blipFill>
                <a:blip r:embed="rId2"/>
                <a:stretch>
                  <a:fillRect l="-962" t="-1550" r="-240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554E381-9047-1651-9979-C1232FFB91B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388"/>
          <a:stretch/>
        </p:blipFill>
        <p:spPr>
          <a:xfrm>
            <a:off x="6013577" y="1275705"/>
            <a:ext cx="5886134" cy="4306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996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D70B80-733F-38F8-13B4-84083D802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6D85C6-0920-4457-A721-EA5BB237D6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Ví dụ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D44169-92C1-0137-D34D-3D6F84D7F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742" y="1213712"/>
            <a:ext cx="6332769" cy="31854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9C2254-7012-AE3A-7138-196EEFE3CD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2098" y="4648146"/>
            <a:ext cx="6574413" cy="134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2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80253-28F3-A7A8-0E6D-AD07B1C0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4862F9-19B0-D40C-79E7-A479D050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342D0D-C041-5CDF-E1D6-D765863226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98720" y="890420"/>
            <a:ext cx="7101840" cy="547990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T += 1; Num[u] = T; Low[u] = T;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v = p[u] continue;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Num[v] &gt; 0 then { // v was visited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Num[v]);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 else {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p[v] = u;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DFS(v);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Low[v]);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14267CF-50BA-A5D2-4A21-5D8F32A508F6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p[v]: </a:t>
            </a:r>
            <a:r>
              <a:rPr lang="en-US" sz="2000" dirty="0" err="1"/>
              <a:t>đỉnh</a:t>
            </a:r>
            <a:r>
              <a:rPr lang="en-US" sz="2000" dirty="0"/>
              <a:t> cha </a:t>
            </a:r>
            <a:r>
              <a:rPr lang="en-US" sz="2000" dirty="0" err="1"/>
              <a:t>của</a:t>
            </a:r>
            <a:r>
              <a:rPr lang="en-US" sz="2000" dirty="0"/>
              <a:t> v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sâu</a:t>
            </a:r>
            <a:endParaRPr lang="en-US" sz="2000" dirty="0"/>
          </a:p>
          <a:p>
            <a:r>
              <a:rPr lang="en-US" sz="2000" dirty="0"/>
              <a:t>Num[u] = 0: </a:t>
            </a:r>
            <a:r>
              <a:rPr lang="en-US" sz="2000" dirty="0" err="1"/>
              <a:t>đỉnh</a:t>
            </a:r>
            <a:r>
              <a:rPr lang="en-US" sz="2000" dirty="0"/>
              <a:t> u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endParaRPr lang="en-US" sz="2000" dirty="0"/>
          </a:p>
          <a:p>
            <a:r>
              <a:rPr lang="en-US" sz="2000" dirty="0"/>
              <a:t>Num[u] &gt; 0: </a:t>
            </a:r>
            <a:r>
              <a:rPr lang="en-US" sz="2000" dirty="0" err="1"/>
              <a:t>đỉnh</a:t>
            </a:r>
            <a:r>
              <a:rPr lang="en-US" sz="2000" dirty="0"/>
              <a:t> u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Num[u]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thứ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374358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(DFS</a:t>
            </a:r>
            <a:r>
              <a:rPr lang="en-US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Cây</a:t>
            </a:r>
            <a:r>
              <a:rPr lang="en-US" sz="2400" dirty="0"/>
              <a:t> DFS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Num, Low</a:t>
            </a:r>
          </a:p>
          <a:p>
            <a:pPr>
              <a:lnSpc>
                <a:spcPct val="150000"/>
              </a:lnSpc>
            </a:pPr>
            <a:r>
              <a:rPr lang="en-US" sz="2400" b="1" dirty="0" err="1"/>
              <a:t>Tìm</a:t>
            </a:r>
            <a:r>
              <a:rPr lang="en-US" sz="2400" b="1" dirty="0"/>
              <a:t> </a:t>
            </a:r>
            <a:r>
              <a:rPr lang="en-US" sz="2400" b="1" dirty="0" err="1"/>
              <a:t>cạnh</a:t>
            </a:r>
            <a:r>
              <a:rPr lang="en-US" sz="2400" b="1" dirty="0"/>
              <a:t> </a:t>
            </a:r>
            <a:r>
              <a:rPr lang="en-US" sz="2400" b="1" dirty="0" err="1"/>
              <a:t>cầu</a:t>
            </a:r>
            <a:r>
              <a:rPr lang="en-US" sz="2400" b="1" dirty="0"/>
              <a:t> (bridges)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đỉnh</a:t>
            </a:r>
            <a:r>
              <a:rPr lang="en-US" sz="2400" dirty="0"/>
              <a:t> </a:t>
            </a:r>
            <a:r>
              <a:rPr lang="en-US" sz="2400" dirty="0" err="1"/>
              <a:t>khớp</a:t>
            </a:r>
            <a:r>
              <a:rPr lang="en-US" sz="2400" dirty="0"/>
              <a:t> (a</a:t>
            </a:r>
            <a:r>
              <a:rPr lang="vi-VN" sz="2400" dirty="0"/>
              <a:t>rticulation</a:t>
            </a:r>
            <a:r>
              <a:rPr lang="en-US" sz="2400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391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A0CE3-65BB-ECF9-FF14-665A9B22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651EFE-5A56-28A7-D3EF-EB66537C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Tìm cầu (bridge) trong đồ thị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/>
              <a:lstStyle/>
              <a:p>
                <a:r>
                  <a:rPr lang="en-US" sz="2400" b="1" dirty="0" err="1"/>
                  <a:t>Định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nghĩa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Cầu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của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hướng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loại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bỏ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này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khỏi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sẽ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làm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tăng</a:t>
                </a:r>
                <a:r>
                  <a:rPr lang="en-US" sz="2400" dirty="0"/>
                  <a:t> </a:t>
                </a:r>
                <a:r>
                  <a:rPr lang="en-US" sz="2400" dirty="0" err="1"/>
                  <a:t>số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thành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phần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liên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thông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 err="1"/>
                  <a:t>Nhận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xét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xuôi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chỉ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&gt;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2"/>
                <a:stretch>
                  <a:fillRect l="-742" t="-17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88B0604A-FE0D-CC6D-1C96-87DC1C1CB1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6911" y="2603870"/>
            <a:ext cx="6287045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594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1A0CE3-65BB-ECF9-FF14-665A9B22B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6651EFE-5A56-28A7-D3EF-EB66537CF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Tìm cầu (bridge) trong đồ thị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11514528" cy="833456"/>
              </a:xfrm>
            </p:spPr>
            <p:txBody>
              <a:bodyPr/>
              <a:lstStyle/>
              <a:p>
                <a:r>
                  <a:rPr lang="en-US" sz="2400" b="1" dirty="0" err="1"/>
                  <a:t>Nhận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xét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cạnh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xuôi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cầu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chỉ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khi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&gt; 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 smtClean="0">
                        <a:latin typeface="Cambria Math" panose="02040503050406030204" pitchFamily="18" charset="0"/>
                      </a:rPr>
                      <m:t>] 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25638555-C7B6-F660-95EB-9BB97A8BF7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11514528" cy="833456"/>
              </a:xfrm>
              <a:blipFill>
                <a:blip r:embed="rId2"/>
                <a:stretch>
                  <a:fillRect l="-661" t="-10606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3BADC32B-06B6-27AC-F009-65884F75B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942" y="2420716"/>
            <a:ext cx="5497137" cy="3809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AF9ADB-384A-B392-6550-3D73553D8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897" y="2665729"/>
            <a:ext cx="6287045" cy="3284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420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780253-28F3-A7A8-0E6D-AD07B1C0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04862F9-19B0-D40C-79E7-A479D05080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Ý </a:t>
            </a:r>
            <a:r>
              <a:rPr lang="en-US" dirty="0" err="1"/>
              <a:t>tưởng</a:t>
            </a:r>
            <a:r>
              <a:rPr lang="en-US" dirty="0"/>
              <a:t> </a:t>
            </a:r>
            <a:r>
              <a:rPr lang="en-US" dirty="0" err="1"/>
              <a:t>cài</a:t>
            </a:r>
            <a:r>
              <a:rPr lang="en-US" dirty="0"/>
              <a:t> </a:t>
            </a:r>
            <a:r>
              <a:rPr lang="en-US" dirty="0" err="1"/>
              <a:t>đặt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đệ</a:t>
            </a:r>
            <a:r>
              <a:rPr lang="en-US" dirty="0"/>
              <a:t> </a:t>
            </a:r>
            <a:r>
              <a:rPr lang="en-US" dirty="0" err="1"/>
              <a:t>quy</a:t>
            </a:r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D1EF87F3-3DD6-8EF6-2307-943F9475E66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86960" y="890420"/>
            <a:ext cx="7213600" cy="5307180"/>
          </a:xfrm>
          <a:ln>
            <a:solidFill>
              <a:schemeClr val="accent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DFS(u)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T += 1; Num[u] = T; Low[u] = T;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for v in A[u] do {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v = p[u] continue;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if Num[v] &gt; 0 then { // v was visited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Num[v]);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 else {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p[v] = u;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DFS(v);  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Low[u] = min(Low[u], Low[v]);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   if Low[v] &gt; Num[u] then (</a:t>
            </a:r>
            <a:r>
              <a:rPr lang="en-US" sz="1600" dirty="0" err="1">
                <a:latin typeface="Consolas" panose="020B0609020204030204" pitchFamily="49" charset="0"/>
              </a:rPr>
              <a:t>u,v</a:t>
            </a:r>
            <a:r>
              <a:rPr lang="en-US" sz="1600" dirty="0">
                <a:latin typeface="Consolas" panose="020B0609020204030204" pitchFamily="49" charset="0"/>
              </a:rPr>
              <a:t>) is a bridge; 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   }</a:t>
            </a:r>
          </a:p>
          <a:p>
            <a:pPr marL="0" indent="0">
              <a:buNone/>
            </a:pPr>
            <a:r>
              <a:rPr lang="en-US" sz="16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DD021A9-0C47-C837-DEC3-2E534A76011B}"/>
              </a:ext>
            </a:extLst>
          </p:cNvPr>
          <p:cNvSpPr txBox="1">
            <a:spLocks/>
          </p:cNvSpPr>
          <p:nvPr/>
        </p:nvSpPr>
        <p:spPr>
          <a:xfrm>
            <a:off x="172720" y="944880"/>
            <a:ext cx="4714240" cy="502308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p[v]: </a:t>
            </a:r>
            <a:r>
              <a:rPr lang="en-US" sz="2000" dirty="0" err="1"/>
              <a:t>đỉnh</a:t>
            </a:r>
            <a:r>
              <a:rPr lang="en-US" sz="2000" dirty="0"/>
              <a:t> cha </a:t>
            </a:r>
            <a:r>
              <a:rPr lang="en-US" sz="2000" dirty="0" err="1"/>
              <a:t>của</a:t>
            </a:r>
            <a:r>
              <a:rPr lang="en-US" sz="2000" dirty="0"/>
              <a:t>  v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quá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r>
              <a:rPr lang="en-US" sz="2000" dirty="0"/>
              <a:t> </a:t>
            </a:r>
            <a:r>
              <a:rPr lang="en-US" sz="2000" dirty="0" err="1"/>
              <a:t>sâu</a:t>
            </a:r>
            <a:endParaRPr lang="en-US" sz="2000" dirty="0"/>
          </a:p>
          <a:p>
            <a:r>
              <a:rPr lang="en-US" sz="2000" dirty="0"/>
              <a:t>Num[u] = 0: </a:t>
            </a:r>
            <a:r>
              <a:rPr lang="en-US" sz="2000" dirty="0" err="1"/>
              <a:t>đỉnh</a:t>
            </a:r>
            <a:r>
              <a:rPr lang="en-US" sz="2000" dirty="0"/>
              <a:t> u </a:t>
            </a: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endParaRPr lang="en-US" sz="2000" dirty="0"/>
          </a:p>
          <a:p>
            <a:r>
              <a:rPr lang="en-US" sz="2000" dirty="0"/>
              <a:t>Num[u] &gt; 0: </a:t>
            </a:r>
            <a:r>
              <a:rPr lang="en-US" sz="2000" dirty="0" err="1"/>
              <a:t>đỉnh</a:t>
            </a:r>
            <a:r>
              <a:rPr lang="en-US" sz="2000" dirty="0"/>
              <a:t> u </a:t>
            </a:r>
            <a:r>
              <a:rPr lang="en-US" sz="2000" dirty="0" err="1"/>
              <a:t>đã</a:t>
            </a:r>
            <a:r>
              <a:rPr lang="en-US" sz="2000" dirty="0"/>
              <a:t> </a:t>
            </a:r>
            <a:r>
              <a:rPr lang="en-US" sz="2000" dirty="0" err="1"/>
              <a:t>được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Num[u] </a:t>
            </a:r>
            <a:r>
              <a:rPr lang="en-US" sz="2000" dirty="0" err="1"/>
              <a:t>chính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thứ</a:t>
            </a:r>
            <a:r>
              <a:rPr lang="en-US" sz="2000" dirty="0"/>
              <a:t> </a:t>
            </a:r>
            <a:r>
              <a:rPr lang="en-US" sz="2000" dirty="0" err="1"/>
              <a:t>tự</a:t>
            </a:r>
            <a:r>
              <a:rPr lang="en-US" sz="2000" dirty="0"/>
              <a:t> </a:t>
            </a:r>
            <a:r>
              <a:rPr lang="en-US" sz="2000" dirty="0" err="1"/>
              <a:t>thăm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52287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B3AB5-95DF-4273-871C-843529DB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1. Bridges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3E091-9DCD-4DE7-96D1-A93E44E0F5B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kiếm</a:t>
            </a:r>
            <a:r>
              <a:rPr lang="en-US" sz="2400" dirty="0"/>
              <a:t> </a:t>
            </a:r>
            <a:r>
              <a:rPr lang="en-US" sz="2400" dirty="0" err="1"/>
              <a:t>theo</a:t>
            </a:r>
            <a:r>
              <a:rPr lang="en-US" sz="2400" dirty="0"/>
              <a:t> </a:t>
            </a:r>
            <a:r>
              <a:rPr lang="en-US" sz="2400" dirty="0" err="1"/>
              <a:t>chiều</a:t>
            </a:r>
            <a:r>
              <a:rPr lang="en-US" sz="2400" dirty="0"/>
              <a:t> </a:t>
            </a:r>
            <a:r>
              <a:rPr lang="en-US" sz="2400" dirty="0" err="1"/>
              <a:t>sâu</a:t>
            </a:r>
            <a:r>
              <a:rPr lang="en-US" sz="2400" dirty="0"/>
              <a:t> (DFS</a:t>
            </a:r>
            <a:r>
              <a:rPr lang="en-US" sz="2400" b="1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Cây</a:t>
            </a:r>
            <a:r>
              <a:rPr lang="en-US" sz="2400" dirty="0"/>
              <a:t> DFS </a:t>
            </a:r>
            <a:r>
              <a:rPr lang="en-US" sz="2400" dirty="0" err="1"/>
              <a:t>và</a:t>
            </a:r>
            <a:r>
              <a:rPr lang="en-US" sz="2400" dirty="0"/>
              <a:t> </a:t>
            </a:r>
            <a:r>
              <a:rPr lang="en-US" sz="2400" dirty="0" err="1"/>
              <a:t>cấu</a:t>
            </a:r>
            <a:r>
              <a:rPr lang="en-US" sz="2400" dirty="0"/>
              <a:t> </a:t>
            </a:r>
            <a:r>
              <a:rPr lang="en-US" sz="2400" dirty="0" err="1"/>
              <a:t>trúc</a:t>
            </a:r>
            <a:r>
              <a:rPr lang="en-US" sz="2400" dirty="0"/>
              <a:t> Num, Low</a:t>
            </a:r>
          </a:p>
          <a:p>
            <a:pPr>
              <a:lnSpc>
                <a:spcPct val="150000"/>
              </a:lnSpc>
            </a:pPr>
            <a:r>
              <a:rPr lang="en-US" sz="2400" dirty="0" err="1"/>
              <a:t>Tìm</a:t>
            </a:r>
            <a:r>
              <a:rPr lang="en-US" sz="2400" dirty="0"/>
              <a:t> </a:t>
            </a:r>
            <a:r>
              <a:rPr lang="en-US" sz="2400" dirty="0" err="1"/>
              <a:t>cạnh</a:t>
            </a:r>
            <a:r>
              <a:rPr lang="en-US" sz="2400" dirty="0"/>
              <a:t> </a:t>
            </a:r>
            <a:r>
              <a:rPr lang="en-US" sz="2400" dirty="0" err="1"/>
              <a:t>cầu</a:t>
            </a:r>
            <a:r>
              <a:rPr lang="en-US" sz="2400" dirty="0"/>
              <a:t> (bridges)</a:t>
            </a:r>
          </a:p>
          <a:p>
            <a:pPr>
              <a:lnSpc>
                <a:spcPct val="150000"/>
              </a:lnSpc>
            </a:pPr>
            <a:r>
              <a:rPr lang="en-US" sz="2400" b="1" dirty="0" err="1"/>
              <a:t>Tìm</a:t>
            </a:r>
            <a:r>
              <a:rPr lang="en-US" sz="2400" b="1" dirty="0"/>
              <a:t> </a:t>
            </a:r>
            <a:r>
              <a:rPr lang="en-US" sz="2400" b="1" dirty="0" err="1"/>
              <a:t>đỉnh</a:t>
            </a:r>
            <a:r>
              <a:rPr lang="en-US" sz="2400" b="1" dirty="0"/>
              <a:t> </a:t>
            </a:r>
            <a:r>
              <a:rPr lang="en-US" sz="2400" b="1" dirty="0" err="1"/>
              <a:t>khớp</a:t>
            </a:r>
            <a:r>
              <a:rPr lang="en-US" sz="2400" b="1" dirty="0"/>
              <a:t> (a</a:t>
            </a:r>
            <a:r>
              <a:rPr lang="vi-VN" sz="2400" b="1" dirty="0"/>
              <a:t>rticulation</a:t>
            </a:r>
            <a:r>
              <a:rPr lang="en-US" sz="2400" b="1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B879D-D188-4DA3-8675-F8BCF379A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5726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F66C27-30E4-96C4-5E81-BF0361C0B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19B4912-D3F5-7CB3-155E-DF083D63A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Tìm đỉnh khớp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91811D8-157F-BD55-2B36-A7AB248B1605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>
              <a:xfrm>
                <a:off x="338736" y="1058844"/>
                <a:ext cx="7578892" cy="4909124"/>
              </a:xfrm>
            </p:spPr>
            <p:txBody>
              <a:bodyPr/>
              <a:lstStyle/>
              <a:p>
                <a:r>
                  <a:rPr lang="en-US" sz="2400" b="1" dirty="0"/>
                  <a:t>Định </a:t>
                </a:r>
                <a:r>
                  <a:rPr lang="en-US" sz="2400" b="1" dirty="0" err="1"/>
                  <a:t>nghĩa</a:t>
                </a:r>
                <a:r>
                  <a:rPr lang="en-US" sz="2400" dirty="0"/>
                  <a:t>: Trong </a:t>
                </a:r>
                <a:r>
                  <a:rPr lang="en-US" sz="2400" dirty="0" err="1"/>
                  <a:t>đồ</a:t>
                </a:r>
                <a:r>
                  <a:rPr lang="en-US" sz="2400" dirty="0"/>
                  <a:t> </a:t>
                </a:r>
                <a:r>
                  <a:rPr lang="en-US" sz="2400" dirty="0" err="1"/>
                  <a:t>thị</a:t>
                </a:r>
                <a:r>
                  <a:rPr lang="en-US" sz="2400" dirty="0"/>
                  <a:t> </a:t>
                </a:r>
                <a:r>
                  <a:rPr lang="en-US" sz="2400" dirty="0" err="1"/>
                  <a:t>vô</a:t>
                </a:r>
                <a:r>
                  <a:rPr lang="en-US" sz="2400" dirty="0"/>
                  <a:t> </a:t>
                </a:r>
                <a:r>
                  <a:rPr lang="en-US" sz="2400" dirty="0" err="1"/>
                  <a:t>hướng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một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khớp</a:t>
                </a:r>
                <a:r>
                  <a:rPr lang="en-US" sz="2400" dirty="0"/>
                  <a:t> </a:t>
                </a:r>
                <a:r>
                  <a:rPr lang="vi-VN" sz="2400" dirty="0"/>
                  <a:t>nếu như loại bỏ đỉnh này và các cạnh liên thuộc với nó ra khỏi đồ thị thì số thành phần liên thông của đồ thị tăng lên.</a:t>
                </a:r>
                <a:endParaRPr lang="en-US" sz="2400" dirty="0"/>
              </a:p>
              <a:p>
                <a:r>
                  <a:rPr lang="en-US" sz="2400" b="1" dirty="0" err="1"/>
                  <a:t>Nhận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xét</a:t>
                </a:r>
                <a:r>
                  <a:rPr lang="en-US" sz="2400" dirty="0"/>
                  <a:t>: </a:t>
                </a:r>
                <a:r>
                  <a:rPr lang="en-US" sz="2400" dirty="0" err="1"/>
                  <a:t>Đỉnh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được</a:t>
                </a:r>
                <a:r>
                  <a:rPr lang="en-US" sz="2400" dirty="0"/>
                  <a:t> </a:t>
                </a:r>
                <a:r>
                  <a:rPr lang="en-US" sz="2400" dirty="0" err="1"/>
                  <a:t>gọi</a:t>
                </a:r>
                <a:r>
                  <a:rPr lang="en-US" sz="2400" dirty="0"/>
                  <a:t> </a:t>
                </a:r>
                <a:r>
                  <a:rPr lang="en-US" sz="2400" dirty="0" err="1"/>
                  <a:t>là</a:t>
                </a:r>
                <a:r>
                  <a:rPr lang="en-US" sz="2400" dirty="0"/>
                  <a:t> </a:t>
                </a:r>
                <a:r>
                  <a:rPr lang="en-US" sz="2400" dirty="0" err="1"/>
                  <a:t>khớp</a:t>
                </a:r>
                <a:r>
                  <a:rPr lang="en-US" sz="2400" dirty="0"/>
                  <a:t> </a:t>
                </a:r>
                <a:r>
                  <a:rPr lang="en-US" sz="2400" dirty="0" err="1"/>
                  <a:t>nếu</a:t>
                </a:r>
                <a:r>
                  <a:rPr lang="en-US" sz="2400" dirty="0"/>
                  <a:t>:</a:t>
                </a:r>
              </a:p>
              <a:p>
                <a:pPr lvl="1"/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không</a:t>
                </a:r>
                <a:r>
                  <a:rPr lang="en-US" dirty="0"/>
                  <a:t> </a:t>
                </a:r>
                <a:r>
                  <a:rPr lang="en-US" dirty="0" err="1"/>
                  <a:t>phải</a:t>
                </a:r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cây</a:t>
                </a:r>
                <a:r>
                  <a:rPr lang="en-US" dirty="0"/>
                  <a:t> DFS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𝐿𝑜𝑤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 ≥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𝑁𝑢𝑚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với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một</a:t>
                </a:r>
                <a:r>
                  <a:rPr lang="en-US" dirty="0"/>
                  <a:t> con </a:t>
                </a:r>
                <a:r>
                  <a:rPr lang="en-US" dirty="0" err="1"/>
                  <a:t>trực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 </a:t>
                </a:r>
                <a:r>
                  <a:rPr lang="en-US" dirty="0" err="1"/>
                  <a:t>bất</a:t>
                </a:r>
                <a:r>
                  <a:rPr lang="en-US" dirty="0"/>
                  <a:t> </a:t>
                </a:r>
                <a:r>
                  <a:rPr lang="en-US" dirty="0" err="1"/>
                  <a:t>kỳ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trong</a:t>
                </a:r>
                <a:r>
                  <a:rPr lang="en-US" dirty="0"/>
                  <a:t> </a:t>
                </a:r>
                <a:r>
                  <a:rPr lang="en-US" dirty="0" err="1"/>
                  <a:t>cây</a:t>
                </a:r>
                <a:r>
                  <a:rPr lang="en-US" dirty="0"/>
                  <a:t> DFS)</a:t>
                </a:r>
              </a:p>
              <a:p>
                <a:pPr lvl="1"/>
                <a:r>
                  <a:rPr lang="en-US" dirty="0" err="1"/>
                  <a:t>Hoặc</a:t>
                </a:r>
                <a:r>
                  <a:rPr lang="en-US" dirty="0"/>
                  <a:t> </a:t>
                </a:r>
                <a:r>
                  <a:rPr lang="en-US" dirty="0" err="1"/>
                  <a:t>đỉnh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là</a:t>
                </a:r>
                <a:r>
                  <a:rPr lang="en-US" dirty="0"/>
                  <a:t> </a:t>
                </a:r>
                <a:r>
                  <a:rPr lang="en-US" dirty="0" err="1"/>
                  <a:t>gốc</a:t>
                </a:r>
                <a:r>
                  <a:rPr lang="en-US" dirty="0"/>
                  <a:t> </a:t>
                </a:r>
                <a:r>
                  <a:rPr lang="en-US" dirty="0" err="1"/>
                  <a:t>của</a:t>
                </a:r>
                <a:r>
                  <a:rPr lang="en-US" dirty="0"/>
                  <a:t> </a:t>
                </a:r>
                <a:r>
                  <a:rPr lang="en-US" dirty="0" err="1"/>
                  <a:t>cây</a:t>
                </a:r>
                <a:r>
                  <a:rPr lang="en-US" dirty="0"/>
                  <a:t> DFS </a:t>
                </a:r>
                <a:r>
                  <a:rPr lang="en-US" dirty="0" err="1"/>
                  <a:t>và</a:t>
                </a:r>
                <a:r>
                  <a:rPr lang="en-US" dirty="0"/>
                  <a:t> </a:t>
                </a:r>
                <a:r>
                  <a:rPr lang="en-US" dirty="0" err="1"/>
                  <a:t>có</a:t>
                </a:r>
                <a:r>
                  <a:rPr lang="en-US" dirty="0"/>
                  <a:t> </a:t>
                </a:r>
                <a:r>
                  <a:rPr lang="en-US" dirty="0" err="1"/>
                  <a:t>ít</a:t>
                </a:r>
                <a:r>
                  <a:rPr lang="en-US" dirty="0"/>
                  <a:t> </a:t>
                </a:r>
                <a:r>
                  <a:rPr lang="en-US" dirty="0" err="1"/>
                  <a:t>nhất</a:t>
                </a:r>
                <a:r>
                  <a:rPr lang="en-US" dirty="0"/>
                  <a:t> 2 con </a:t>
                </a:r>
                <a:r>
                  <a:rPr lang="en-US" dirty="0" err="1"/>
                  <a:t>trực</a:t>
                </a:r>
                <a:r>
                  <a:rPr lang="en-US" dirty="0"/>
                  <a:t> </a:t>
                </a:r>
                <a:r>
                  <a:rPr lang="en-US" dirty="0" err="1"/>
                  <a:t>tiếp</a:t>
                </a:r>
                <a:r>
                  <a:rPr lang="en-US" dirty="0"/>
                  <a:t>;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791811D8-157F-BD55-2B36-A7AB248B16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xfrm>
                <a:off x="338736" y="1058844"/>
                <a:ext cx="7578892" cy="4909124"/>
              </a:xfrm>
              <a:blipFill>
                <a:blip r:embed="rId2"/>
                <a:stretch>
                  <a:fillRect l="-1003" t="-1809" r="-167"/>
                </a:stretch>
              </a:blipFill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Content Placeholder 5" descr="A black background with white circles and a blue dot&#10;&#10;Description automatically generated">
            <a:extLst>
              <a:ext uri="{FF2B5EF4-FFF2-40B4-BE49-F238E27FC236}">
                <a16:creationId xmlns:a16="http://schemas.microsoft.com/office/drawing/2014/main" id="{229A0BF7-5331-EC32-BFDE-A9A5B2728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844" y="1503276"/>
            <a:ext cx="4394156" cy="3528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59878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6">
            <a:extLst>
              <a:ext uri="{FF2B5EF4-FFF2-40B4-BE49-F238E27FC236}">
                <a16:creationId xmlns:a16="http://schemas.microsoft.com/office/drawing/2014/main" id="{5945A2BB-ABB6-48FB-A491-502474D93E34}"/>
              </a:ext>
            </a:extLst>
          </p:cNvPr>
          <p:cNvSpPr txBox="1">
            <a:spLocks/>
          </p:cNvSpPr>
          <p:nvPr/>
        </p:nvSpPr>
        <p:spPr>
          <a:xfrm>
            <a:off x="5605763" y="2869457"/>
            <a:ext cx="5422456" cy="97130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6000" dirty="0"/>
              <a:t>THANK YOU 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255FE58-BA70-418C-863F-55066B66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39229"/>
      </p:ext>
    </p:extLst>
  </p:cSld>
  <p:clrMapOvr>
    <a:masterClrMapping/>
  </p:clrMapOvr>
</p:sld>
</file>

<file path=ppt/theme/theme1.xml><?xml version="1.0" encoding="utf-8"?>
<a:theme xmlns:a="http://schemas.openxmlformats.org/drawingml/2006/main" name="Chủ đề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43852BD84EE2440ABC538C71FD5CABC" ma:contentTypeVersion="0" ma:contentTypeDescription="Create a new document." ma:contentTypeScope="" ma:versionID="205c4a5d51e14dcf1717a67a352bff4d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764bea3eb9b1a5be8fd57fac5fb459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619AC20-1A72-4E73-B887-29E2649EA6D2}"/>
</file>

<file path=customXml/itemProps2.xml><?xml version="1.0" encoding="utf-8"?>
<ds:datastoreItem xmlns:ds="http://schemas.openxmlformats.org/officeDocument/2006/customXml" ds:itemID="{C30D3F68-6A8A-4F0E-ADB3-7FE4C6C3605C}"/>
</file>

<file path=customXml/itemProps3.xml><?xml version="1.0" encoding="utf-8"?>
<ds:datastoreItem xmlns:ds="http://schemas.openxmlformats.org/officeDocument/2006/customXml" ds:itemID="{46C8A668-C383-402C-9EE0-42A39AC18C8C}"/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1485</Words>
  <Application>Microsoft Office PowerPoint</Application>
  <PresentationFormat>Màn hình rộng</PresentationFormat>
  <Paragraphs>183</Paragraphs>
  <Slides>21</Slides>
  <Notes>0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7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21</vt:i4>
      </vt:variant>
    </vt:vector>
  </HeadingPairs>
  <TitlesOfParts>
    <vt:vector size="29" baseType="lpstr">
      <vt:lpstr>Aptos</vt:lpstr>
      <vt:lpstr>Aptos Display</vt:lpstr>
      <vt:lpstr>Arial</vt:lpstr>
      <vt:lpstr>Cambria Math</vt:lpstr>
      <vt:lpstr>Consolas</vt:lpstr>
      <vt:lpstr>Lato</vt:lpstr>
      <vt:lpstr>Times New Roman</vt:lpstr>
      <vt:lpstr>Chủ đề Office</vt:lpstr>
      <vt:lpstr>Bản trình bày PowerPoint</vt:lpstr>
      <vt:lpstr>Bản trình bày PowerPoint</vt:lpstr>
      <vt:lpstr>Bridges</vt:lpstr>
      <vt:lpstr>Bridges</vt:lpstr>
      <vt:lpstr>Bridges</vt:lpstr>
      <vt:lpstr>Bridges</vt:lpstr>
      <vt:lpstr>Tìm kiếm theo chiều sâu</vt:lpstr>
      <vt:lpstr>Ý tưởng cài đặt</vt:lpstr>
      <vt:lpstr>NỘI DUNG</vt:lpstr>
      <vt:lpstr>Cây DFS</vt:lpstr>
      <vt:lpstr>Cây DFS</vt:lpstr>
      <vt:lpstr>Cây DFS</vt:lpstr>
      <vt:lpstr>Ví dụ</vt:lpstr>
      <vt:lpstr>Ý tưởng cài đặt bằng đệ quy</vt:lpstr>
      <vt:lpstr>Bridges</vt:lpstr>
      <vt:lpstr>Tìm cầu (bridge) trong đồ thị</vt:lpstr>
      <vt:lpstr>Tìm cầu (bridge) trong đồ thị</vt:lpstr>
      <vt:lpstr>Ý tưởng cài đặt bằng đệ quy</vt:lpstr>
      <vt:lpstr>1. Bridges</vt:lpstr>
      <vt:lpstr>Tìm đỉnh khớp</vt:lpstr>
      <vt:lpstr>Bản trình bày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Tran Duc Duy</dc:creator>
  <cp:lastModifiedBy>Tran Duc Duy</cp:lastModifiedBy>
  <cp:revision>1</cp:revision>
  <dcterms:created xsi:type="dcterms:W3CDTF">2025-09-17T03:58:01Z</dcterms:created>
  <dcterms:modified xsi:type="dcterms:W3CDTF">2025-09-17T04:04:48Z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0x010100F43852BD84EE2440ABC538C71FD5CABC</vt:lpwstr>
  </property>
</Properties>
</file>