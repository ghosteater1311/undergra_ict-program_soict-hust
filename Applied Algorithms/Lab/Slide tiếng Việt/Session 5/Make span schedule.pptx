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315" r:id="rId4"/>
    <p:sldId id="316" r:id="rId5"/>
    <p:sldId id="317" r:id="rId6"/>
    <p:sldId id="318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DD51B03-F944-9283-EA0E-136E7E9FC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14D3FCA-10F5-D841-D0D5-BE9E9C408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986636E-577E-7AE3-71FA-3CADC590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602BED6-CC19-B6FF-91D2-2B5F6B33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B38E822-E1E7-07DC-8A54-DB71ACC8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1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1625BF0-83CF-EA76-FC93-B3C9EA06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955F25A-D702-D8CC-91BF-B5E0E3F00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0AFA569-C22B-45E4-6541-BB380902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3B1CE86-3CBF-61B9-9CBD-CACE5B90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E99A50F-6E7B-622F-E07E-E8E10D88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B7E5E6-37A8-F4F6-910F-84E0E36AA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DE60B4B-2B6F-E9D8-4B45-6B1BC90D0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8CEC79B-56EF-CFE4-3E25-7EC6BB0B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BEF7F71-A0C7-8AC9-15D4-946814E4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2A49B61-DE24-B607-3DB9-370EDDC37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5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C2BE7D6-D783-FA67-7264-0199D49E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D584B77-7B6C-A868-F92E-09DAD1BE9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5201D6E0-A3D2-A40F-89C0-90F3E371A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B9F7255-D6B8-C049-EF54-4A803BC4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42C9478E-E3E7-CE15-8307-45E69299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97F0060-6CF0-BC9E-924A-23B7ADB4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2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A33838C-9254-E1BA-3F09-23EF14AD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0D44F19-A77A-9BE5-5C0D-5E7C0F30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080E3891-D7E5-EA6C-9B1D-5E5A1B36D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AF9D9754-3845-F931-C7ED-E4EC9A2B9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70988AB4-C9CD-1A2B-FE24-3D07AB034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27AFC2D3-55A0-693A-1129-33B4932E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8784D58C-44DA-52E7-63B8-F56E3F45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4BB7CA7A-C1AC-E697-3A2D-2EB34EA7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2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389DDBA-B3B1-0378-5B64-5A518778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2497EFBD-DB44-FB9F-05AF-E55306E8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55E5525F-97F4-7326-1C2C-2F945435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84DCB1D8-D43F-ED04-0A45-94F98013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6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9E011733-06AB-57B1-61AE-9C184E14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64BD6558-DA9E-74DA-7D60-39DDB9B7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7EA3216-7E26-CC95-221F-426A49DC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2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F91AEB8-1623-5F47-8FBA-EB99C7D9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8950611-2CDE-4F8F-26A6-B43B38669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B9C6B69D-259D-B7FF-5260-CEC8362F2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2F8E249-2935-7DFF-3481-66D779F2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AA64D014-C124-9919-F907-1A1636F2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E9C93B2-12AB-A420-B496-E3937D48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6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29C5D35-33D8-C48B-CAFC-4F0A9CC3C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25A0A4B-72A8-070C-5921-6704E45F3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39E8920-BBCB-A353-E314-423801E2E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0B343CB-5428-557D-A48D-DCB30155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F51CDD0-5BC4-D60B-B220-9F142899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D81D907-B135-DD44-4961-0938ABEB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4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0710184-CD10-32FC-12C0-D7AE2FCA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38275F92-D75F-526C-6B8E-00C25A57D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78AB7A4-96EC-19D4-82B6-4BA4C4AF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66BF2BC-903D-8954-E9EA-E04A6B06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E4E9B6C-3C6A-F74D-371D-351C9AAE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3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E18D5B4D-BE61-7B89-5F5C-EB917A9EF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6333C0D2-B86D-F008-EB11-A7FA60385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5A984CF-7749-7290-EBE5-71943B969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A273CD3-EC0B-5C0C-1CA4-944FBA0E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3BD9532-C882-0AF6-3F58-84048C45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36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604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28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17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89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93C0B481-2372-B61C-5A36-8E8F1C79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5EF9F09-124A-F4AC-A877-22CDE855B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D8169C7-F4F7-1449-9BBE-DC7AAD04F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A5004FF-56C3-031E-AB0E-1CF8D061B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A48452C-A12C-070E-3621-BC7813D23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8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29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Make span schedule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8C4B-2ED4-55ED-863A-E362A2713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B7C2E-8F68-E991-504B-DCAD768D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span schedule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09FD5-1F76-32C6-38CF-B26B7E3628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 err="1">
                <a:sym typeface="Arial"/>
              </a:rPr>
              <a:t>Lập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lịch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cho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một</a:t>
            </a:r>
            <a:r>
              <a:rPr lang="en-US" sz="2800" dirty="0">
                <a:sym typeface="Arial"/>
              </a:rPr>
              <a:t> project </a:t>
            </a:r>
            <a:r>
              <a:rPr lang="en-US" sz="2800" dirty="0" err="1">
                <a:sym typeface="Arial"/>
              </a:rPr>
              <a:t>với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nhiều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tác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vụ</a:t>
            </a:r>
            <a:r>
              <a:rPr lang="en-US" sz="2800" dirty="0">
                <a:sym typeface="Arial"/>
              </a:rPr>
              <a:t>.</a:t>
            </a:r>
          </a:p>
          <a:p>
            <a:r>
              <a:rPr lang="en-US" dirty="0" err="1"/>
              <a:t>Một</a:t>
            </a:r>
            <a:r>
              <a:rPr lang="en-US" dirty="0"/>
              <a:t> project </a:t>
            </a:r>
            <a:r>
              <a:rPr lang="en-US" dirty="0" err="1"/>
              <a:t>có</a:t>
            </a:r>
            <a:r>
              <a:rPr lang="en-US" dirty="0"/>
              <a:t> n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1,..., n:</a:t>
            </a:r>
          </a:p>
          <a:p>
            <a:pPr lvl="1"/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endParaRPr lang="en-US" dirty="0"/>
          </a:p>
          <a:p>
            <a:pPr lvl="1"/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d(</a:t>
            </a:r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en-US" dirty="0"/>
          </a:p>
          <a:p>
            <a:pPr lvl="1"/>
            <a:r>
              <a:rPr lang="en-US" dirty="0"/>
              <a:t>List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Q: </a:t>
            </a:r>
            <a:r>
              <a:rPr lang="en-US" dirty="0" err="1"/>
              <a:t>Với</a:t>
            </a:r>
            <a:r>
              <a:rPr lang="en-US" dirty="0"/>
              <a:t> (</a:t>
            </a:r>
            <a:r>
              <a:rPr lang="en-US" dirty="0" err="1"/>
              <a:t>i,j</a:t>
            </a:r>
            <a:r>
              <a:rPr lang="en-US" dirty="0"/>
              <a:t>) in Q,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j </a:t>
            </a:r>
            <a:r>
              <a:rPr lang="en-US" dirty="0" err="1"/>
              <a:t>chỉ</a:t>
            </a:r>
            <a:r>
              <a:rPr lang="en-US" dirty="0"/>
              <a:t> được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được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. </a:t>
            </a:r>
          </a:p>
          <a:p>
            <a:r>
              <a:rPr lang="en-US" b="1" dirty="0">
                <a:solidFill>
                  <a:srgbClr val="C00000"/>
                </a:solidFill>
              </a:rPr>
              <a:t>Objective: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project </a:t>
            </a:r>
            <a:r>
              <a:rPr lang="en-US" dirty="0" err="1"/>
              <a:t>sớm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.</a:t>
            </a:r>
          </a:p>
          <a:p>
            <a:r>
              <a:rPr lang="en-US" sz="2800" b="1" dirty="0">
                <a:solidFill>
                  <a:srgbClr val="C00000"/>
                </a:solidFill>
                <a:sym typeface="Arial"/>
              </a:rPr>
              <a:t>Input</a:t>
            </a:r>
            <a:r>
              <a:rPr lang="en-US" b="1" dirty="0">
                <a:solidFill>
                  <a:srgbClr val="C00000"/>
                </a:solidFill>
                <a:sym typeface="Arial"/>
              </a:rPr>
              <a:t>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n, d(1),..., d(n), Q</a:t>
            </a:r>
          </a:p>
          <a:p>
            <a:r>
              <a:rPr lang="en-US" b="1" dirty="0">
                <a:solidFill>
                  <a:srgbClr val="C00000"/>
                </a:solidFill>
              </a:rPr>
              <a:t>Output: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sớm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được.</a:t>
            </a:r>
          </a:p>
          <a:p>
            <a:endParaRPr lang="en-US" sz="2800" dirty="0"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9B7FD-EC9E-C4AD-47EA-A8F6F3DE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9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BDA1-F42E-16AA-8CA6-0E2C0230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2D93-261D-DA70-628C-DACEA85F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span schedule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95480-D843-C858-786C-D27B481DE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BE263-55E3-D912-2FB5-884349E1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85A817-3306-C2DD-F2EF-E1112A114DB4}"/>
              </a:ext>
            </a:extLst>
          </p:cNvPr>
          <p:cNvGraphicFramePr>
            <a:graphicFrameLocks noGrp="1"/>
          </p:cNvGraphicFramePr>
          <p:nvPr/>
        </p:nvGraphicFramePr>
        <p:xfrm>
          <a:off x="2507390" y="1205740"/>
          <a:ext cx="812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1065">
                  <a:extLst>
                    <a:ext uri="{9D8B030D-6E8A-4147-A177-3AD203B41FA5}">
                      <a16:colId xmlns:a16="http://schemas.microsoft.com/office/drawing/2014/main" val="3734771439"/>
                    </a:ext>
                  </a:extLst>
                </a:gridCol>
                <a:gridCol w="2956935">
                  <a:extLst>
                    <a:ext uri="{9D8B030D-6E8A-4147-A177-3AD203B41FA5}">
                      <a16:colId xmlns:a16="http://schemas.microsoft.com/office/drawing/2014/main" val="4279237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740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8 9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15 30 80 45 4 15 15 19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1 2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2 4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3 4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4 5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2 6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3 6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5 7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6 7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5 8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148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79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42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D830-8144-7483-EBEE-6C357AFD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6EDD-B5F0-F1EB-F514-3DEDD178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span schedule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6446C6-AD74-DE0D-E682-1D31E8D0DC6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2800" dirty="0" err="1">
                    <a:sym typeface="Arial"/>
                  </a:rPr>
                  <a:t>Ý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tưởng</a:t>
                </a:r>
                <a:r>
                  <a:rPr lang="en-US" sz="2800" dirty="0">
                    <a:sym typeface="Arial"/>
                  </a:rPr>
                  <a:t>: </a:t>
                </a:r>
                <a:r>
                  <a:rPr lang="en-US" sz="2800" dirty="0" err="1">
                    <a:sym typeface="Arial"/>
                  </a:rPr>
                  <a:t>Có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thể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biểu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diễn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bài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toán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bằng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đồ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thị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có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hướng</a:t>
                </a:r>
                <a:endParaRPr lang="en-US" sz="2800" dirty="0">
                  <a:sym typeface="Arial"/>
                </a:endParaRPr>
              </a:p>
              <a:p>
                <a:pPr lvl="1"/>
                <a:r>
                  <a:rPr lang="en-US" dirty="0" err="1">
                    <a:sym typeface="Arial"/>
                  </a:rPr>
                  <a:t>Xây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dựng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đồ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thị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với</a:t>
                </a:r>
                <a:r>
                  <a:rPr lang="en-US" dirty="0">
                    <a:sym typeface="Arial"/>
                  </a:rPr>
                  <a:t> n </a:t>
                </a:r>
                <a:r>
                  <a:rPr lang="en-US" dirty="0" err="1">
                    <a:sym typeface="Arial"/>
                  </a:rPr>
                  <a:t>đỉnh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là</a:t>
                </a:r>
                <a:r>
                  <a:rPr lang="en-US" dirty="0">
                    <a:sym typeface="Arial"/>
                  </a:rPr>
                  <a:t> n tasks</a:t>
                </a:r>
              </a:p>
              <a:p>
                <a:pPr lvl="1"/>
                <a:r>
                  <a:rPr lang="en-US" dirty="0" err="1">
                    <a:sym typeface="Arial"/>
                  </a:rPr>
                  <a:t>Nếu</a:t>
                </a:r>
                <a:r>
                  <a:rPr lang="en-US" dirty="0">
                    <a:sym typeface="Arial"/>
                  </a:rPr>
                  <a:t> (</a:t>
                </a:r>
                <a:r>
                  <a:rPr lang="en-US" dirty="0" err="1">
                    <a:sym typeface="Arial"/>
                  </a:rPr>
                  <a:t>i,j</a:t>
                </a:r>
                <a:r>
                  <a:rPr lang="en-US" dirty="0">
                    <a:sym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</m:oMath>
                </a14:m>
                <a:r>
                  <a:rPr lang="en-US" dirty="0">
                    <a:sym typeface="Arial"/>
                  </a:rPr>
                  <a:t> Q, ta </a:t>
                </a:r>
                <a:r>
                  <a:rPr lang="en-US" dirty="0" err="1">
                    <a:sym typeface="Arial"/>
                  </a:rPr>
                  <a:t>vẽ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cạnh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nối</a:t>
                </a:r>
                <a:r>
                  <a:rPr lang="en-US" dirty="0">
                    <a:sym typeface="Arial"/>
                  </a:rPr>
                  <a:t> (</a:t>
                </a:r>
                <a:r>
                  <a:rPr lang="en-US" dirty="0" err="1">
                    <a:sym typeface="Arial"/>
                  </a:rPr>
                  <a:t>i</a:t>
                </a:r>
                <a:r>
                  <a:rPr lang="en-US" dirty="0">
                    <a:sym typeface="Arial"/>
                  </a:rPr>
                  <a:t>, j)</a:t>
                </a:r>
              </a:p>
              <a:p>
                <a:pPr lvl="2"/>
                <a:r>
                  <a:rPr lang="en-US" dirty="0">
                    <a:sym typeface="Arial"/>
                  </a:rPr>
                  <a:t>weight </a:t>
                </a:r>
                <a:r>
                  <a:rPr lang="en-US" dirty="0" err="1">
                    <a:sym typeface="Arial"/>
                  </a:rPr>
                  <a:t>của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cạnh</a:t>
                </a:r>
                <a:r>
                  <a:rPr lang="en-US" dirty="0">
                    <a:sym typeface="Arial"/>
                  </a:rPr>
                  <a:t> (</a:t>
                </a:r>
                <a:r>
                  <a:rPr lang="en-US" dirty="0" err="1">
                    <a:sym typeface="Arial"/>
                  </a:rPr>
                  <a:t>i,j</a:t>
                </a:r>
                <a:r>
                  <a:rPr lang="en-US" dirty="0">
                    <a:sym typeface="Arial"/>
                  </a:rPr>
                  <a:t>) </a:t>
                </a:r>
                <a:r>
                  <a:rPr lang="en-US" dirty="0" err="1">
                    <a:sym typeface="Arial"/>
                  </a:rPr>
                  <a:t>là</a:t>
                </a:r>
                <a:r>
                  <a:rPr lang="en-US" dirty="0">
                    <a:sym typeface="Arial"/>
                  </a:rPr>
                  <a:t> t[</a:t>
                </a:r>
                <a:r>
                  <a:rPr lang="en-US" dirty="0" err="1">
                    <a:sym typeface="Arial"/>
                  </a:rPr>
                  <a:t>i</a:t>
                </a:r>
                <a:r>
                  <a:rPr lang="en-US" dirty="0">
                    <a:sym typeface="Arial"/>
                  </a:rPr>
                  <a:t>]</a:t>
                </a:r>
              </a:p>
              <a:p>
                <a:pPr lvl="1"/>
                <a:r>
                  <a:rPr lang="en-US" dirty="0" err="1">
                    <a:sym typeface="Arial"/>
                  </a:rPr>
                  <a:t>Các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đỉnh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có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bậc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vào</a:t>
                </a:r>
                <a:r>
                  <a:rPr lang="en-US" dirty="0">
                    <a:sym typeface="Arial"/>
                  </a:rPr>
                  <a:t> = 0 : </a:t>
                </a:r>
                <a:r>
                  <a:rPr lang="en-US" dirty="0" err="1">
                    <a:sym typeface="Arial"/>
                  </a:rPr>
                  <a:t>có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thể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thực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hiện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ngay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từ</a:t>
                </a:r>
                <a:r>
                  <a:rPr lang="en-US" dirty="0">
                    <a:sym typeface="Arial"/>
                  </a:rPr>
                  <a:t> t = 0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6446C6-AD74-DE0D-E682-1D31E8D0DC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11490-E9F8-0C84-F785-B83DBBCD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1FC0AF-4077-267D-464F-E240B273B6D1}"/>
              </a:ext>
            </a:extLst>
          </p:cNvPr>
          <p:cNvGrpSpPr/>
          <p:nvPr/>
        </p:nvGrpSpPr>
        <p:grpSpPr>
          <a:xfrm>
            <a:off x="1104835" y="3812223"/>
            <a:ext cx="9981132" cy="2159000"/>
            <a:chOff x="1140244" y="2993549"/>
            <a:chExt cx="9981132" cy="2159000"/>
          </a:xfrm>
        </p:grpSpPr>
        <p:pic>
          <p:nvPicPr>
            <p:cNvPr id="8" name="Picture 7" descr="A diagram of a triangle with green circles and black text&#10;&#10;AI-generated content may be incorrect.">
              <a:extLst>
                <a:ext uri="{FF2B5EF4-FFF2-40B4-BE49-F238E27FC236}">
                  <a16:creationId xmlns:a16="http://schemas.microsoft.com/office/drawing/2014/main" id="{D387F03B-E0F4-239B-720D-B259F96F0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0001" y="2993549"/>
              <a:ext cx="7670800" cy="2159000"/>
            </a:xfrm>
            <a:prstGeom prst="rect">
              <a:avLst/>
            </a:prstGeom>
          </p:spPr>
        </p:pic>
        <p:pic>
          <p:nvPicPr>
            <p:cNvPr id="9" name="Picture 8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4478EC90-A86B-61E1-5D1A-82E526D79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157839">
              <a:off x="1281142" y="3712084"/>
              <a:ext cx="2832100" cy="984609"/>
            </a:xfrm>
            <a:prstGeom prst="rect">
              <a:avLst/>
            </a:prstGeom>
          </p:spPr>
        </p:pic>
        <p:pic>
          <p:nvPicPr>
            <p:cNvPr id="10" name="Picture 9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BDFCF8A9-F794-54B2-9DA5-BD7900B3F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4895">
              <a:off x="1140244" y="3580744"/>
              <a:ext cx="2832100" cy="984609"/>
            </a:xfrm>
            <a:prstGeom prst="rect">
              <a:avLst/>
            </a:prstGeom>
          </p:spPr>
        </p:pic>
        <p:pic>
          <p:nvPicPr>
            <p:cNvPr id="11" name="Picture 10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C430E952-FCD9-2A86-3245-0A44D707C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66242">
              <a:off x="8289276" y="3257052"/>
              <a:ext cx="2832100" cy="984609"/>
            </a:xfrm>
            <a:prstGeom prst="rect">
              <a:avLst/>
            </a:prstGeom>
          </p:spPr>
        </p:pic>
        <p:pic>
          <p:nvPicPr>
            <p:cNvPr id="12" name="Picture 11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6C9443C0-A770-48E3-7C99-16BA14578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14499">
              <a:off x="8174736" y="3416755"/>
              <a:ext cx="2832100" cy="984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616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9C9A5-BFF1-4F2B-6644-EB3B0377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F7B8-5E0E-BE8F-FEBE-34906B3C0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Make </a:t>
            </a:r>
            <a:r>
              <a:rPr lang="en-US" dirty="0"/>
              <a:t>span schedule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86EFC-ABBE-44BF-7DAB-C3D4BB0DC4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Idea to solve: </a:t>
            </a:r>
            <a:r>
              <a:rPr lang="en-VN" sz="2800" dirty="0">
                <a:sym typeface="Arial"/>
              </a:rPr>
              <a:t>BFS</a:t>
            </a:r>
          </a:p>
          <a:p>
            <a:pPr lvl="1"/>
            <a:r>
              <a:rPr lang="en-VN" dirty="0">
                <a:sym typeface="Arial"/>
              </a:rPr>
              <a:t>Đỉnh có bậc vào = 0 -&gt; không bị ảnh hưởng bởi ai, ảnh hưởng đến các đỉnh khác</a:t>
            </a:r>
          </a:p>
          <a:p>
            <a:pPr lvl="1"/>
            <a:r>
              <a:rPr lang="en-VN" dirty="0">
                <a:sym typeface="Arial"/>
              </a:rPr>
              <a:t>Dùng BFS duyệt đồ thị, bắt đầu từ 1 đỉnh y có bậc vào = 0</a:t>
            </a:r>
          </a:p>
          <a:p>
            <a:pPr lvl="2"/>
            <a:r>
              <a:rPr lang="en-VN" dirty="0">
                <a:sym typeface="Arial"/>
              </a:rPr>
              <a:t>Biến phụ trợ dist[x]: Lưu lại thời gian bắt đầu sớm nhất của đỉnh x ảnh hưởng bởi y</a:t>
            </a:r>
          </a:p>
          <a:p>
            <a:pPr lvl="2"/>
            <a:r>
              <a:rPr lang="en-VN" dirty="0">
                <a:sym typeface="Arial"/>
              </a:rPr>
              <a:t>Khi duyệt xong: lấy đỉnh có thời gian duyệt xong lớn nhất ảnh hưởng bởi y</a:t>
            </a:r>
            <a:endParaRPr lang="en-US" dirty="0">
              <a:sym typeface="Arial"/>
            </a:endParaRPr>
          </a:p>
          <a:p>
            <a:pPr lvl="1"/>
            <a:r>
              <a:rPr lang="en-US" dirty="0">
                <a:sym typeface="Arial"/>
              </a:rPr>
              <a:t>For all y: </a:t>
            </a:r>
            <a:r>
              <a:rPr lang="en-US" dirty="0" err="1">
                <a:sym typeface="Arial"/>
              </a:rPr>
              <a:t>lấy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đỉnh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có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thời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gian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lớn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nhất</a:t>
            </a:r>
            <a:endParaRPr lang="en-VN" dirty="0"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95229-28CC-DA02-A619-F9F8B3F37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1C8B2C-7EE1-F058-BE48-E91B32EBCBD9}"/>
              </a:ext>
            </a:extLst>
          </p:cNvPr>
          <p:cNvGrpSpPr/>
          <p:nvPr/>
        </p:nvGrpSpPr>
        <p:grpSpPr>
          <a:xfrm>
            <a:off x="1104835" y="3812223"/>
            <a:ext cx="9981132" cy="2159000"/>
            <a:chOff x="1140244" y="2993549"/>
            <a:chExt cx="9981132" cy="2159000"/>
          </a:xfrm>
        </p:grpSpPr>
        <p:pic>
          <p:nvPicPr>
            <p:cNvPr id="5" name="Picture 4" descr="A diagram of a triangle with green circles and black text&#10;&#10;AI-generated content may be incorrect.">
              <a:extLst>
                <a:ext uri="{FF2B5EF4-FFF2-40B4-BE49-F238E27FC236}">
                  <a16:creationId xmlns:a16="http://schemas.microsoft.com/office/drawing/2014/main" id="{5409CA8C-51AA-AFD8-1C42-898509A4C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0001" y="2993549"/>
              <a:ext cx="7670800" cy="2159000"/>
            </a:xfrm>
            <a:prstGeom prst="rect">
              <a:avLst/>
            </a:prstGeom>
          </p:spPr>
        </p:pic>
        <p:pic>
          <p:nvPicPr>
            <p:cNvPr id="7" name="Picture 6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FB25336B-F85B-F857-5C4F-565ABB4DA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157839">
              <a:off x="1281142" y="3712084"/>
              <a:ext cx="2832100" cy="984609"/>
            </a:xfrm>
            <a:prstGeom prst="rect">
              <a:avLst/>
            </a:prstGeom>
          </p:spPr>
        </p:pic>
        <p:pic>
          <p:nvPicPr>
            <p:cNvPr id="8" name="Picture 7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8B99A5A9-4551-8D6A-B392-8CA13DA23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4895">
              <a:off x="1140244" y="3580744"/>
              <a:ext cx="2832100" cy="984609"/>
            </a:xfrm>
            <a:prstGeom prst="rect">
              <a:avLst/>
            </a:prstGeom>
          </p:spPr>
        </p:pic>
        <p:pic>
          <p:nvPicPr>
            <p:cNvPr id="9" name="Picture 8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2EF6B133-E572-F201-B426-884AE6FA8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66242">
              <a:off x="8289276" y="3257052"/>
              <a:ext cx="2832100" cy="984609"/>
            </a:xfrm>
            <a:prstGeom prst="rect">
              <a:avLst/>
            </a:prstGeom>
          </p:spPr>
        </p:pic>
        <p:pic>
          <p:nvPicPr>
            <p:cNvPr id="10" name="Picture 9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13480402-BB54-76CA-AAB7-7C153D4A6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14499">
              <a:off x="8174736" y="3416755"/>
              <a:ext cx="2832100" cy="984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8088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39229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A22297-C78E-4E72-8A77-7B7985A74D55}"/>
</file>

<file path=customXml/itemProps2.xml><?xml version="1.0" encoding="utf-8"?>
<ds:datastoreItem xmlns:ds="http://schemas.openxmlformats.org/officeDocument/2006/customXml" ds:itemID="{EE3CEE23-87A7-49A6-88B4-98530772DB37}"/>
</file>

<file path=customXml/itemProps3.xml><?xml version="1.0" encoding="utf-8"?>
<ds:datastoreItem xmlns:ds="http://schemas.openxmlformats.org/officeDocument/2006/customXml" ds:itemID="{36ED3019-7214-479C-84E2-B90A5896754A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332</Words>
  <Application>Microsoft Office PowerPoint</Application>
  <PresentationFormat>Màn hình rộng</PresentationFormat>
  <Paragraphs>47</Paragraphs>
  <Slides>7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Make span schedule</vt:lpstr>
      <vt:lpstr>Make span schedule</vt:lpstr>
      <vt:lpstr>Make span schedule</vt:lpstr>
      <vt:lpstr>Make span schedule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2</cp:revision>
  <dcterms:created xsi:type="dcterms:W3CDTF">2025-09-17T03:58:01Z</dcterms:created>
  <dcterms:modified xsi:type="dcterms:W3CDTF">2025-09-17T04:09:58Z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