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312" r:id="rId4"/>
    <p:sldId id="295" r:id="rId5"/>
    <p:sldId id="31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DD51B03-F944-9283-EA0E-136E7E9FC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14D3FCA-10F5-D841-D0D5-BE9E9C408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986636E-577E-7AE3-71FA-3CADC590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602BED6-CC19-B6FF-91D2-2B5F6B33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B38E822-E1E7-07DC-8A54-DB71ACC8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1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1625BF0-83CF-EA76-FC93-B3C9EA06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955F25A-D702-D8CC-91BF-B5E0E3F00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0AFA569-C22B-45E4-6541-BB380902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3B1CE86-3CBF-61B9-9CBD-CACE5B90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E99A50F-6E7B-622F-E07E-E8E10D88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B7E5E6-37A8-F4F6-910F-84E0E36AA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DE60B4B-2B6F-E9D8-4B45-6B1BC90D0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8CEC79B-56EF-CFE4-3E25-7EC6BB0B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BEF7F71-A0C7-8AC9-15D4-946814E4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2A49B61-DE24-B607-3DB9-370EDDC37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5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C2BE7D6-D783-FA67-7264-0199D49E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D584B77-7B6C-A868-F92E-09DAD1BE9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5201D6E0-A3D2-A40F-89C0-90F3E371A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6B9F7255-D6B8-C049-EF54-4A803BC4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42C9478E-E3E7-CE15-8307-45E69299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97F0060-6CF0-BC9E-924A-23B7ADB4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2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A33838C-9254-E1BA-3F09-23EF14AD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0D44F19-A77A-9BE5-5C0D-5E7C0F30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080E3891-D7E5-EA6C-9B1D-5E5A1B36D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AF9D9754-3845-F931-C7ED-E4EC9A2B9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70988AB4-C9CD-1A2B-FE24-3D07AB034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27AFC2D3-55A0-693A-1129-33B4932E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8784D58C-44DA-52E7-63B8-F56E3F45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4BB7CA7A-C1AC-E697-3A2D-2EB34EA7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2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389DDBA-B3B1-0378-5B64-5A518778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2497EFBD-DB44-FB9F-05AF-E55306E8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55E5525F-97F4-7326-1C2C-2F945435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84DCB1D8-D43F-ED04-0A45-94F98013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6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9E011733-06AB-57B1-61AE-9C184E14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64BD6558-DA9E-74DA-7D60-39DDB9B7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7EA3216-7E26-CC95-221F-426A49DC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2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F91AEB8-1623-5F47-8FBA-EB99C7D9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8950611-2CDE-4F8F-26A6-B43B38669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B9C6B69D-259D-B7FF-5260-CEC8362F2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2F8E249-2935-7DFF-3481-66D779F2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AA64D014-C124-9919-F907-1A1636F2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E9C93B2-12AB-A420-B496-E3937D48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6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29C5D35-33D8-C48B-CAFC-4F0A9CC3C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25A0A4B-72A8-070C-5921-6704E45F3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39E8920-BBCB-A353-E314-423801E2E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0B343CB-5428-557D-A48D-DCB30155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F51CDD0-5BC4-D60B-B220-9F142899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D81D907-B135-DD44-4961-0938ABEB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44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0710184-CD10-32FC-12C0-D7AE2FCA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38275F92-D75F-526C-6B8E-00C25A57D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78AB7A4-96EC-19D4-82B6-4BA4C4AF7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66BF2BC-903D-8954-E9EA-E04A6B06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E4E9B6C-3C6A-F74D-371D-351C9AAE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3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E18D5B4D-BE61-7B89-5F5C-EB917A9EF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6333C0D2-B86D-F008-EB11-A7FA60385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5A984CF-7749-7290-EBE5-71943B969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A273CD3-EC0B-5C0C-1CA4-944FBA0EC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3BD9532-C882-0AF6-3F58-84048C45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36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604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228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17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63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440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93C0B481-2372-B61C-5A36-8E8F1C797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5EF9F09-124A-F4AC-A877-22CDE855B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D8169C7-F4F7-1449-9BBE-DC7AAD04F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A5004FF-56C3-031E-AB0E-1CF8D061B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A48452C-A12C-070E-3621-BC7813D23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87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294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Strongly connected component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9B201-52F3-AC81-64D8-73E9C683A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68B5E-4B67-5480-E0DE-0A50C63F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Strongly connected component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1DC34-19F9-380D-E48B-097047172F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 err="1">
                <a:sym typeface="Arial"/>
              </a:rPr>
              <a:t>Đếm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số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thành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phần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liên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thông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mạnh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trên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đồ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thị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có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hướng</a:t>
            </a:r>
            <a:endParaRPr lang="en-US" sz="2800" dirty="0">
              <a:sym typeface="Arial"/>
            </a:endParaRPr>
          </a:p>
          <a:p>
            <a:pPr lvl="1"/>
            <a:r>
              <a:rPr lang="en-US" dirty="0">
                <a:sym typeface="Arial"/>
              </a:rPr>
              <a:t>TPLTM: </a:t>
            </a:r>
            <a:r>
              <a:rPr lang="en-US" dirty="0" err="1">
                <a:sym typeface="Arial"/>
              </a:rPr>
              <a:t>một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tập</a:t>
            </a:r>
            <a:r>
              <a:rPr lang="en-US" dirty="0">
                <a:sym typeface="Arial"/>
              </a:rPr>
              <a:t> con </a:t>
            </a:r>
            <a:r>
              <a:rPr lang="en-US" dirty="0" err="1">
                <a:sym typeface="Arial"/>
              </a:rPr>
              <a:t>với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nhiều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đỉnh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nhất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có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thể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và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liên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thông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mạnh</a:t>
            </a:r>
            <a:r>
              <a:rPr lang="en-US" dirty="0">
                <a:sym typeface="Arial"/>
              </a:rPr>
              <a:t>.</a:t>
            </a:r>
          </a:p>
          <a:p>
            <a:pPr lvl="1"/>
            <a:r>
              <a:rPr lang="en-US" dirty="0">
                <a:sym typeface="Arial"/>
              </a:rPr>
              <a:t>Liên </a:t>
            </a:r>
            <a:r>
              <a:rPr lang="en-US" dirty="0" err="1">
                <a:sym typeface="Arial"/>
              </a:rPr>
              <a:t>thông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mạnh</a:t>
            </a:r>
            <a:r>
              <a:rPr lang="en-US" dirty="0">
                <a:sym typeface="Arial"/>
              </a:rPr>
              <a:t>: </a:t>
            </a:r>
            <a:r>
              <a:rPr lang="en-US" dirty="0" err="1">
                <a:sym typeface="Arial"/>
              </a:rPr>
              <a:t>giữa</a:t>
            </a:r>
            <a:r>
              <a:rPr lang="en-US" dirty="0">
                <a:sym typeface="Arial"/>
              </a:rPr>
              <a:t> 2 </a:t>
            </a:r>
            <a:r>
              <a:rPr lang="en-US" dirty="0" err="1">
                <a:sym typeface="Arial"/>
              </a:rPr>
              <a:t>đỉnh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bất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kỳ</a:t>
            </a:r>
            <a:r>
              <a:rPr lang="en-US" dirty="0">
                <a:sym typeface="Arial"/>
              </a:rPr>
              <a:t>: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kia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.</a:t>
            </a:r>
            <a:endParaRPr lang="en-US" dirty="0">
              <a:sym typeface="Arial"/>
            </a:endParaRPr>
          </a:p>
          <a:p>
            <a:r>
              <a:rPr lang="en-US" b="1" dirty="0">
                <a:solidFill>
                  <a:srgbClr val="C00000"/>
                </a:solidFill>
                <a:sym typeface="Arial"/>
              </a:rPr>
              <a:t>Input: </a:t>
            </a:r>
            <a:r>
              <a:rPr lang="en-US" dirty="0">
                <a:sym typeface="Arial"/>
              </a:rPr>
              <a:t>Danh </a:t>
            </a:r>
            <a:r>
              <a:rPr lang="en-US" dirty="0" err="1">
                <a:sym typeface="Arial"/>
              </a:rPr>
              <a:t>sách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cạnh</a:t>
            </a:r>
            <a:endParaRPr lang="en-US" dirty="0">
              <a:sym typeface="Arial"/>
            </a:endParaRPr>
          </a:p>
          <a:p>
            <a:pPr lvl="1"/>
            <a:r>
              <a:rPr lang="en-US" dirty="0">
                <a:sym typeface="Arial"/>
              </a:rPr>
              <a:t>Line 1 </a:t>
            </a:r>
            <a:r>
              <a:rPr lang="en-US" dirty="0" err="1">
                <a:sym typeface="Arial"/>
              </a:rPr>
              <a:t>có</a:t>
            </a:r>
            <a:r>
              <a:rPr lang="en-US" dirty="0">
                <a:sym typeface="Arial"/>
              </a:rPr>
              <a:t> N, M</a:t>
            </a:r>
          </a:p>
          <a:p>
            <a:pPr lvl="1"/>
            <a:r>
              <a:rPr lang="en-US" dirty="0">
                <a:sym typeface="Arial"/>
              </a:rPr>
              <a:t>M lines </a:t>
            </a:r>
            <a:r>
              <a:rPr lang="en-US" dirty="0" err="1">
                <a:sym typeface="Arial"/>
              </a:rPr>
              <a:t>tiếp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theo</a:t>
            </a:r>
            <a:r>
              <a:rPr lang="en-US" dirty="0">
                <a:sym typeface="Arial"/>
              </a:rPr>
              <a:t>, </a:t>
            </a:r>
            <a:r>
              <a:rPr lang="en-US" dirty="0" err="1">
                <a:sym typeface="Arial"/>
              </a:rPr>
              <a:t>các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cặp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số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nguyên</a:t>
            </a:r>
            <a:r>
              <a:rPr lang="en-US" dirty="0">
                <a:sym typeface="Arial"/>
              </a:rPr>
              <a:t> a, b: </a:t>
            </a:r>
            <a:r>
              <a:rPr lang="en-US" dirty="0" err="1">
                <a:sym typeface="Arial"/>
              </a:rPr>
              <a:t>có</a:t>
            </a:r>
            <a:r>
              <a:rPr lang="en-US" dirty="0">
                <a:sym typeface="Arial"/>
              </a:rPr>
              <a:t> 1 </a:t>
            </a:r>
            <a:r>
              <a:rPr lang="en-US" dirty="0" err="1">
                <a:sym typeface="Arial"/>
              </a:rPr>
              <a:t>cạnh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vô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hướng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từ</a:t>
            </a:r>
            <a:r>
              <a:rPr lang="en-US" dirty="0">
                <a:sym typeface="Arial"/>
              </a:rPr>
              <a:t> a </a:t>
            </a:r>
            <a:r>
              <a:rPr lang="en-US" dirty="0" err="1">
                <a:sym typeface="Arial"/>
              </a:rPr>
              <a:t>tới</a:t>
            </a:r>
            <a:r>
              <a:rPr lang="en-US" dirty="0">
                <a:sym typeface="Arial"/>
              </a:rPr>
              <a:t> b.</a:t>
            </a:r>
          </a:p>
          <a:p>
            <a:r>
              <a:rPr lang="en-US" b="1" dirty="0">
                <a:solidFill>
                  <a:srgbClr val="C00000"/>
                </a:solidFill>
                <a:sym typeface="Arial"/>
              </a:rPr>
              <a:t>Output:</a:t>
            </a:r>
            <a:endParaRPr lang="en-US" sz="2400" b="1" dirty="0">
              <a:solidFill>
                <a:srgbClr val="C00000"/>
              </a:solidFill>
              <a:sym typeface="Arial"/>
            </a:endParaRPr>
          </a:p>
          <a:p>
            <a:pPr lvl="1"/>
            <a:r>
              <a:rPr lang="en-US" dirty="0" err="1">
                <a:sym typeface="Arial"/>
              </a:rPr>
              <a:t>Số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thành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phần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liên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thông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mạnh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của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đồ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thị</a:t>
            </a:r>
            <a:r>
              <a:rPr lang="en-US" dirty="0">
                <a:sym typeface="Arial"/>
              </a:rPr>
              <a:t>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BFAD4-37C6-743B-54CF-CA64CA6F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78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5FBAA-1389-F2A8-5594-894AB3D4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0897F6-F8C4-B318-26E0-D38D4D6AC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Thành phần liên thông mạnh (Strongly Connected Components)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AB41B-8962-09C4-A08F-8FE9B4A6B3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</p:spPr>
        <p:txBody>
          <a:bodyPr/>
          <a:lstStyle/>
          <a:p>
            <a:r>
              <a:rPr lang="en-US" sz="2400" dirty="0" err="1"/>
              <a:t>Duyệt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thị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chiều</a:t>
            </a:r>
            <a:r>
              <a:rPr lang="en-US" sz="2400" dirty="0"/>
              <a:t> </a:t>
            </a:r>
            <a:r>
              <a:rPr lang="en-US" sz="2400" dirty="0" err="1"/>
              <a:t>rộng</a:t>
            </a:r>
            <a:r>
              <a:rPr lang="en-US" sz="2400" dirty="0"/>
              <a:t> (BFS)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chiều</a:t>
            </a:r>
            <a:r>
              <a:rPr lang="en-US" sz="2400" dirty="0"/>
              <a:t> </a:t>
            </a:r>
            <a:r>
              <a:rPr lang="en-US" sz="2400" dirty="0" err="1"/>
              <a:t>sâu</a:t>
            </a:r>
            <a:r>
              <a:rPr lang="en-US" sz="2400" dirty="0"/>
              <a:t> (DFS)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dễ</a:t>
            </a:r>
            <a:r>
              <a:rPr lang="en-US" sz="2400" dirty="0"/>
              <a:t> </a:t>
            </a:r>
            <a:r>
              <a:rPr lang="en-US" sz="2400" dirty="0" err="1"/>
              <a:t>dàng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thị</a:t>
            </a:r>
            <a:r>
              <a:rPr lang="en-US" sz="2400" dirty="0"/>
              <a:t> </a:t>
            </a:r>
            <a:r>
              <a:rPr lang="en-US" sz="2400" dirty="0" err="1"/>
              <a:t>vô</a:t>
            </a:r>
            <a:r>
              <a:rPr lang="en-US" sz="2400" dirty="0"/>
              <a:t> </a:t>
            </a:r>
            <a:r>
              <a:rPr lang="en-US" sz="2400" dirty="0" err="1"/>
              <a:t>hướng</a:t>
            </a:r>
            <a:r>
              <a:rPr lang="en-US" sz="2400" dirty="0"/>
              <a:t>. </a:t>
            </a:r>
          </a:p>
          <a:p>
            <a:r>
              <a:rPr lang="en-US" sz="2400" dirty="0"/>
              <a:t>Tuy </a:t>
            </a:r>
            <a:r>
              <a:rPr lang="en-US" sz="2400" dirty="0" err="1"/>
              <a:t>nhiên</a:t>
            </a:r>
            <a:r>
              <a:rPr lang="en-US" sz="2400" dirty="0"/>
              <a:t>,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thi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hướng</a:t>
            </a:r>
            <a:r>
              <a:rPr lang="en-US" sz="2400" dirty="0"/>
              <a:t>,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</a:t>
            </a:r>
            <a:r>
              <a:rPr lang="en-US" sz="2400" dirty="0" err="1"/>
              <a:t>mạnh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giản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cây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DFS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</a:t>
            </a:r>
            <a:r>
              <a:rPr lang="en-US" sz="2400" dirty="0" err="1"/>
              <a:t>mạnh</a:t>
            </a:r>
            <a:r>
              <a:rPr lang="en-US" sz="2400" dirty="0"/>
              <a:t>?</a:t>
            </a:r>
          </a:p>
        </p:txBody>
      </p:sp>
      <p:pic>
        <p:nvPicPr>
          <p:cNvPr id="6" name="Picture 5" descr="A diagram of a complex connection&#10;&#10;Description automatically generated with medium confidence">
            <a:extLst>
              <a:ext uri="{FF2B5EF4-FFF2-40B4-BE49-F238E27FC236}">
                <a16:creationId xmlns:a16="http://schemas.microsoft.com/office/drawing/2014/main" id="{4714A7E9-6845-BDB5-6DE5-E4244B96F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216" y="3183058"/>
            <a:ext cx="5883613" cy="278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86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7B6F1-61A3-D6DD-3814-2254B2E2C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0D5A8-5E51-CF1A-0C21-49ABB7F87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Strongly connected component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1619E-8B00-BF0D-1DBE-D44174EA65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>
                <a:sym typeface="Arial"/>
              </a:rPr>
              <a:t>Ý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tưởng</a:t>
            </a:r>
            <a:r>
              <a:rPr lang="en-US" sz="2800" dirty="0">
                <a:sym typeface="Arial"/>
              </a:rPr>
              <a:t>: </a:t>
            </a:r>
            <a:r>
              <a:rPr lang="en-US" sz="2800" dirty="0" err="1">
                <a:sym typeface="Arial"/>
              </a:rPr>
              <a:t>duyệt</a:t>
            </a:r>
            <a:r>
              <a:rPr lang="en-US" sz="2800" dirty="0">
                <a:sym typeface="Arial"/>
              </a:rPr>
              <a:t> DFS </a:t>
            </a:r>
            <a:r>
              <a:rPr lang="en-US" sz="2800" dirty="0" err="1">
                <a:sym typeface="Arial"/>
              </a:rPr>
              <a:t>trên</a:t>
            </a:r>
            <a:r>
              <a:rPr lang="en-US" sz="2800" dirty="0">
                <a:sym typeface="Arial"/>
              </a:rPr>
              <a:t> residual graph:</a:t>
            </a:r>
          </a:p>
          <a:p>
            <a:pPr lvl="1"/>
            <a:r>
              <a:rPr lang="en-US" dirty="0" err="1"/>
              <a:t>Duyệt</a:t>
            </a:r>
            <a:r>
              <a:rPr lang="en-US" dirty="0"/>
              <a:t> DFS </a:t>
            </a:r>
            <a:r>
              <a:rPr lang="en-US" dirty="0" err="1"/>
              <a:t>trên</a:t>
            </a:r>
            <a:r>
              <a:rPr lang="en-US" dirty="0"/>
              <a:t> G -&gt;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thăm</a:t>
            </a:r>
            <a:r>
              <a:rPr lang="en-US" dirty="0"/>
              <a:t> f(v)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node v </a:t>
            </a:r>
            <a:r>
              <a:rPr lang="en-US" dirty="0" err="1"/>
              <a:t>của</a:t>
            </a:r>
            <a:r>
              <a:rPr lang="en-US" dirty="0"/>
              <a:t> G</a:t>
            </a:r>
          </a:p>
          <a:p>
            <a:pPr lvl="1"/>
            <a:r>
              <a:rPr lang="en-US" dirty="0" err="1"/>
              <a:t>Dựng</a:t>
            </a:r>
            <a:r>
              <a:rPr lang="en-US" dirty="0"/>
              <a:t> residual graph G</a:t>
            </a:r>
            <a:r>
              <a:rPr lang="en-US" baseline="30000" dirty="0"/>
              <a:t>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G: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cạnh</a:t>
            </a:r>
            <a:endParaRPr lang="en-US" dirty="0"/>
          </a:p>
          <a:p>
            <a:pPr lvl="1"/>
            <a:r>
              <a:rPr lang="en-US" dirty="0" err="1"/>
              <a:t>Duyệt</a:t>
            </a:r>
            <a:r>
              <a:rPr lang="en-US" dirty="0"/>
              <a:t> DFS </a:t>
            </a:r>
            <a:r>
              <a:rPr lang="en-US" dirty="0" err="1"/>
              <a:t>trên</a:t>
            </a:r>
            <a:r>
              <a:rPr lang="en-US" dirty="0"/>
              <a:t> G</a:t>
            </a:r>
            <a:r>
              <a:rPr lang="en-US" baseline="30000" dirty="0"/>
              <a:t>T</a:t>
            </a:r>
            <a:r>
              <a:rPr lang="en-US" dirty="0"/>
              <a:t>: </a:t>
            </a:r>
          </a:p>
          <a:p>
            <a:pPr lvl="2"/>
            <a:r>
              <a:rPr lang="en-US" sz="2400" dirty="0" err="1"/>
              <a:t>các</a:t>
            </a:r>
            <a:r>
              <a:rPr lang="en-US" sz="2400" dirty="0"/>
              <a:t> node được </a:t>
            </a: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giảm</a:t>
            </a:r>
            <a:r>
              <a:rPr lang="en-US" sz="2400" dirty="0"/>
              <a:t> </a:t>
            </a:r>
            <a:r>
              <a:rPr lang="en-US" sz="2400" dirty="0" err="1"/>
              <a:t>dần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f:</a:t>
            </a:r>
          </a:p>
          <a:p>
            <a:pPr lvl="2"/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lần</a:t>
            </a:r>
            <a:r>
              <a:rPr lang="en-US" sz="2400" dirty="0"/>
              <a:t> </a:t>
            </a:r>
            <a:r>
              <a:rPr lang="en-US" sz="2400" dirty="0" err="1"/>
              <a:t>chạy</a:t>
            </a:r>
            <a:r>
              <a:rPr lang="en-US" sz="2400" dirty="0"/>
              <a:t> DFS(u)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thăm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node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cùng</a:t>
            </a:r>
            <a:r>
              <a:rPr lang="en-US" sz="2400" dirty="0"/>
              <a:t> TPLTM </a:t>
            </a:r>
            <a:r>
              <a:rPr lang="en-US" sz="2400" dirty="0" err="1"/>
              <a:t>với</a:t>
            </a:r>
            <a:r>
              <a:rPr lang="en-US" sz="2400" dirty="0"/>
              <a:t> u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Số</a:t>
            </a:r>
            <a:r>
              <a:rPr lang="en-US" dirty="0">
                <a:solidFill>
                  <a:srgbClr val="C00000"/>
                </a:solidFill>
              </a:rPr>
              <a:t> TPLTM </a:t>
            </a:r>
            <a:r>
              <a:rPr lang="en-US" dirty="0" err="1">
                <a:solidFill>
                  <a:srgbClr val="C00000"/>
                </a:solidFill>
              </a:rPr>
              <a:t>của</a:t>
            </a:r>
            <a:r>
              <a:rPr lang="en-US" dirty="0">
                <a:solidFill>
                  <a:srgbClr val="C00000"/>
                </a:solidFill>
              </a:rPr>
              <a:t> G = </a:t>
            </a:r>
            <a:r>
              <a:rPr lang="en-US" dirty="0" err="1">
                <a:solidFill>
                  <a:srgbClr val="C00000"/>
                </a:solidFill>
              </a:rPr>
              <a:t>Số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lần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gọi</a:t>
            </a:r>
            <a:r>
              <a:rPr lang="en-US" dirty="0">
                <a:solidFill>
                  <a:srgbClr val="C00000"/>
                </a:solidFill>
              </a:rPr>
              <a:t> DFS </a:t>
            </a:r>
            <a:r>
              <a:rPr lang="en-US" dirty="0" err="1">
                <a:solidFill>
                  <a:srgbClr val="C00000"/>
                </a:solidFill>
              </a:rPr>
              <a:t>trên</a:t>
            </a:r>
            <a:r>
              <a:rPr lang="en-US" dirty="0">
                <a:solidFill>
                  <a:srgbClr val="C00000"/>
                </a:solidFill>
              </a:rPr>
              <a:t> residual graph G</a:t>
            </a:r>
            <a:r>
              <a:rPr lang="en-US" baseline="30000" dirty="0">
                <a:solidFill>
                  <a:srgbClr val="C00000"/>
                </a:solidFill>
              </a:rPr>
              <a:t>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68AA7-9892-9816-64AC-D5BAC602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58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39229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89C8116-6627-4700-BCDA-71CC6BA14E24}"/>
</file>

<file path=customXml/itemProps2.xml><?xml version="1.0" encoding="utf-8"?>
<ds:datastoreItem xmlns:ds="http://schemas.openxmlformats.org/officeDocument/2006/customXml" ds:itemID="{0B2B822C-9C46-4913-AFE7-3ED6EB4F630D}"/>
</file>

<file path=customXml/itemProps3.xml><?xml version="1.0" encoding="utf-8"?>
<ds:datastoreItem xmlns:ds="http://schemas.openxmlformats.org/officeDocument/2006/customXml" ds:itemID="{8EBE0303-FDC0-41DF-944B-1CDF944834AD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294</Words>
  <Application>Microsoft Office PowerPoint</Application>
  <PresentationFormat>Màn hình rộng</PresentationFormat>
  <Paragraphs>29</Paragraphs>
  <Slides>6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Lato</vt:lpstr>
      <vt:lpstr>Times New Roman</vt:lpstr>
      <vt:lpstr>Chủ đề Office</vt:lpstr>
      <vt:lpstr>Bản trình bày PowerPoint</vt:lpstr>
      <vt:lpstr>Bản trình bày PowerPoint</vt:lpstr>
      <vt:lpstr>Strongly connected component</vt:lpstr>
      <vt:lpstr>Thành phần liên thông mạnh (Strongly Connected Components)</vt:lpstr>
      <vt:lpstr>Strongly connected component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2</cp:revision>
  <dcterms:created xsi:type="dcterms:W3CDTF">2025-09-17T03:58:01Z</dcterms:created>
  <dcterms:modified xsi:type="dcterms:W3CDTF">2025-09-17T04:08:25Z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