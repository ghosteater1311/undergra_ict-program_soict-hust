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12.xml" ContentType="application/vnd.openxmlformats-officedocument.presentationml.notes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59" r:id="rId2"/>
    <p:sldId id="257" r:id="rId3"/>
    <p:sldId id="283" r:id="rId4"/>
    <p:sldId id="284" r:id="rId5"/>
    <p:sldId id="285" r:id="rId6"/>
    <p:sldId id="286" r:id="rId7"/>
    <p:sldId id="287" r:id="rId8"/>
    <p:sldId id="304" r:id="rId9"/>
    <p:sldId id="290" r:id="rId10"/>
    <p:sldId id="291" r:id="rId11"/>
    <p:sldId id="292" r:id="rId12"/>
    <p:sldId id="293" r:id="rId13"/>
    <p:sldId id="294" r:id="rId14"/>
    <p:sldId id="295" r:id="rId15"/>
    <p:sldId id="296" r:id="rId16"/>
    <p:sldId id="297" r:id="rId17"/>
    <p:sldId id="298" r:id="rId18"/>
    <p:sldId id="299" r:id="rId19"/>
    <p:sldId id="300" r:id="rId20"/>
    <p:sldId id="301" r:id="rId21"/>
    <p:sldId id="302" r:id="rId22"/>
    <p:sldId id="303" r:id="rId23"/>
    <p:sldId id="262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7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27" autoAdjust="0"/>
    <p:restoredTop sz="94660"/>
  </p:normalViewPr>
  <p:slideViewPr>
    <p:cSldViewPr snapToGrid="0">
      <p:cViewPr>
        <p:scale>
          <a:sx n="98" d="100"/>
          <a:sy n="98" d="100"/>
        </p:scale>
        <p:origin x="144" y="8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9/17/25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9/17/25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90EC0965-59F5-6789-7225-557A68F4C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F2121D86-380C-56A5-68E9-D6D3C15A29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19E393ED-7DB5-D203-01CE-14FB551E28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733447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8C40737E-B929-5204-9FA8-CB6A8D94C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2D8D60E6-2375-9650-8FF4-40330259A0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B70327D3-7F74-C6C1-4B23-0E2C689BB5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568581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5BA0A67F-1BF0-7F9B-ACC8-ED2C9BF79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08D7DF4B-3617-2183-BE58-22F3007E83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D4BD7579-63BE-4451-DEBA-0F489AF6A6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276490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77518959-6E90-A462-1349-10A797EE6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4C298E4B-7E29-C1A2-FC09-8A64241FAC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6C96F55C-E6EA-8840-02F7-C70E3A82C6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645435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11511C55-E43F-0B5B-F6A3-C1448BE8F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274A3D10-64FF-0863-98EC-AF6E9BA301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F9B0A803-34CB-1611-095F-0BF909E291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419057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7CFE457D-70C5-A961-C85A-3E43E1949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5F5CE1EE-7F39-D48C-D5C9-3238FD6BCA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AB22519E-5F52-B519-2F25-B3A70D03E8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068514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14B1F37D-9510-59DD-3E94-705EB12F2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ADA3B499-91E0-1C25-C1D2-A52B9134E0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009A386E-BCDB-1F18-C42D-BC731FF588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552222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0F3FB953-6C94-6A31-D1AE-A6A939F77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48C40A47-85C8-8942-965E-651A19D272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749DCA5D-0BB1-69AE-4CC1-CBEE85F800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88587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B3E45284-8A1A-059D-4E89-98367C22E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29999CC1-07A7-3CCA-20F9-9D00F5E6E1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BF308576-39FD-39E1-649F-6703887B74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870156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7FEA33CD-19B0-499F-6FCE-BD8B8931F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D08D4CA7-6342-5047-912D-855C7729B2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0BE08C6A-371D-D643-62B3-DD0FA1884D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437192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ACF34159-7943-E127-DB9D-791D5FF8B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993839C3-C46F-819C-B188-05E1A38910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AAC2FBC3-446D-4433-E556-5C12A83733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525491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2B71FEFF-7AB7-BFDB-38A6-16181C734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03441466-A0FB-08CC-D003-8842030809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99017C1D-DF4F-2E4B-E797-5CF037D200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816008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C857C68C-91D7-84DD-1C86-CD9808CC1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219B7585-999D-A341-2A6E-98E75734F0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24E93009-7590-FEDC-34B5-771D715DEB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694692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7ECE9D35-C16C-3A44-2413-F551D09CA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3ED4E0F0-E724-AF79-BABC-4C64591322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AABA1F41-7038-2BBC-5D74-D08F9A0D65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919915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6152509-8D0C-4712-AA81-AF54972C78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58E92B09-5AF4-4E86-A8BE-E866F0E2C017}" type="datetime1">
              <a:rPr lang="en-US" smtClean="0"/>
              <a:pPr/>
              <a:t>9/17/25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A90DE7-FAAB-4B91-AC83-B18850F1E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FD5971E-BD21-416C-BC2E-97EE0E09A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9575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9/17/25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DEAFB3E9-4F5E-435C-B51A-CC5766A852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1:……………………………………..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9C57778-6639-411E-9B4C-12D035AECE2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1058844"/>
            <a:ext cx="11514528" cy="490912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329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9/17/25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2:……………………………………..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3887669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9/17/25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126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8A78F82-82C6-4F07-B7D8-4A1219A1BB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9A9EFEF-A194-4819-82D7-1112425D0E86}" type="datetime1">
              <a:rPr lang="en-US" smtClean="0"/>
              <a:pPr/>
              <a:t>9/17/25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2041C72-5CA2-4523-9F1E-50662A327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AD6B24F-6759-4931-A1C4-77BA8AF7E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1CD850F7-B0EC-49AD-960D-051EAF5F36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4:……………………………………..</a:t>
            </a:r>
          </a:p>
        </p:txBody>
      </p:sp>
      <p:sp>
        <p:nvSpPr>
          <p:cNvPr id="11" name="Chart Placeholder 14">
            <a:extLst>
              <a:ext uri="{FF2B5EF4-FFF2-40B4-BE49-F238E27FC236}">
                <a16:creationId xmlns:a16="http://schemas.microsoft.com/office/drawing/2014/main" id="{4A80550F-98CB-400B-9D36-210A7AED20E8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8736" y="1406525"/>
            <a:ext cx="5757264" cy="4670425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2" name="Table Placeholder 16">
            <a:extLst>
              <a:ext uri="{FF2B5EF4-FFF2-40B4-BE49-F238E27FC236}">
                <a16:creationId xmlns:a16="http://schemas.microsoft.com/office/drawing/2014/main" id="{15345DA2-1E92-473D-9483-A24F87614F3D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6210300" y="1392239"/>
            <a:ext cx="5592763" cy="46847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Table</a:t>
            </a:r>
          </a:p>
        </p:txBody>
      </p:sp>
    </p:spTree>
    <p:extLst>
      <p:ext uri="{BB962C8B-B14F-4D97-AF65-F5344CB8AC3E}">
        <p14:creationId xmlns:p14="http://schemas.microsoft.com/office/powerpoint/2010/main" val="32426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4F1F29B1-F2F8-4527-A0B9-5A566F0DB5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EEBFCEF3-2DDE-476B-8A96-303EC557333C}" type="datetime1">
              <a:rPr lang="en-US" smtClean="0"/>
              <a:pPr/>
              <a:t>9/17/25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1F89192-9608-4DA0-9D58-CE5D74F01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1300396-45C9-472A-AA37-70408F1C2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45B855E6-8413-49D5-929E-33A3B362751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8372" y="1248325"/>
            <a:ext cx="7391400" cy="52054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AB6BBE52-BFE6-4B4F-95C1-25C2EB84A6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58372" y="404265"/>
            <a:ext cx="7391400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5:……………………………………..</a:t>
            </a:r>
          </a:p>
        </p:txBody>
      </p:sp>
    </p:spTree>
    <p:extLst>
      <p:ext uri="{BB962C8B-B14F-4D97-AF65-F5344CB8AC3E}">
        <p14:creationId xmlns:p14="http://schemas.microsoft.com/office/powerpoint/2010/main" val="4113439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9/17/25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335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9/17/25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960585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9/17/25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032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9/17/25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1226200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21A061D-9F38-49ED-BAF8-8055D9FB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2F65D4C-DEE4-4C7B-91C4-D6D57A523E98}" type="datetime1">
              <a:rPr lang="en-US" smtClean="0"/>
              <a:pPr/>
              <a:t>9/17/25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90FAA6E-46AD-4366-8E80-2F5BEB7D5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A5604C7-0828-446E-97CC-8D6162E69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8816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60333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4">
            <a:extLst>
              <a:ext uri="{FF2B5EF4-FFF2-40B4-BE49-F238E27FC236}">
                <a16:creationId xmlns:a16="http://schemas.microsoft.com/office/drawing/2014/main" id="{4C167836-5AFF-4757-AB55-39FD3BBF9D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88898" y="2461846"/>
            <a:ext cx="4614203" cy="1934307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815202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8D37F-B962-C6D2-003E-225CC9285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EAF8D-8442-7327-58C5-5E2A982646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 i="0">
                <a:latin typeface="Lato" panose="020F0502020204030203" pitchFamily="34" charset="0"/>
              </a:defRPr>
            </a:lvl1pPr>
            <a:lvl2pPr>
              <a:defRPr b="0" i="0">
                <a:latin typeface="Lato" panose="020F0502020204030203" pitchFamily="34" charset="0"/>
              </a:defRPr>
            </a:lvl2pPr>
            <a:lvl3pPr>
              <a:defRPr b="0" i="0">
                <a:latin typeface="Lato" panose="020F0502020204030203" pitchFamily="34" charset="0"/>
              </a:defRPr>
            </a:lvl3pPr>
            <a:lvl4pPr>
              <a:defRPr b="0" i="0">
                <a:latin typeface="Lato" panose="020F0502020204030203" pitchFamily="34" charset="0"/>
              </a:defRPr>
            </a:lvl4pPr>
            <a:lvl5pPr>
              <a:defRPr b="0" i="0">
                <a:latin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V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BF6B2A-D4E3-92EA-8C97-0A6D5FE2D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Lato" panose="020F0502020204030203" pitchFamily="34" charset="0"/>
              </a:defRPr>
            </a:lvl1pPr>
          </a:lstStyle>
          <a:p>
            <a:fld id="{D63959F8-40CA-8846-BFD4-CDB6418E9C1A}" type="datetimeFigureOut">
              <a:rPr lang="en-VN" smtClean="0"/>
              <a:pPr/>
              <a:t>9/17/25</a:t>
            </a:fld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8AA9EF-3640-25A3-4380-BC97B2942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Lato" panose="020F0502020204030203" pitchFamily="34" charset="0"/>
              </a:defRPr>
            </a:lvl1pPr>
          </a:lstStyle>
          <a:p>
            <a:endParaRPr lang="vi-V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34F2AE-B856-3250-0878-6FA049D3E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Lato" panose="020F0502020204030203" pitchFamily="34" charset="0"/>
              </a:defRPr>
            </a:lvl1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465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9543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5" r:id="rId5"/>
    <p:sldLayoutId id="2147483654" r:id="rId6"/>
    <p:sldLayoutId id="2147483660" r:id="rId7"/>
    <p:sldLayoutId id="2147483659" r:id="rId8"/>
    <p:sldLayoutId id="2147483658" r:id="rId9"/>
    <p:sldLayoutId id="2147483661" r:id="rId10"/>
    <p:sldLayoutId id="2147483656" r:id="rId11"/>
    <p:sldLayoutId id="2147483657" r:id="rId12"/>
    <p:sldLayoutId id="2147483649" r:id="rId13"/>
    <p:sldLayoutId id="2147483662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6355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737FC17F-78B9-4DA3-B1E3-B6651CB174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6634" y="331380"/>
            <a:ext cx="3174367" cy="952975"/>
          </a:xfrm>
          <a:prstGeom prst="rect">
            <a:avLst/>
          </a:prstGeom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5702E00C-3125-4CD1-A5F8-64723BF48E3E}"/>
              </a:ext>
            </a:extLst>
          </p:cNvPr>
          <p:cNvSpPr txBox="1">
            <a:spLocks/>
          </p:cNvSpPr>
          <p:nvPr/>
        </p:nvSpPr>
        <p:spPr>
          <a:xfrm>
            <a:off x="386634" y="2219413"/>
            <a:ext cx="73424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TTUD</a:t>
            </a: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72BF49D9-2FCE-4950-8B1C-F580CC18F4C9}"/>
              </a:ext>
            </a:extLst>
          </p:cNvPr>
          <p:cNvSpPr txBox="1">
            <a:spLocks/>
          </p:cNvSpPr>
          <p:nvPr/>
        </p:nvSpPr>
        <p:spPr>
          <a:xfrm>
            <a:off x="386634" y="3365399"/>
            <a:ext cx="7342482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800" dirty="0"/>
              <a:t>Largest black sub-rectangle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BF4829-01AB-4F75-A03B-DF4FC4C31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049D6-F9AF-7876-F5A6-6352C7838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BF7CF-6A7A-6FEC-84C7-DFED01ACF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Largest black sub-rectangle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D4FCA0-F101-B6D8-C4A0-A8E64C7AB3C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3200" dirty="0">
                <a:sym typeface="Arial"/>
              </a:rPr>
              <a:t>Cho </a:t>
            </a:r>
            <a:r>
              <a:rPr lang="en-US" sz="3200" dirty="0" err="1">
                <a:sym typeface="Arial"/>
              </a:rPr>
              <a:t>một</a:t>
            </a:r>
            <a:r>
              <a:rPr lang="en-US" sz="3200" dirty="0">
                <a:sym typeface="Arial"/>
              </a:rPr>
              <a:t> </a:t>
            </a:r>
            <a:r>
              <a:rPr lang="en-US" sz="3200" dirty="0" err="1">
                <a:sym typeface="Arial"/>
              </a:rPr>
              <a:t>hình</a:t>
            </a:r>
            <a:r>
              <a:rPr lang="en-US" sz="3200" dirty="0">
                <a:sym typeface="Arial"/>
              </a:rPr>
              <a:t> </a:t>
            </a:r>
            <a:r>
              <a:rPr lang="en-US" sz="3200" dirty="0" err="1">
                <a:sym typeface="Arial"/>
              </a:rPr>
              <a:t>chữ</a:t>
            </a:r>
            <a:r>
              <a:rPr lang="en-US" sz="3200" dirty="0">
                <a:sym typeface="Arial"/>
              </a:rPr>
              <a:t> </a:t>
            </a:r>
            <a:r>
              <a:rPr lang="en-US" sz="3200" dirty="0" err="1">
                <a:sym typeface="Arial"/>
              </a:rPr>
              <a:t>nhật</a:t>
            </a:r>
            <a:r>
              <a:rPr lang="en-US" sz="3200" dirty="0">
                <a:sym typeface="Arial"/>
              </a:rPr>
              <a:t> </a:t>
            </a:r>
            <a:r>
              <a:rPr lang="en-US" sz="3200" dirty="0" err="1">
                <a:sym typeface="Arial"/>
              </a:rPr>
              <a:t>có</a:t>
            </a:r>
            <a:r>
              <a:rPr lang="en-US" sz="3200" dirty="0">
                <a:sym typeface="Arial"/>
              </a:rPr>
              <a:t> </a:t>
            </a:r>
            <a:r>
              <a:rPr lang="en-US" sz="3200" dirty="0" err="1">
                <a:sym typeface="Arial"/>
              </a:rPr>
              <a:t>các</a:t>
            </a:r>
            <a:r>
              <a:rPr lang="en-US" sz="3200" dirty="0">
                <a:sym typeface="Arial"/>
              </a:rPr>
              <a:t> </a:t>
            </a:r>
            <a:r>
              <a:rPr lang="en-US" sz="3200" dirty="0" err="1">
                <a:sym typeface="Arial"/>
              </a:rPr>
              <a:t>ô</a:t>
            </a:r>
            <a:r>
              <a:rPr lang="en-US" sz="3200" dirty="0">
                <a:sym typeface="Arial"/>
              </a:rPr>
              <a:t> </a:t>
            </a:r>
            <a:r>
              <a:rPr lang="en-US" sz="3200" dirty="0" err="1">
                <a:sym typeface="Arial"/>
              </a:rPr>
              <a:t>vuông</a:t>
            </a:r>
            <a:r>
              <a:rPr lang="en-US" sz="3200" dirty="0">
                <a:sym typeface="Arial"/>
              </a:rPr>
              <a:t> con </a:t>
            </a:r>
            <a:r>
              <a:rPr lang="en-US" sz="3200" dirty="0" err="1">
                <a:sym typeface="Arial"/>
              </a:rPr>
              <a:t>là</a:t>
            </a:r>
            <a:r>
              <a:rPr lang="en-US" sz="3200" dirty="0">
                <a:sym typeface="Arial"/>
              </a:rPr>
              <a:t> </a:t>
            </a:r>
            <a:r>
              <a:rPr lang="en-US" sz="3200" dirty="0" err="1">
                <a:sym typeface="Arial"/>
              </a:rPr>
              <a:t>đen</a:t>
            </a:r>
            <a:r>
              <a:rPr lang="en-US" sz="3200" dirty="0">
                <a:sym typeface="Arial"/>
              </a:rPr>
              <a:t> </a:t>
            </a:r>
            <a:r>
              <a:rPr lang="en-US" sz="3200" dirty="0" err="1">
                <a:sym typeface="Arial"/>
              </a:rPr>
              <a:t>hoặc</a:t>
            </a:r>
            <a:r>
              <a:rPr lang="en-US" sz="3200" dirty="0">
                <a:sym typeface="Arial"/>
              </a:rPr>
              <a:t> </a:t>
            </a:r>
            <a:r>
              <a:rPr lang="en-US" sz="3200" dirty="0" err="1">
                <a:sym typeface="Arial"/>
              </a:rPr>
              <a:t>trắng</a:t>
            </a:r>
            <a:r>
              <a:rPr lang="en-US" sz="3200" dirty="0">
                <a:sym typeface="Arial"/>
              </a:rPr>
              <a:t>. </a:t>
            </a:r>
            <a:r>
              <a:rPr lang="en-US" sz="3200" dirty="0" err="1">
                <a:sym typeface="Arial"/>
              </a:rPr>
              <a:t>Tìm</a:t>
            </a:r>
            <a:r>
              <a:rPr lang="en-US" sz="3200" dirty="0">
                <a:sym typeface="Arial"/>
              </a:rPr>
              <a:t> </a:t>
            </a:r>
            <a:r>
              <a:rPr lang="en-US" sz="3200" dirty="0" err="1">
                <a:sym typeface="Arial"/>
              </a:rPr>
              <a:t>hình</a:t>
            </a:r>
            <a:r>
              <a:rPr lang="en-US" sz="3200" dirty="0">
                <a:sym typeface="Arial"/>
              </a:rPr>
              <a:t> </a:t>
            </a:r>
            <a:r>
              <a:rPr lang="en-US" sz="3200" dirty="0" err="1">
                <a:sym typeface="Arial"/>
              </a:rPr>
              <a:t>chữ</a:t>
            </a:r>
            <a:r>
              <a:rPr lang="en-US" sz="3200" dirty="0">
                <a:sym typeface="Arial"/>
              </a:rPr>
              <a:t> </a:t>
            </a:r>
            <a:r>
              <a:rPr lang="en-US" sz="3200" dirty="0" err="1">
                <a:sym typeface="Arial"/>
              </a:rPr>
              <a:t>nhật</a:t>
            </a:r>
            <a:r>
              <a:rPr lang="en-US" sz="3200" dirty="0">
                <a:sym typeface="Arial"/>
              </a:rPr>
              <a:t> con </a:t>
            </a:r>
            <a:r>
              <a:rPr lang="en-US" sz="3200" dirty="0" err="1">
                <a:sym typeface="Arial"/>
              </a:rPr>
              <a:t>toàn</a:t>
            </a:r>
            <a:r>
              <a:rPr lang="en-US" sz="3200" dirty="0">
                <a:sym typeface="Arial"/>
              </a:rPr>
              <a:t> </a:t>
            </a:r>
            <a:r>
              <a:rPr lang="en-US" sz="3200" dirty="0" err="1">
                <a:sym typeface="Arial"/>
              </a:rPr>
              <a:t>màu</a:t>
            </a:r>
            <a:r>
              <a:rPr lang="en-US" sz="3200" dirty="0">
                <a:sym typeface="Arial"/>
              </a:rPr>
              <a:t> </a:t>
            </a:r>
            <a:r>
              <a:rPr lang="en-US" sz="3200" dirty="0" err="1">
                <a:sym typeface="Arial"/>
              </a:rPr>
              <a:t>đen</a:t>
            </a:r>
            <a:r>
              <a:rPr lang="en-US" sz="3200" dirty="0">
                <a:sym typeface="Arial"/>
              </a:rPr>
              <a:t> </a:t>
            </a:r>
            <a:r>
              <a:rPr lang="en-US" sz="3200" dirty="0" err="1">
                <a:sym typeface="Arial"/>
              </a:rPr>
              <a:t>có</a:t>
            </a:r>
            <a:r>
              <a:rPr lang="en-US" sz="3200" dirty="0">
                <a:sym typeface="Arial"/>
              </a:rPr>
              <a:t> </a:t>
            </a:r>
            <a:r>
              <a:rPr lang="en-US" sz="3200" dirty="0" err="1">
                <a:sym typeface="Arial"/>
              </a:rPr>
              <a:t>diện</a:t>
            </a:r>
            <a:r>
              <a:rPr lang="en-US" sz="3200" dirty="0">
                <a:sym typeface="Arial"/>
              </a:rPr>
              <a:t> </a:t>
            </a:r>
            <a:r>
              <a:rPr lang="en-US" sz="3200" dirty="0" err="1">
                <a:sym typeface="Arial"/>
              </a:rPr>
              <a:t>tích</a:t>
            </a:r>
            <a:r>
              <a:rPr lang="en-US" sz="3200" dirty="0">
                <a:sym typeface="Arial"/>
              </a:rPr>
              <a:t> </a:t>
            </a:r>
            <a:r>
              <a:rPr lang="en-US" sz="3200" dirty="0" err="1">
                <a:sym typeface="Arial"/>
              </a:rPr>
              <a:t>lớn</a:t>
            </a:r>
            <a:r>
              <a:rPr lang="en-US" sz="3200" dirty="0">
                <a:sym typeface="Arial"/>
              </a:rPr>
              <a:t> </a:t>
            </a:r>
            <a:r>
              <a:rPr lang="en-US" sz="3200" dirty="0" err="1">
                <a:sym typeface="Arial"/>
              </a:rPr>
              <a:t>nhất</a:t>
            </a:r>
            <a:r>
              <a:rPr lang="en-US" sz="3200" dirty="0">
                <a:sym typeface="Arial"/>
              </a:rPr>
              <a:t>.</a:t>
            </a:r>
          </a:p>
          <a:p>
            <a:r>
              <a:rPr lang="en-US" sz="3200" dirty="0" err="1"/>
              <a:t>Hình</a:t>
            </a:r>
            <a:r>
              <a:rPr lang="en-US" sz="3200" dirty="0"/>
              <a:t> </a:t>
            </a:r>
            <a:r>
              <a:rPr lang="en-US" sz="3200" dirty="0" err="1"/>
              <a:t>chữ</a:t>
            </a:r>
            <a:r>
              <a:rPr lang="en-US" sz="3200" dirty="0"/>
              <a:t> </a:t>
            </a:r>
            <a:r>
              <a:rPr lang="en-US" sz="3200" dirty="0" err="1"/>
              <a:t>nhật</a:t>
            </a:r>
            <a:r>
              <a:rPr lang="en-US" sz="3200" dirty="0"/>
              <a:t> được </a:t>
            </a:r>
            <a:r>
              <a:rPr lang="en-US" sz="3200" dirty="0" err="1"/>
              <a:t>cho</a:t>
            </a:r>
            <a:r>
              <a:rPr lang="en-US" sz="3200" dirty="0"/>
              <a:t> </a:t>
            </a:r>
            <a:r>
              <a:rPr lang="en-US" sz="3200" dirty="0" err="1"/>
              <a:t>bởi</a:t>
            </a:r>
            <a:r>
              <a:rPr lang="en-US" sz="3200" dirty="0"/>
              <a:t> ma </a:t>
            </a:r>
            <a:r>
              <a:rPr lang="en-US" sz="3200" dirty="0" err="1"/>
              <a:t>trận</a:t>
            </a:r>
            <a:r>
              <a:rPr lang="en-US" sz="3200" dirty="0"/>
              <a:t> 0-1:</a:t>
            </a:r>
          </a:p>
          <a:p>
            <a:pPr marL="0" indent="0">
              <a:buNone/>
            </a:pPr>
            <a:r>
              <a:rPr lang="en-US" sz="3200" dirty="0"/>
              <a:t>	A[</a:t>
            </a:r>
            <a:r>
              <a:rPr lang="en-US" sz="3200" dirty="0" err="1"/>
              <a:t>i,j</a:t>
            </a:r>
            <a:r>
              <a:rPr lang="en-US" sz="3200" dirty="0"/>
              <a:t>] = 1 </a:t>
            </a:r>
            <a:r>
              <a:rPr lang="en-US" sz="3200" dirty="0" err="1"/>
              <a:t>nghĩa</a:t>
            </a:r>
            <a:r>
              <a:rPr lang="en-US" sz="3200" dirty="0"/>
              <a:t> </a:t>
            </a:r>
            <a:r>
              <a:rPr lang="en-US" sz="3200" dirty="0" err="1"/>
              <a:t>là</a:t>
            </a:r>
            <a:r>
              <a:rPr lang="en-US" sz="3200" dirty="0"/>
              <a:t> (</a:t>
            </a:r>
            <a:r>
              <a:rPr lang="en-US" sz="3200" dirty="0" err="1"/>
              <a:t>i,j</a:t>
            </a:r>
            <a:r>
              <a:rPr lang="en-US" sz="3200" dirty="0"/>
              <a:t>) </a:t>
            </a:r>
            <a:r>
              <a:rPr lang="en-US" sz="3200" dirty="0" err="1"/>
              <a:t>có</a:t>
            </a:r>
            <a:r>
              <a:rPr lang="en-US" sz="3200" dirty="0"/>
              <a:t> </a:t>
            </a:r>
            <a:r>
              <a:rPr lang="en-US" sz="3200" dirty="0" err="1"/>
              <a:t>màu</a:t>
            </a:r>
            <a:r>
              <a:rPr lang="en-US" sz="3200" dirty="0"/>
              <a:t> </a:t>
            </a:r>
            <a:r>
              <a:rPr lang="en-US" sz="3200" dirty="0" err="1"/>
              <a:t>đen</a:t>
            </a:r>
            <a:r>
              <a:rPr lang="en-US" sz="3200" dirty="0"/>
              <a:t>, </a:t>
            </a:r>
            <a:r>
              <a:rPr lang="en-US" sz="3200" dirty="0" err="1"/>
              <a:t>và</a:t>
            </a:r>
            <a:r>
              <a:rPr lang="en-US" sz="3200" dirty="0"/>
              <a:t> </a:t>
            </a:r>
          </a:p>
          <a:p>
            <a:pPr marL="0" indent="0">
              <a:buNone/>
            </a:pPr>
            <a:r>
              <a:rPr lang="en-US" sz="3200" dirty="0"/>
              <a:t>	A[</a:t>
            </a:r>
            <a:r>
              <a:rPr lang="en-US" sz="3200" dirty="0" err="1"/>
              <a:t>i,j</a:t>
            </a:r>
            <a:r>
              <a:rPr lang="en-US" sz="3200" dirty="0"/>
              <a:t>] = 0 </a:t>
            </a:r>
            <a:r>
              <a:rPr lang="en-US" sz="3200" dirty="0" err="1"/>
              <a:t>nghĩa</a:t>
            </a:r>
            <a:r>
              <a:rPr lang="en-US" sz="3200" dirty="0"/>
              <a:t> </a:t>
            </a:r>
            <a:r>
              <a:rPr lang="en-US" sz="3200" dirty="0" err="1"/>
              <a:t>là</a:t>
            </a:r>
            <a:r>
              <a:rPr lang="en-US" sz="3200" dirty="0"/>
              <a:t> (</a:t>
            </a:r>
            <a:r>
              <a:rPr lang="en-US" sz="3200" dirty="0" err="1"/>
              <a:t>i,j</a:t>
            </a:r>
            <a:r>
              <a:rPr lang="en-US" sz="3200" dirty="0"/>
              <a:t>) </a:t>
            </a:r>
            <a:r>
              <a:rPr lang="en-US" sz="3200" dirty="0" err="1"/>
              <a:t>có</a:t>
            </a:r>
            <a:r>
              <a:rPr lang="en-US" sz="3200" dirty="0"/>
              <a:t> </a:t>
            </a:r>
            <a:r>
              <a:rPr lang="en-US" sz="3200" dirty="0" err="1"/>
              <a:t>màu</a:t>
            </a:r>
            <a:r>
              <a:rPr lang="en-US" sz="3200" dirty="0"/>
              <a:t> </a:t>
            </a:r>
            <a:r>
              <a:rPr lang="en-US" sz="3200" dirty="0" err="1"/>
              <a:t>trắng</a:t>
            </a:r>
            <a:endParaRPr lang="en-US" sz="3200" dirty="0">
              <a:sym typeface="Arial"/>
            </a:endParaRPr>
          </a:p>
          <a:p>
            <a:r>
              <a:rPr lang="en-US" sz="3200" dirty="0"/>
              <a:t>Output: </a:t>
            </a:r>
            <a:r>
              <a:rPr lang="en-US" sz="3200" dirty="0" err="1"/>
              <a:t>diện</a:t>
            </a:r>
            <a:r>
              <a:rPr lang="en-US" sz="3200" dirty="0"/>
              <a:t> </a:t>
            </a:r>
            <a:r>
              <a:rPr lang="en-US" sz="3200" dirty="0" err="1"/>
              <a:t>tích</a:t>
            </a:r>
            <a:r>
              <a:rPr lang="en-US" sz="3200" dirty="0"/>
              <a:t> </a:t>
            </a:r>
            <a:r>
              <a:rPr lang="en-US" sz="3200" dirty="0" err="1"/>
              <a:t>hình</a:t>
            </a:r>
            <a:r>
              <a:rPr lang="en-US" sz="3200" dirty="0"/>
              <a:t> </a:t>
            </a:r>
            <a:r>
              <a:rPr lang="en-US" sz="3200" dirty="0" err="1"/>
              <a:t>chữ</a:t>
            </a:r>
            <a:r>
              <a:rPr lang="en-US" sz="3200" dirty="0"/>
              <a:t> </a:t>
            </a:r>
            <a:r>
              <a:rPr lang="en-US" sz="3200" dirty="0" err="1"/>
              <a:t>nhật</a:t>
            </a:r>
            <a:r>
              <a:rPr lang="en-US" sz="3200" dirty="0"/>
              <a:t> con </a:t>
            </a:r>
            <a:r>
              <a:rPr lang="en-US" sz="3200" dirty="0" err="1"/>
              <a:t>tìm</a:t>
            </a:r>
            <a:r>
              <a:rPr lang="en-US" sz="3200" dirty="0"/>
              <a:t> được </a:t>
            </a:r>
          </a:p>
          <a:p>
            <a:endParaRPr lang="en-US" sz="3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1B4D9-1742-5EFC-4F92-61E4DD3D1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5018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B3878-7143-89E4-C1A6-05E203A6F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690CF-A40A-4906-7FC7-F8B593D2B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Largest black sub-rectangle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839BC4-2D8D-938B-3698-98ACD3AD1A7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3200" dirty="0">
                <a:sym typeface="Arial"/>
              </a:rPr>
              <a:t>Example</a:t>
            </a:r>
            <a:endParaRPr lang="en-US" sz="3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302162-3ED9-43CB-2E86-C8B1D6C29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  <p:graphicFrame>
        <p:nvGraphicFramePr>
          <p:cNvPr id="4" name="Google Shape;92;p2">
            <a:extLst>
              <a:ext uri="{FF2B5EF4-FFF2-40B4-BE49-F238E27FC236}">
                <a16:creationId xmlns:a16="http://schemas.microsoft.com/office/drawing/2014/main" id="{C1769834-0F5A-0EE7-D626-69BDB10EB706}"/>
              </a:ext>
            </a:extLst>
          </p:cNvPr>
          <p:cNvGraphicFramePr/>
          <p:nvPr/>
        </p:nvGraphicFramePr>
        <p:xfrm>
          <a:off x="837601" y="2345913"/>
          <a:ext cx="10515600" cy="274322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67144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1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i="0" u="none" strike="noStrike" cap="none" dirty="0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stdin</a:t>
                      </a:r>
                      <a:endParaRPr sz="280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i="0" dirty="0" err="1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stdout</a:t>
                      </a:r>
                      <a:endParaRPr sz="2800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i="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4 4</a:t>
                      </a:r>
                      <a:endParaRPr sz="2800" b="0" i="0" dirty="0">
                        <a:latin typeface="Lato" panose="020F0502020204030203" pitchFamily="34" charset="0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i="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0 1 1 1</a:t>
                      </a:r>
                      <a:endParaRPr sz="28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i="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1 1 1 0</a:t>
                      </a:r>
                      <a:endParaRPr sz="28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i="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1 1 0 0</a:t>
                      </a:r>
                      <a:endParaRPr sz="28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i="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1 1 1 0</a:t>
                      </a:r>
                      <a:endParaRPr sz="280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i="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2800" b="0" i="0" dirty="0">
                        <a:latin typeface="Lato" panose="020F0502020204030203" pitchFamily="34" charset="0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ABB31B5A-CDEE-F589-5636-6A09C29435A2}"/>
              </a:ext>
            </a:extLst>
          </p:cNvPr>
          <p:cNvSpPr/>
          <p:nvPr/>
        </p:nvSpPr>
        <p:spPr>
          <a:xfrm>
            <a:off x="882869" y="3767959"/>
            <a:ext cx="551793" cy="126124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VN" dirty="0"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9429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EB5AF-F091-3BEF-0E3B-FCCF6D0F2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506FD-7E34-F4AA-5795-FDFC7C2BD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Largest black sub-rectangle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4E1D89-F4D8-9EA0-ECF1-69B72C9659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3200" dirty="0" err="1">
                <a:sym typeface="Arial"/>
              </a:rPr>
              <a:t>Ý</a:t>
            </a:r>
            <a:r>
              <a:rPr lang="en-US" sz="3200" dirty="0">
                <a:sym typeface="Arial"/>
              </a:rPr>
              <a:t> </a:t>
            </a:r>
            <a:r>
              <a:rPr lang="en-US" sz="3200" dirty="0" err="1">
                <a:sym typeface="Arial"/>
              </a:rPr>
              <a:t>tưởng</a:t>
            </a:r>
            <a:r>
              <a:rPr lang="en-US" sz="3200" dirty="0">
                <a:sym typeface="Arial"/>
              </a:rPr>
              <a:t>: </a:t>
            </a:r>
          </a:p>
          <a:p>
            <a:pPr lvl="1"/>
            <a:r>
              <a:rPr lang="en-US" sz="2800" dirty="0" err="1">
                <a:sym typeface="Arial"/>
              </a:rPr>
              <a:t>Duyệt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theo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các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hàng</a:t>
            </a:r>
            <a:endParaRPr lang="en-US" sz="2800" dirty="0">
              <a:sym typeface="Arial"/>
            </a:endParaRPr>
          </a:p>
          <a:p>
            <a:pPr lvl="1"/>
            <a:r>
              <a:rPr lang="en-US" sz="2800" dirty="0" err="1">
                <a:sym typeface="Arial"/>
              </a:rPr>
              <a:t>Tại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mỗi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hàng</a:t>
            </a:r>
            <a:r>
              <a:rPr lang="en-US" sz="2800" dirty="0">
                <a:sym typeface="Arial"/>
              </a:rPr>
              <a:t>: </a:t>
            </a:r>
            <a:r>
              <a:rPr lang="en-US" sz="2800" dirty="0" err="1">
                <a:sym typeface="Arial"/>
              </a:rPr>
              <a:t>Tìm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hình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chữ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nhật</a:t>
            </a:r>
            <a:r>
              <a:rPr lang="en-US" sz="2800" dirty="0">
                <a:sym typeface="Arial"/>
              </a:rPr>
              <a:t> con </a:t>
            </a:r>
            <a:r>
              <a:rPr lang="en-US" sz="2800" dirty="0" err="1">
                <a:sym typeface="Arial"/>
              </a:rPr>
              <a:t>lớn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nhất</a:t>
            </a:r>
            <a:r>
              <a:rPr lang="en-US" sz="2800" dirty="0">
                <a:sym typeface="Arial"/>
              </a:rPr>
              <a:t> </a:t>
            </a:r>
            <a:r>
              <a:rPr lang="en-US" sz="2800" b="1" dirty="0" err="1">
                <a:sym typeface="Arial"/>
              </a:rPr>
              <a:t>kết</a:t>
            </a:r>
            <a:r>
              <a:rPr lang="en-US" sz="2800" b="1" dirty="0">
                <a:sym typeface="Arial"/>
              </a:rPr>
              <a:t> </a:t>
            </a:r>
            <a:r>
              <a:rPr lang="en-US" sz="2800" b="1" dirty="0" err="1">
                <a:sym typeface="Arial"/>
              </a:rPr>
              <a:t>thúc</a:t>
            </a:r>
            <a:r>
              <a:rPr lang="en-US" sz="2800" b="1" dirty="0">
                <a:sym typeface="Arial"/>
              </a:rPr>
              <a:t> </a:t>
            </a:r>
            <a:r>
              <a:rPr lang="en-US" sz="2800" b="1" dirty="0" err="1">
                <a:sym typeface="Arial"/>
              </a:rPr>
              <a:t>ở</a:t>
            </a:r>
            <a:r>
              <a:rPr lang="en-US" sz="2800" b="1" dirty="0">
                <a:sym typeface="Arial"/>
              </a:rPr>
              <a:t> </a:t>
            </a:r>
            <a:r>
              <a:rPr lang="en-US" sz="2800" b="1" dirty="0" err="1">
                <a:sym typeface="Arial"/>
              </a:rPr>
              <a:t>hàng</a:t>
            </a:r>
            <a:r>
              <a:rPr lang="en-US" sz="2800" b="1" dirty="0">
                <a:sym typeface="Arial"/>
              </a:rPr>
              <a:t> </a:t>
            </a:r>
            <a:r>
              <a:rPr lang="en-US" sz="2800" b="1" dirty="0" err="1">
                <a:sym typeface="Arial"/>
              </a:rPr>
              <a:t>đấy</a:t>
            </a:r>
            <a:endParaRPr lang="en-US" sz="2800" b="1" dirty="0">
              <a:sym typeface="Arial"/>
            </a:endParaRPr>
          </a:p>
          <a:p>
            <a:endParaRPr lang="en-US" sz="3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A4161D-9054-218D-F234-C28E6031C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9481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D7985-7B41-75E2-3202-3171DE603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number table&#10;&#10;AI-generated content may be incorrect.">
            <a:extLst>
              <a:ext uri="{FF2B5EF4-FFF2-40B4-BE49-F238E27FC236}">
                <a16:creationId xmlns:a16="http://schemas.microsoft.com/office/drawing/2014/main" id="{D895C5F7-089F-0269-5235-F5294255C4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401" y="2073006"/>
            <a:ext cx="5930900" cy="3746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69CB04F-8E2C-31B4-BC2C-06451D882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Largest black sub-rectangle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9738A7-55E1-0443-4859-BA0FA59B5B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err="1">
                <a:sym typeface="Arial"/>
              </a:rPr>
              <a:t>Tại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mỗi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hàng</a:t>
            </a:r>
            <a:r>
              <a:rPr lang="en-US" dirty="0">
                <a:sym typeface="Arial"/>
              </a:rPr>
              <a:t>: </a:t>
            </a:r>
            <a:r>
              <a:rPr lang="en-US" dirty="0" err="1">
                <a:sym typeface="Arial"/>
              </a:rPr>
              <a:t>Tìm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hình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chữ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nhật</a:t>
            </a:r>
            <a:r>
              <a:rPr lang="en-US" dirty="0">
                <a:sym typeface="Arial"/>
              </a:rPr>
              <a:t> con </a:t>
            </a:r>
            <a:r>
              <a:rPr lang="en-US" dirty="0" err="1">
                <a:sym typeface="Arial"/>
              </a:rPr>
              <a:t>lớn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nhất</a:t>
            </a:r>
            <a:r>
              <a:rPr lang="en-US" dirty="0">
                <a:sym typeface="Arial"/>
              </a:rPr>
              <a:t> </a:t>
            </a:r>
            <a:r>
              <a:rPr lang="en-US" b="1" dirty="0" err="1">
                <a:sym typeface="Arial"/>
              </a:rPr>
              <a:t>kết</a:t>
            </a:r>
            <a:r>
              <a:rPr lang="en-US" b="1" dirty="0">
                <a:sym typeface="Arial"/>
              </a:rPr>
              <a:t> </a:t>
            </a:r>
            <a:r>
              <a:rPr lang="en-US" b="1" dirty="0" err="1">
                <a:sym typeface="Arial"/>
              </a:rPr>
              <a:t>thúc</a:t>
            </a:r>
            <a:r>
              <a:rPr lang="en-US" b="1" dirty="0">
                <a:sym typeface="Arial"/>
              </a:rPr>
              <a:t> </a:t>
            </a:r>
            <a:r>
              <a:rPr lang="en-US" b="1" dirty="0" err="1">
                <a:sym typeface="Arial"/>
              </a:rPr>
              <a:t>ở</a:t>
            </a:r>
            <a:r>
              <a:rPr lang="en-US" b="1" dirty="0">
                <a:sym typeface="Arial"/>
              </a:rPr>
              <a:t> </a:t>
            </a:r>
            <a:r>
              <a:rPr lang="en-US" b="1" dirty="0" err="1">
                <a:sym typeface="Arial"/>
              </a:rPr>
              <a:t>hàng</a:t>
            </a:r>
            <a:r>
              <a:rPr lang="en-US" b="1" dirty="0">
                <a:sym typeface="Arial"/>
              </a:rPr>
              <a:t> </a:t>
            </a:r>
            <a:r>
              <a:rPr lang="en-US" b="1" dirty="0" err="1">
                <a:sym typeface="Arial"/>
              </a:rPr>
              <a:t>đấy</a:t>
            </a:r>
            <a:endParaRPr lang="en-US" b="1" dirty="0">
              <a:sym typeface="Arial"/>
            </a:endParaRPr>
          </a:p>
          <a:p>
            <a:pPr lvl="1"/>
            <a:r>
              <a:rPr lang="en-US" sz="2800" dirty="0" err="1">
                <a:sym typeface="Arial"/>
              </a:rPr>
              <a:t>Lấy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thông</a:t>
            </a:r>
            <a:r>
              <a:rPr lang="en-US" sz="2800" dirty="0">
                <a:sym typeface="Arial"/>
              </a:rPr>
              <a:t> tin </a:t>
            </a:r>
            <a:r>
              <a:rPr lang="en-US" sz="2800" dirty="0" err="1">
                <a:sym typeface="Arial"/>
              </a:rPr>
              <a:t>cho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hàng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i</a:t>
            </a:r>
            <a:r>
              <a:rPr lang="en-US" sz="2800" dirty="0">
                <a:sym typeface="Arial"/>
              </a:rPr>
              <a:t>: </a:t>
            </a:r>
            <a:r>
              <a:rPr lang="en-US" sz="2800" dirty="0" err="1">
                <a:sym typeface="Arial"/>
              </a:rPr>
              <a:t>chỉ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cần</a:t>
            </a:r>
            <a:r>
              <a:rPr lang="en-US" sz="2800" dirty="0">
                <a:sym typeface="Arial"/>
              </a:rPr>
              <a:t> 1 histogram</a:t>
            </a:r>
          </a:p>
          <a:p>
            <a:pPr lvl="1"/>
            <a:r>
              <a:rPr lang="en-US" sz="2800" dirty="0">
                <a:sym typeface="Arial"/>
              </a:rPr>
              <a:t>example: </a:t>
            </a:r>
            <a:r>
              <a:rPr lang="en-US" sz="2800" dirty="0" err="1">
                <a:sym typeface="Arial"/>
              </a:rPr>
              <a:t>chỉ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cần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ùng</a:t>
            </a:r>
            <a:r>
              <a:rPr lang="en-US" sz="2800" dirty="0">
                <a:sym typeface="Arial"/>
              </a:rPr>
              <a:t> [2,3,0,0]</a:t>
            </a:r>
          </a:p>
          <a:p>
            <a:pPr marL="457200" lvl="1" indent="0">
              <a:buNone/>
            </a:pPr>
            <a:r>
              <a:rPr lang="en-US" sz="2800" dirty="0">
                <a:sym typeface="Arial"/>
              </a:rPr>
              <a:t>		</a:t>
            </a:r>
            <a:r>
              <a:rPr lang="en-US" sz="2800" dirty="0" err="1">
                <a:sym typeface="Arial"/>
              </a:rPr>
              <a:t>để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tìm</a:t>
            </a:r>
            <a:r>
              <a:rPr lang="en-US" sz="2800" dirty="0">
                <a:sym typeface="Arial"/>
              </a:rPr>
              <a:t> HCN con </a:t>
            </a:r>
            <a:r>
              <a:rPr lang="en-US" sz="2800" dirty="0" err="1">
                <a:sym typeface="Arial"/>
              </a:rPr>
              <a:t>kết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thúc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hàng</a:t>
            </a:r>
            <a:r>
              <a:rPr lang="en-US" sz="2800" dirty="0">
                <a:sym typeface="Arial"/>
              </a:rPr>
              <a:t> 3 </a:t>
            </a:r>
            <a:endParaRPr lang="en-US" dirty="0">
              <a:sym typeface="Arial"/>
            </a:endParaRPr>
          </a:p>
          <a:p>
            <a:endParaRPr lang="en-US" sz="3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18C7D1-328A-A1FD-0220-B8966AC86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76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71921-242B-2C97-05EE-B578E5FD0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CA892-D5DA-13CA-D230-8C106AB89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Largest black sub-rectangle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4C416-BEC3-68EA-BC71-8512026B3A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5255556"/>
          </a:xfrm>
        </p:spPr>
        <p:txBody>
          <a:bodyPr>
            <a:normAutofit/>
          </a:bodyPr>
          <a:lstStyle/>
          <a:p>
            <a:r>
              <a:rPr lang="en-US" dirty="0" err="1">
                <a:sym typeface="Arial"/>
              </a:rPr>
              <a:t>Tại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mỗi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hàng</a:t>
            </a:r>
            <a:r>
              <a:rPr lang="en-US" dirty="0">
                <a:sym typeface="Arial"/>
              </a:rPr>
              <a:t>: </a:t>
            </a:r>
            <a:r>
              <a:rPr lang="en-US" dirty="0" err="1">
                <a:sym typeface="Arial"/>
              </a:rPr>
              <a:t>Tìm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hình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chữ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nhật</a:t>
            </a:r>
            <a:r>
              <a:rPr lang="en-US" dirty="0">
                <a:sym typeface="Arial"/>
              </a:rPr>
              <a:t> con </a:t>
            </a:r>
            <a:r>
              <a:rPr lang="en-US" dirty="0" err="1">
                <a:sym typeface="Arial"/>
              </a:rPr>
              <a:t>lớn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nhất</a:t>
            </a:r>
            <a:r>
              <a:rPr lang="en-US" dirty="0">
                <a:sym typeface="Arial"/>
              </a:rPr>
              <a:t> </a:t>
            </a:r>
            <a:r>
              <a:rPr lang="en-US" b="1" dirty="0" err="1">
                <a:sym typeface="Arial"/>
              </a:rPr>
              <a:t>kết</a:t>
            </a:r>
            <a:r>
              <a:rPr lang="en-US" b="1" dirty="0">
                <a:sym typeface="Arial"/>
              </a:rPr>
              <a:t> </a:t>
            </a:r>
            <a:r>
              <a:rPr lang="en-US" b="1" dirty="0" err="1">
                <a:sym typeface="Arial"/>
              </a:rPr>
              <a:t>thúc</a:t>
            </a:r>
            <a:r>
              <a:rPr lang="en-US" b="1" dirty="0">
                <a:sym typeface="Arial"/>
              </a:rPr>
              <a:t> </a:t>
            </a:r>
            <a:r>
              <a:rPr lang="en-US" b="1" dirty="0" err="1">
                <a:sym typeface="Arial"/>
              </a:rPr>
              <a:t>ở</a:t>
            </a:r>
            <a:r>
              <a:rPr lang="en-US" b="1" dirty="0">
                <a:sym typeface="Arial"/>
              </a:rPr>
              <a:t> </a:t>
            </a:r>
            <a:r>
              <a:rPr lang="en-US" b="1" dirty="0" err="1">
                <a:sym typeface="Arial"/>
              </a:rPr>
              <a:t>hàng</a:t>
            </a:r>
            <a:r>
              <a:rPr lang="en-US" b="1" dirty="0">
                <a:sym typeface="Arial"/>
              </a:rPr>
              <a:t> </a:t>
            </a:r>
            <a:r>
              <a:rPr lang="en-US" b="1" dirty="0" err="1">
                <a:sym typeface="Arial"/>
              </a:rPr>
              <a:t>đấy</a:t>
            </a:r>
            <a:endParaRPr lang="en-US" b="1" dirty="0">
              <a:sym typeface="Arial"/>
            </a:endParaRPr>
          </a:p>
          <a:p>
            <a:pPr lvl="1"/>
            <a:r>
              <a:rPr lang="en-US" sz="2800" dirty="0" err="1"/>
              <a:t>duyệt</a:t>
            </a:r>
            <a:r>
              <a:rPr lang="en-US" sz="2800" dirty="0"/>
              <a:t> </a:t>
            </a:r>
            <a:r>
              <a:rPr lang="en-US" sz="2800" dirty="0" err="1"/>
              <a:t>theo</a:t>
            </a:r>
            <a:r>
              <a:rPr lang="en-US" sz="2800" dirty="0"/>
              <a:t> </a:t>
            </a:r>
            <a:r>
              <a:rPr lang="en-US" sz="2800" dirty="0" err="1"/>
              <a:t>cột</a:t>
            </a:r>
            <a:endParaRPr lang="en-US" sz="2800" dirty="0"/>
          </a:p>
          <a:p>
            <a:pPr lvl="1"/>
            <a:r>
              <a:rPr lang="en-US" sz="2800" dirty="0" err="1"/>
              <a:t>mở</a:t>
            </a:r>
            <a:r>
              <a:rPr lang="en-US" sz="2800" dirty="0"/>
              <a:t> </a:t>
            </a:r>
            <a:r>
              <a:rPr lang="en-US" sz="2800" dirty="0" err="1"/>
              <a:t>rộng</a:t>
            </a:r>
            <a:r>
              <a:rPr lang="en-US" sz="2800" dirty="0"/>
              <a:t> </a:t>
            </a:r>
            <a:r>
              <a:rPr lang="en-US" sz="2800" dirty="0" err="1"/>
              <a:t>về</a:t>
            </a:r>
            <a:r>
              <a:rPr lang="en-US" sz="2800" dirty="0"/>
              <a:t> 2 </a:t>
            </a:r>
            <a:r>
              <a:rPr lang="en-US" sz="2800" dirty="0" err="1"/>
              <a:t>bên</a:t>
            </a:r>
            <a:r>
              <a:rPr lang="en-US" sz="2800" dirty="0"/>
              <a:t> </a:t>
            </a:r>
            <a:r>
              <a:rPr lang="en-US" sz="2800" dirty="0" err="1"/>
              <a:t>theo</a:t>
            </a:r>
            <a:r>
              <a:rPr lang="en-US" sz="2800" dirty="0"/>
              <a:t> </a:t>
            </a:r>
          </a:p>
          <a:p>
            <a:pPr marL="457200" lvl="1" indent="0">
              <a:buNone/>
            </a:pPr>
            <a:r>
              <a:rPr lang="en-US" sz="2800" dirty="0" err="1"/>
              <a:t>chiều</a:t>
            </a:r>
            <a:r>
              <a:rPr lang="en-US" sz="2800" dirty="0"/>
              <a:t> </a:t>
            </a:r>
            <a:r>
              <a:rPr lang="en-US" sz="2800" dirty="0" err="1"/>
              <a:t>cao</a:t>
            </a:r>
            <a:r>
              <a:rPr lang="en-US" sz="2800" dirty="0"/>
              <a:t> </a:t>
            </a:r>
            <a:r>
              <a:rPr lang="en-US" sz="2800" dirty="0" err="1"/>
              <a:t>cột</a:t>
            </a:r>
            <a:r>
              <a:rPr lang="en-US" sz="2800" dirty="0"/>
              <a:t> </a:t>
            </a:r>
            <a:r>
              <a:rPr lang="en-US" sz="2800" dirty="0" err="1"/>
              <a:t>đấy</a:t>
            </a:r>
            <a:endParaRPr lang="en-US" sz="2800" dirty="0"/>
          </a:p>
          <a:p>
            <a:pPr lvl="2"/>
            <a:r>
              <a:rPr lang="en-US" sz="2400" dirty="0"/>
              <a:t>col1: width=1 -&gt; S = 60</a:t>
            </a:r>
          </a:p>
          <a:p>
            <a:pPr lvl="2"/>
            <a:r>
              <a:rPr lang="en-US" sz="2400" dirty="0"/>
              <a:t>col2: width=4 -&gt; S = 80</a:t>
            </a:r>
          </a:p>
          <a:p>
            <a:pPr lvl="2"/>
            <a:r>
              <a:rPr lang="en-US" sz="2400" dirty="0"/>
              <a:t>col3: width=1 -&gt; S = 50</a:t>
            </a:r>
          </a:p>
          <a:p>
            <a:pPr lvl="2"/>
            <a:r>
              <a:rPr lang="en-US" sz="2400" dirty="0"/>
              <a:t>col4: width=2 -&gt; S = 80</a:t>
            </a:r>
          </a:p>
          <a:p>
            <a:pPr lvl="2"/>
            <a:r>
              <a:rPr lang="en-US" sz="2400" dirty="0"/>
              <a:t>col5: width=7 -&gt; S = 70</a:t>
            </a:r>
          </a:p>
          <a:p>
            <a:pPr lvl="2"/>
            <a:r>
              <a:rPr lang="en-US" sz="2400" dirty="0"/>
              <a:t>col6: width=2 -&gt; S = 100</a:t>
            </a:r>
          </a:p>
          <a:p>
            <a:pPr lvl="2"/>
            <a:r>
              <a:rPr lang="en-US" sz="2400" dirty="0"/>
              <a:t>col7: width=1 -&gt; S = 60</a:t>
            </a:r>
          </a:p>
          <a:p>
            <a:r>
              <a:rPr lang="en-US" sz="3200" dirty="0"/>
              <a:t>programming...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6975DD-6783-1D1D-D63E-CFF1E5C43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4" name="Picture 2" descr="Largest-Rectangular-Area-in-a-Histogram">
            <a:extLst>
              <a:ext uri="{FF2B5EF4-FFF2-40B4-BE49-F238E27FC236}">
                <a16:creationId xmlns:a16="http://schemas.microsoft.com/office/drawing/2014/main" id="{FFB2815D-D9DD-406B-468E-F2184DE887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4699" y="1971516"/>
            <a:ext cx="6362700" cy="306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0948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B85A1-8CB5-2E88-65F4-38CA4963D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VN"/>
              <a:t>Largest </a:t>
            </a:r>
            <a:r>
              <a:rPr lang="en-VN" dirty="0"/>
              <a:t>black sub-rectangle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72A17A-D6E6-6C8A-DFCA-DE97E9683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4">
                <a:extLst>
                  <a:ext uri="{FF2B5EF4-FFF2-40B4-BE49-F238E27FC236}">
                    <a16:creationId xmlns:a16="http://schemas.microsoft.com/office/drawing/2014/main" id="{66A1C33C-C29C-30DB-271D-60471D14CF4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388533"/>
                <a:ext cx="10515600" cy="49848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114300" marR="0" lvl="0" indent="0" algn="l" rtl="0" eaLnBrk="1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  <a:defRPr sz="2400" b="0" i="0" u="none" strike="noStrike" cap="none">
                    <a:solidFill>
                      <a:schemeClr val="dk1"/>
                    </a:solidFill>
                    <a:latin typeface="+mj-lt"/>
                    <a:ea typeface="Calibri"/>
                    <a:cs typeface="Calibri"/>
                    <a:sym typeface="Calibri"/>
                  </a:defRPr>
                </a:lvl1pPr>
                <a:lvl2pPr marL="914400" marR="0" lvl="1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4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marL="1371600" marR="0" lvl="2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marL="1828800" marR="0" lvl="3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marL="2286000" marR="0" lvl="4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marL="2743200" marR="0" lvl="5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marL="342900" indent="-342900" algn="just">
                  <a:spcBef>
                    <a:spcPts val="0"/>
                  </a:spcBef>
                  <a:buFont typeface="Wingdings" panose="05000000000000000000" pitchFamily="2" charset="2"/>
                  <a:buChar char="Ø"/>
                </a:pPr>
                <a:r>
                  <a:rPr lang="en-US" dirty="0">
                    <a:solidFill>
                      <a:schemeClr val="tx1"/>
                    </a:solidFill>
                    <a:latin typeface="Lato" panose="020F0502020204030203" pitchFamily="34" charset="0"/>
                    <a:ea typeface="Arial"/>
                    <a:cs typeface="Arial"/>
                    <a:sym typeface="Arial"/>
                  </a:rPr>
                  <a:t>Solving histogram problem</a:t>
                </a: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Cut out a rectangle from a given histogram shape such that the area is maximal</a:t>
                </a: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Input: a sequence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sym typeface="Consolas"/>
                      </a:rPr>
                      <m:t>𝑚</m:t>
                    </m:r>
                  </m:oMath>
                </a14:m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 column, the (non-negative) height of column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</m:oMath>
                </a14:m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 is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sym typeface="Consolas"/>
                      </a:rPr>
                      <m:t>h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  <a:sym typeface="Consolas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sym typeface="Consolas"/>
                          </a:rPr>
                          <m:t>𝑖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sym typeface="Consolas"/>
                      </a:rPr>
                      <m:t>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sym typeface="Consolas"/>
                      </a:rPr>
                      <m:t>=1,2,…,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sym typeface="Consolas"/>
                      </a:rPr>
                      <m:t>𝑚</m:t>
                    </m:r>
                  </m:oMath>
                </a14:m>
                <a:endParaRPr lang="en-US" dirty="0">
                  <a:latin typeface="Lato" panose="020F0502020204030203" pitchFamily="34" charset="0"/>
                  <a:sym typeface="Consolas"/>
                </a:endParaRP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Lato" panose="020F0502020204030203" pitchFamily="34" charset="0"/>
                    <a:sym typeface="Consolas"/>
                  </a:rPr>
                  <a:t>Border: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Consolas"/>
                      </a:rPr>
                      <m:t>h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sym typeface="Consolas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Consolas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sym typeface="Consolas"/>
                      </a:rPr>
                      <m:t>=−1, 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Consolas"/>
                      </a:rPr>
                      <m:t>h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sym typeface="Consolas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Consolas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sym typeface="Consolas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sym typeface="Consolas"/>
                      </a:rPr>
                      <m:t>=−1</m:t>
                    </m:r>
                  </m:oMath>
                </a14:m>
                <a:endParaRPr lang="en-US" dirty="0">
                  <a:solidFill>
                    <a:schemeClr val="tx1"/>
                  </a:solidFill>
                  <a:latin typeface="Lato" panose="020F0502020204030203" pitchFamily="34" charset="0"/>
                  <a:ea typeface="Arial"/>
                  <a:cs typeface="Arial"/>
                  <a:sym typeface="Arial"/>
                </a:endParaRP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Lato" panose="020F0502020204030203" pitchFamily="34" charset="0"/>
                  </a:rPr>
                  <a:t>Data structures: for each column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latin typeface="Lato" panose="020F0502020204030203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=1,…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sz="2400" dirty="0">
                  <a:latin typeface="Lato" panose="020F0502020204030203" pitchFamily="34" charset="0"/>
                </a:endParaRP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sz="2400" dirty="0">
                  <a:latin typeface="Lato" panose="020F0502020204030203" pitchFamily="34" charset="0"/>
                </a:endParaRP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chemeClr val="tx1"/>
                  </a:solidFill>
                  <a:latin typeface="Lato" panose="020F0502020204030203" pitchFamily="34" charset="0"/>
                  <a:ea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6" name="Text Placeholder 4">
                <a:extLst>
                  <a:ext uri="{FF2B5EF4-FFF2-40B4-BE49-F238E27FC236}">
                    <a16:creationId xmlns:a16="http://schemas.microsoft.com/office/drawing/2014/main" id="{66A1C33C-C29C-30DB-271D-60471D14CF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388533"/>
                <a:ext cx="10515600" cy="4984835"/>
              </a:xfrm>
              <a:prstGeom prst="rect">
                <a:avLst/>
              </a:prstGeom>
              <a:blipFill>
                <a:blip r:embed="rId2"/>
                <a:stretch>
                  <a:fillRect l="-483" t="-1777" r="-84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28E02AB-3AA2-7C63-CE97-4CA34C50400E}"/>
                  </a:ext>
                </a:extLst>
              </p:cNvPr>
              <p:cNvSpPr txBox="1"/>
              <p:nvPr/>
            </p:nvSpPr>
            <p:spPr>
              <a:xfrm>
                <a:off x="1150294" y="3713010"/>
                <a:ext cx="638998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lvl="8" indent="-342900">
                  <a:buSzPct val="75000"/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latin typeface="Lato" panose="020F0502020204030203" pitchFamily="34" charset="0"/>
                  </a:rPr>
                  <a:t>: the smallest index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latin typeface="Lato" panose="020F0502020204030203" pitchFamily="34" charset="0"/>
                  </a:rPr>
                  <a:t> </a:t>
                </a:r>
              </a:p>
              <a:p>
                <a:pPr marL="342900" lvl="8" indent="-342900">
                  <a:buSzPct val="75000"/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latin typeface="Lato" panose="020F0502020204030203" pitchFamily="34" charset="0"/>
                  </a:rPr>
                  <a:t>: the highest index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400" dirty="0">
                    <a:latin typeface="Lato" panose="020F0502020204030203" pitchFamily="34" charset="0"/>
                  </a:rPr>
                  <a:t> </a:t>
                </a:r>
                <a:endParaRPr lang="vi-VN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28E02AB-3AA2-7C63-CE97-4CA34C5040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0294" y="3713010"/>
                <a:ext cx="6389987" cy="830997"/>
              </a:xfrm>
              <a:prstGeom prst="rect">
                <a:avLst/>
              </a:prstGeom>
              <a:blipFill>
                <a:blip r:embed="rId3"/>
                <a:stretch>
                  <a:fillRect l="-595" t="-7576" b="-1515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C7B9275-F73E-4B9D-DE1D-DA945591D38C}"/>
              </a:ext>
            </a:extLst>
          </p:cNvPr>
          <p:cNvCxnSpPr>
            <a:cxnSpLocks/>
          </p:cNvCxnSpPr>
          <p:nvPr/>
        </p:nvCxnSpPr>
        <p:spPr>
          <a:xfrm flipV="1">
            <a:off x="7708393" y="5009860"/>
            <a:ext cx="4593770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3912CD5C-3316-175F-6A02-2E775484B875}"/>
              </a:ext>
            </a:extLst>
          </p:cNvPr>
          <p:cNvSpPr/>
          <p:nvPr/>
        </p:nvSpPr>
        <p:spPr>
          <a:xfrm>
            <a:off x="8056736" y="4008376"/>
            <a:ext cx="381000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CCF5D4-892A-7926-7B26-DAF3B7166F0B}"/>
              </a:ext>
            </a:extLst>
          </p:cNvPr>
          <p:cNvSpPr/>
          <p:nvPr/>
        </p:nvSpPr>
        <p:spPr>
          <a:xfrm>
            <a:off x="8437736" y="3616491"/>
            <a:ext cx="381000" cy="139337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0ADFC13-B48B-DD1C-B56E-FCF72EB84217}"/>
              </a:ext>
            </a:extLst>
          </p:cNvPr>
          <p:cNvSpPr/>
          <p:nvPr/>
        </p:nvSpPr>
        <p:spPr>
          <a:xfrm>
            <a:off x="8818736" y="2919805"/>
            <a:ext cx="381000" cy="209005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8E99CB-E854-3AD1-E8B3-7A06AC7455BC}"/>
              </a:ext>
            </a:extLst>
          </p:cNvPr>
          <p:cNvSpPr/>
          <p:nvPr/>
        </p:nvSpPr>
        <p:spPr>
          <a:xfrm>
            <a:off x="9199736" y="3616491"/>
            <a:ext cx="381000" cy="1393371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0C716A-6AA0-C864-5682-4930E0AD8759}"/>
              </a:ext>
            </a:extLst>
          </p:cNvPr>
          <p:cNvSpPr/>
          <p:nvPr/>
        </p:nvSpPr>
        <p:spPr>
          <a:xfrm>
            <a:off x="9580736" y="3202842"/>
            <a:ext cx="381000" cy="18070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E605E4-D6D6-3E8D-2F99-EB14533C75F7}"/>
              </a:ext>
            </a:extLst>
          </p:cNvPr>
          <p:cNvSpPr/>
          <p:nvPr/>
        </p:nvSpPr>
        <p:spPr>
          <a:xfrm>
            <a:off x="9961736" y="4411151"/>
            <a:ext cx="386442" cy="59871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6542563-A6A5-4E65-7DEB-7E5DD18A0094}"/>
              </a:ext>
            </a:extLst>
          </p:cNvPr>
          <p:cNvSpPr/>
          <p:nvPr/>
        </p:nvSpPr>
        <p:spPr>
          <a:xfrm>
            <a:off x="10348178" y="4008376"/>
            <a:ext cx="375558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B4AFD74-42FB-318F-7B7F-ADEF31BD74CF}"/>
              </a:ext>
            </a:extLst>
          </p:cNvPr>
          <p:cNvSpPr/>
          <p:nvPr/>
        </p:nvSpPr>
        <p:spPr>
          <a:xfrm>
            <a:off x="10729178" y="3616491"/>
            <a:ext cx="381000" cy="139337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A150027-B051-A2A2-93DD-22C41A799C54}"/>
              </a:ext>
            </a:extLst>
          </p:cNvPr>
          <p:cNvSpPr/>
          <p:nvPr/>
        </p:nvSpPr>
        <p:spPr>
          <a:xfrm>
            <a:off x="11110178" y="4411151"/>
            <a:ext cx="381000" cy="59870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DFA7A6-A7E6-3E3E-ECEF-528F2CEDC3D5}"/>
              </a:ext>
            </a:extLst>
          </p:cNvPr>
          <p:cNvSpPr/>
          <p:nvPr/>
        </p:nvSpPr>
        <p:spPr>
          <a:xfrm>
            <a:off x="11491178" y="4008376"/>
            <a:ext cx="381000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D6F1C2-6230-2358-EE8B-D06B89AE9540}"/>
              </a:ext>
            </a:extLst>
          </p:cNvPr>
          <p:cNvSpPr txBox="1"/>
          <p:nvPr/>
        </p:nvSpPr>
        <p:spPr>
          <a:xfrm>
            <a:off x="8056735" y="5096948"/>
            <a:ext cx="40712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Lato" panose="020F0502020204030203" pitchFamily="34" charset="0"/>
              </a:rPr>
              <a:t>1     2     3     4    5     6    7     8     9    10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35369EE-7A12-4ECD-5D26-6F98A0E85650}"/>
              </a:ext>
            </a:extLst>
          </p:cNvPr>
          <p:cNvSpPr/>
          <p:nvPr/>
        </p:nvSpPr>
        <p:spPr>
          <a:xfrm>
            <a:off x="8437736" y="3616491"/>
            <a:ext cx="1524000" cy="1393369"/>
          </a:xfrm>
          <a:prstGeom prst="rect">
            <a:avLst/>
          </a:prstGeom>
          <a:noFill/>
          <a:ln w="635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5A1E385-348B-D961-6472-1ABECBE20E74}"/>
                  </a:ext>
                </a:extLst>
              </p:cNvPr>
              <p:cNvSpPr txBox="1"/>
              <p:nvPr/>
            </p:nvSpPr>
            <p:spPr>
              <a:xfrm>
                <a:off x="8797417" y="5744336"/>
                <a:ext cx="156663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Lato" panose="020F0502020204030203" pitchFamily="34" charset="0"/>
                  </a:rPr>
                  <a:t>Index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 = 4</m:t>
                    </m:r>
                  </m:oMath>
                </a14:m>
                <a:endParaRPr lang="en-US" sz="2000" dirty="0">
                  <a:latin typeface="Lato" panose="020F0502020204030203" pitchFamily="34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5A1E385-348B-D961-6472-1ABECBE20E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7417" y="5744336"/>
                <a:ext cx="1566637" cy="400110"/>
              </a:xfrm>
              <a:prstGeom prst="rect">
                <a:avLst/>
              </a:prstGeom>
              <a:blipFill>
                <a:blip r:embed="rId4"/>
                <a:stretch>
                  <a:fillRect l="-4000" t="-9375" b="-28125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116618B-CA57-2675-74DD-0CA14EBB1571}"/>
              </a:ext>
            </a:extLst>
          </p:cNvPr>
          <p:cNvCxnSpPr>
            <a:cxnSpLocks/>
            <a:stCxn id="21" idx="0"/>
          </p:cNvCxnSpPr>
          <p:nvPr/>
        </p:nvCxnSpPr>
        <p:spPr>
          <a:xfrm flipH="1" flipV="1">
            <a:off x="9272303" y="4661432"/>
            <a:ext cx="308433" cy="10829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2D7FB0E-B992-D75F-BF3F-E985D505838E}"/>
                  </a:ext>
                </a:extLst>
              </p:cNvPr>
              <p:cNvSpPr txBox="1"/>
              <p:nvPr/>
            </p:nvSpPr>
            <p:spPr>
              <a:xfrm>
                <a:off x="10379016" y="5745605"/>
                <a:ext cx="153443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000" i="1" dirty="0" err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] = 6</m:t>
                      </m:r>
                    </m:oMath>
                  </m:oMathPara>
                </a14:m>
                <a:endParaRPr lang="en-US" sz="2000" dirty="0">
                  <a:latin typeface="Lato" panose="020F0502020204030203" pitchFamily="34" charset="0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2D7FB0E-B992-D75F-BF3F-E985D50583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9016" y="5745605"/>
                <a:ext cx="1534433" cy="400110"/>
              </a:xfrm>
              <a:prstGeom prst="rect">
                <a:avLst/>
              </a:prstGeom>
              <a:blipFill>
                <a:blip r:embed="rId5"/>
                <a:stretch>
                  <a:fillRect b="-21875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6D18F2E-010E-0E31-1E3D-B803E1556D34}"/>
              </a:ext>
            </a:extLst>
          </p:cNvPr>
          <p:cNvCxnSpPr>
            <a:cxnSpLocks/>
            <a:stCxn id="23" idx="0"/>
            <a:endCxn id="14" idx="2"/>
          </p:cNvCxnSpPr>
          <p:nvPr/>
        </p:nvCxnSpPr>
        <p:spPr>
          <a:xfrm flipH="1" flipV="1">
            <a:off x="10154957" y="5009862"/>
            <a:ext cx="991276" cy="7357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B246ED1-EE98-8691-593B-81009B8A6F13}"/>
                  </a:ext>
                </a:extLst>
              </p:cNvPr>
              <p:cNvSpPr txBox="1"/>
              <p:nvPr/>
            </p:nvSpPr>
            <p:spPr>
              <a:xfrm>
                <a:off x="7367315" y="5693772"/>
                <a:ext cx="14151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000" i="1" dirty="0" err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] = 1</m:t>
                      </m:r>
                    </m:oMath>
                  </m:oMathPara>
                </a14:m>
                <a:endParaRPr lang="en-US" sz="2000" dirty="0">
                  <a:latin typeface="Lato" panose="020F0502020204030203" pitchFamily="34" charset="0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B246ED1-EE98-8691-593B-81009B8A6F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7315" y="5693772"/>
                <a:ext cx="1415140" cy="400110"/>
              </a:xfrm>
              <a:prstGeom prst="rect">
                <a:avLst/>
              </a:prstGeom>
              <a:blipFill>
                <a:blip r:embed="rId6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A05BA3E-1C4C-BCA5-E14E-E01B0AC71AA1}"/>
              </a:ext>
            </a:extLst>
          </p:cNvPr>
          <p:cNvCxnSpPr>
            <a:cxnSpLocks/>
            <a:stCxn id="25" idx="0"/>
            <a:endCxn id="9" idx="2"/>
          </p:cNvCxnSpPr>
          <p:nvPr/>
        </p:nvCxnSpPr>
        <p:spPr>
          <a:xfrm flipV="1">
            <a:off x="8074885" y="5009862"/>
            <a:ext cx="172351" cy="6839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7336D07-2592-F839-3581-BADEF311250C}"/>
                  </a:ext>
                </a:extLst>
              </p:cNvPr>
              <p:cNvSpPr txBox="1"/>
              <p:nvPr/>
            </p:nvSpPr>
            <p:spPr>
              <a:xfrm>
                <a:off x="838200" y="4544007"/>
                <a:ext cx="6747734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buSzPct val="75000"/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Lato" panose="020F0502020204030203" pitchFamily="34" charset="0"/>
                  </a:rPr>
                  <a:t>Area of the largest rectangle obtained by expanding (both left and right directions) from column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latin typeface="Lato" panose="020F0502020204030203" pitchFamily="34" charset="0"/>
                  </a:rPr>
                  <a:t> is: 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7336D07-2592-F839-3581-BADEF31125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544007"/>
                <a:ext cx="6747734" cy="1200329"/>
              </a:xfrm>
              <a:prstGeom prst="rect">
                <a:avLst/>
              </a:prstGeom>
              <a:blipFill>
                <a:blip r:embed="rId7"/>
                <a:stretch>
                  <a:fillRect l="-752" t="-4167" r="-1316" b="-10417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F72E680-3911-3053-C220-97A4C8EA6602}"/>
                  </a:ext>
                </a:extLst>
              </p:cNvPr>
              <p:cNvSpPr txBox="1"/>
              <p:nvPr/>
            </p:nvSpPr>
            <p:spPr>
              <a:xfrm>
                <a:off x="2742476" y="5735181"/>
                <a:ext cx="320562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]∗(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] – 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] – 1)</m:t>
                      </m:r>
                    </m:oMath>
                  </m:oMathPara>
                </a14:m>
                <a:endParaRPr lang="pt-BR" sz="2400" dirty="0">
                  <a:latin typeface="Lato" panose="020F0502020204030203" pitchFamily="34" charset="0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F72E680-3911-3053-C220-97A4C8EA66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2476" y="5735181"/>
                <a:ext cx="3205621" cy="461665"/>
              </a:xfrm>
              <a:prstGeom prst="rect">
                <a:avLst/>
              </a:prstGeom>
              <a:blipFill>
                <a:blip r:embed="rId8"/>
                <a:stretch>
                  <a:fillRect l="-791" b="-18421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52602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0">
          <a:extLst>
            <a:ext uri="{FF2B5EF4-FFF2-40B4-BE49-F238E27FC236}">
              <a16:creationId xmlns:a16="http://schemas.microsoft.com/office/drawing/2014/main" id="{07A92530-1325-BDCA-81A0-DE2221866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1CD0FD2-5705-BDC4-F234-D0EE013EF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endParaRPr lang="vi-VN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79006-8F19-8C1A-0A02-B06537618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>
                <a:ea typeface="Lato" panose="020F0502020204030203" pitchFamily="34" charset="0"/>
                <a:cs typeface="Lato" panose="020F0502020204030203" pitchFamily="34" charset="0"/>
              </a:rPr>
              <a:t>9</a:t>
            </a:fld>
            <a:endParaRPr lang="en-US" dirty="0"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4">
                <a:extLst>
                  <a:ext uri="{FF2B5EF4-FFF2-40B4-BE49-F238E27FC236}">
                    <a16:creationId xmlns:a16="http://schemas.microsoft.com/office/drawing/2014/main" id="{ABD195CF-F237-7929-4965-F18BF93DEAB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388533"/>
                <a:ext cx="6483751" cy="49848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114300" marR="0" lvl="0" indent="0" algn="l" rtl="0" eaLnBrk="1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  <a:defRPr sz="2400" b="0" i="0" u="none" strike="noStrike" cap="none">
                    <a:solidFill>
                      <a:schemeClr val="dk1"/>
                    </a:solidFill>
                    <a:latin typeface="+mj-lt"/>
                    <a:ea typeface="Calibri"/>
                    <a:cs typeface="Calibri"/>
                    <a:sym typeface="Calibri"/>
                  </a:defRPr>
                </a:lvl1pPr>
                <a:lvl2pPr marL="914400" marR="0" lvl="1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4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marL="1371600" marR="0" lvl="2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marL="1828800" marR="0" lvl="3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marL="2286000" marR="0" lvl="4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marL="2743200" marR="0" lvl="5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marL="342900" indent="-342900" algn="just">
                  <a:spcBef>
                    <a:spcPts val="0"/>
                  </a:spcBef>
                  <a:buFont typeface="Wingdings" panose="05000000000000000000" pitchFamily="2" charset="2"/>
                  <a:buChar char="Ø"/>
                </a:pPr>
                <a:r>
                  <a:rPr lang="en-US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Solving histogram problem</a:t>
                </a: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Consolas"/>
                  </a:rPr>
                  <a:t>Compute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𝑅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]</m:t>
                    </m:r>
                  </m:oMath>
                </a14:m>
                <a:r>
                  <a:rPr lang="en-US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Consolas"/>
                  </a:rPr>
                  <a:t>: </a:t>
                </a:r>
              </a:p>
              <a:p>
                <a:pPr lvl="1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Consolas"/>
                  </a:rPr>
                  <a:t>Explore columns from left to right, maintain a stack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</m:oMath>
                </a14:m>
                <a:r>
                  <a:rPr lang="en-US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Consolas"/>
                  </a:rPr>
                  <a:t> containing indices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</m:oMath>
                </a14:m>
                <a:r>
                  <a:rPr lang="en-US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Consolas"/>
                  </a:rPr>
                  <a:t> of columns waiting for the computation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𝑅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]</m:t>
                    </m:r>
                  </m:oMath>
                </a14:m>
                <a:endParaRPr lang="en-US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  <a:sym typeface="Consolas"/>
                </a:endParaRPr>
              </a:p>
              <a:p>
                <a:pPr lvl="1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Consolas"/>
                  </a:rPr>
                  <a:t>For each column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</m:oMath>
                </a14:m>
                <a:r>
                  <a:rPr lang="en-US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Consolas"/>
                  </a:rPr>
                  <a:t>:</a:t>
                </a:r>
              </a:p>
              <a:p>
                <a:pPr marL="1143000" lvl="1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Consolas"/>
                  </a:rPr>
                  <a:t>while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] &lt; 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.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𝑡𝑜𝑝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] </m:t>
                    </m:r>
                  </m:oMath>
                </a14:m>
                <a:r>
                  <a:rPr lang="en-US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Consolas"/>
                  </a:rPr>
                  <a:t>do</a:t>
                </a:r>
              </a:p>
              <a:p>
                <a:pPr marL="1554480" lvl="2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Consolas"/>
                  </a:rPr>
                  <a:t>pop an index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</m:oMath>
                </a14:m>
                <a:r>
                  <a:rPr lang="en-US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Consolas"/>
                  </a:rPr>
                  <a:t> out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 (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 = 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.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𝑡𝑜𝑝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)</m:t>
                    </m:r>
                  </m:oMath>
                </a14:m>
                <a:endParaRPr lang="en-US" sz="24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  <a:sym typeface="Consolas"/>
                </a:endParaRPr>
              </a:p>
              <a:p>
                <a:pPr marL="1600200" lvl="2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Consolas"/>
                  </a:rPr>
                  <a:t>assign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𝑅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] =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 </m:t>
                    </m:r>
                  </m:oMath>
                </a14:m>
                <a:endParaRPr lang="en-US" sz="24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  <a:sym typeface="Consolas"/>
                </a:endParaRPr>
              </a:p>
              <a:p>
                <a:pPr marL="1143000" lvl="2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Consolas"/>
                  </a:rPr>
                  <a:t>Push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</m:oMath>
                </a14:m>
                <a:r>
                  <a:rPr lang="en-US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Consolas"/>
                  </a:rPr>
                  <a:t> into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</m:oMath>
                </a14:m>
                <a:endParaRPr lang="en-US" sz="24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  <a:sym typeface="Consolas"/>
                </a:endParaRP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sz="24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  <a:sym typeface="Arial"/>
                </a:endParaRPr>
              </a:p>
            </p:txBody>
          </p:sp>
        </mc:Choice>
        <mc:Fallback xmlns="">
          <p:sp>
            <p:nvSpPr>
              <p:cNvPr id="7" name="Text Placeholder 4">
                <a:extLst>
                  <a:ext uri="{FF2B5EF4-FFF2-40B4-BE49-F238E27FC236}">
                    <a16:creationId xmlns:a16="http://schemas.microsoft.com/office/drawing/2014/main" id="{ABD195CF-F237-7929-4965-F18BF93DEA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388533"/>
                <a:ext cx="6483751" cy="4984835"/>
              </a:xfrm>
              <a:prstGeom prst="rect">
                <a:avLst/>
              </a:prstGeom>
              <a:blipFill>
                <a:blip r:embed="rId3"/>
                <a:stretch>
                  <a:fillRect l="-783" t="-1777" r="-156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AE01710-C60D-CB89-92E1-33BBAB35FBA9}"/>
              </a:ext>
            </a:extLst>
          </p:cNvPr>
          <p:cNvCxnSpPr>
            <a:cxnSpLocks/>
          </p:cNvCxnSpPr>
          <p:nvPr/>
        </p:nvCxnSpPr>
        <p:spPr>
          <a:xfrm flipV="1">
            <a:off x="7424057" y="3243941"/>
            <a:ext cx="4593770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B5AB3D68-FE9B-DEE0-443A-F679DD832812}"/>
              </a:ext>
            </a:extLst>
          </p:cNvPr>
          <p:cNvSpPr/>
          <p:nvPr/>
        </p:nvSpPr>
        <p:spPr>
          <a:xfrm>
            <a:off x="7772400" y="2242457"/>
            <a:ext cx="381000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8A2FEC-70D8-4019-89D9-47D4F0FFF050}"/>
              </a:ext>
            </a:extLst>
          </p:cNvPr>
          <p:cNvSpPr/>
          <p:nvPr/>
        </p:nvSpPr>
        <p:spPr>
          <a:xfrm>
            <a:off x="8153400" y="1850572"/>
            <a:ext cx="381000" cy="139337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DB27B0-A7B6-3C08-5801-BE98B7E3E11E}"/>
              </a:ext>
            </a:extLst>
          </p:cNvPr>
          <p:cNvSpPr/>
          <p:nvPr/>
        </p:nvSpPr>
        <p:spPr>
          <a:xfrm>
            <a:off x="8534400" y="1153886"/>
            <a:ext cx="381000" cy="209005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955E85-3265-0CA2-8EA5-A1EFC97E8155}"/>
              </a:ext>
            </a:extLst>
          </p:cNvPr>
          <p:cNvSpPr/>
          <p:nvPr/>
        </p:nvSpPr>
        <p:spPr>
          <a:xfrm>
            <a:off x="8915400" y="1850572"/>
            <a:ext cx="381000" cy="1393371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FB09600-A2DF-0F6C-D222-E4E9D39A0632}"/>
              </a:ext>
            </a:extLst>
          </p:cNvPr>
          <p:cNvSpPr/>
          <p:nvPr/>
        </p:nvSpPr>
        <p:spPr>
          <a:xfrm>
            <a:off x="9296400" y="1436923"/>
            <a:ext cx="381000" cy="18070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4AC7D4C-953E-9A6D-F89A-387EA162F1F2}"/>
              </a:ext>
            </a:extLst>
          </p:cNvPr>
          <p:cNvSpPr/>
          <p:nvPr/>
        </p:nvSpPr>
        <p:spPr>
          <a:xfrm>
            <a:off x="9677400" y="2645232"/>
            <a:ext cx="386442" cy="59871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8FEFEE-4CF4-1BC1-32C5-DDDBF06C948B}"/>
              </a:ext>
            </a:extLst>
          </p:cNvPr>
          <p:cNvSpPr/>
          <p:nvPr/>
        </p:nvSpPr>
        <p:spPr>
          <a:xfrm>
            <a:off x="10063842" y="2242457"/>
            <a:ext cx="375558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8669705-8F25-156F-E9C1-E68871A89412}"/>
              </a:ext>
            </a:extLst>
          </p:cNvPr>
          <p:cNvSpPr/>
          <p:nvPr/>
        </p:nvSpPr>
        <p:spPr>
          <a:xfrm>
            <a:off x="10444842" y="1850572"/>
            <a:ext cx="381000" cy="139337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9770A4-6C96-5F7C-D9BB-965C00FC8200}"/>
              </a:ext>
            </a:extLst>
          </p:cNvPr>
          <p:cNvSpPr/>
          <p:nvPr/>
        </p:nvSpPr>
        <p:spPr>
          <a:xfrm>
            <a:off x="10825842" y="2645232"/>
            <a:ext cx="381000" cy="59870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72EB88-A30C-5F52-642E-13C09F66C8E1}"/>
              </a:ext>
            </a:extLst>
          </p:cNvPr>
          <p:cNvSpPr/>
          <p:nvPr/>
        </p:nvSpPr>
        <p:spPr>
          <a:xfrm>
            <a:off x="11206842" y="2242457"/>
            <a:ext cx="381000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1ACD1F-3CB7-6232-7CC8-5F722E20389F}"/>
              </a:ext>
            </a:extLst>
          </p:cNvPr>
          <p:cNvSpPr txBox="1"/>
          <p:nvPr/>
        </p:nvSpPr>
        <p:spPr>
          <a:xfrm>
            <a:off x="7772399" y="3331029"/>
            <a:ext cx="40712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1     2     3     4    5     6    7     8     9    10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D73F13D-47AE-0BCA-71C3-0BCB76C13B4D}"/>
              </a:ext>
            </a:extLst>
          </p:cNvPr>
          <p:cNvSpPr/>
          <p:nvPr/>
        </p:nvSpPr>
        <p:spPr>
          <a:xfrm>
            <a:off x="8153400" y="1850572"/>
            <a:ext cx="1524000" cy="1393369"/>
          </a:xfrm>
          <a:prstGeom prst="rect">
            <a:avLst/>
          </a:prstGeom>
          <a:noFill/>
          <a:ln w="635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" name="Title 4">
            <a:extLst>
              <a:ext uri="{FF2B5EF4-FFF2-40B4-BE49-F238E27FC236}">
                <a16:creationId xmlns:a16="http://schemas.microsoft.com/office/drawing/2014/main" id="{33C26CAE-6DAC-905D-73EF-BB8D3A39454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Method</a:t>
            </a:r>
            <a:endParaRPr lang="vi-VN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5913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0">
          <a:extLst>
            <a:ext uri="{FF2B5EF4-FFF2-40B4-BE49-F238E27FC236}">
              <a16:creationId xmlns:a16="http://schemas.microsoft.com/office/drawing/2014/main" id="{311F325E-BF02-E48F-9564-094824053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C607C60-09A8-38C4-8132-065ABB3F6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4C5E70-632A-84B7-575D-04E2A0A68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4">
                <a:extLst>
                  <a:ext uri="{FF2B5EF4-FFF2-40B4-BE49-F238E27FC236}">
                    <a16:creationId xmlns:a16="http://schemas.microsoft.com/office/drawing/2014/main" id="{E4078731-E963-7B93-A390-09BC9440845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388533"/>
                <a:ext cx="6483751" cy="209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 fontScale="92500" lnSpcReduction="10000"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114300" marR="0" lvl="0" indent="0" algn="l" rtl="0" eaLnBrk="1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  <a:defRPr sz="2400" b="0" i="0" u="none" strike="noStrike" cap="none">
                    <a:solidFill>
                      <a:schemeClr val="dk1"/>
                    </a:solidFill>
                    <a:latin typeface="+mj-lt"/>
                    <a:ea typeface="Calibri"/>
                    <a:cs typeface="Calibri"/>
                    <a:sym typeface="Calibri"/>
                  </a:defRPr>
                </a:lvl1pPr>
                <a:lvl2pPr marL="914400" marR="0" lvl="1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4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marL="1371600" marR="0" lvl="2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marL="1828800" marR="0" lvl="3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marL="2286000" marR="0" lvl="4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marL="2743200" marR="0" lvl="5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marL="342900" indent="-342900" algn="just">
                  <a:spcBef>
                    <a:spcPts val="0"/>
                  </a:spcBef>
                  <a:buFont typeface="Wingdings" panose="05000000000000000000" pitchFamily="2" charset="2"/>
                  <a:buChar char="Ø"/>
                </a:pPr>
                <a:r>
                  <a:rPr lang="en-US" dirty="0">
                    <a:solidFill>
                      <a:schemeClr val="tx1"/>
                    </a:solidFill>
                    <a:latin typeface="Lato" panose="020F0502020204030203" pitchFamily="34" charset="0"/>
                    <a:ea typeface="Arial"/>
                    <a:cs typeface="Arial"/>
                    <a:sym typeface="Arial"/>
                  </a:rPr>
                  <a:t>Solving histogram problem</a:t>
                </a: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Lato" panose="020F0502020204030203" pitchFamily="34" charset="0"/>
                    <a:sym typeface="Consolas"/>
                  </a:rPr>
                  <a:t>Compute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𝑅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]</m:t>
                    </m:r>
                  </m:oMath>
                </a14:m>
                <a:r>
                  <a:rPr lang="en-US" dirty="0">
                    <a:latin typeface="Lato" panose="020F0502020204030203" pitchFamily="34" charset="0"/>
                    <a:sym typeface="Consolas"/>
                  </a:rPr>
                  <a:t>: </a:t>
                </a:r>
              </a:p>
              <a:p>
                <a:pPr lvl="1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Lato" panose="020F0502020204030203" pitchFamily="34" charset="0"/>
                    <a:sym typeface="Consolas"/>
                  </a:rPr>
                  <a:t>For each column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</m:oMath>
                </a14:m>
                <a:r>
                  <a:rPr lang="en-US" dirty="0">
                    <a:latin typeface="Lato" panose="020F0502020204030203" pitchFamily="34" charset="0"/>
                    <a:sym typeface="Consolas"/>
                  </a:rPr>
                  <a:t>:</a:t>
                </a:r>
              </a:p>
              <a:p>
                <a:pPr marL="1143000" lvl="1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Lato" panose="020F0502020204030203" pitchFamily="34" charset="0"/>
                    <a:sym typeface="Consolas"/>
                  </a:rPr>
                  <a:t>while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] &lt; 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.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𝑡𝑜𝑝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] </m:t>
                    </m:r>
                  </m:oMath>
                </a14:m>
                <a:r>
                  <a:rPr lang="en-US" dirty="0">
                    <a:latin typeface="Lato" panose="020F0502020204030203" pitchFamily="34" charset="0"/>
                    <a:sym typeface="Consolas"/>
                  </a:rPr>
                  <a:t>do</a:t>
                </a:r>
              </a:p>
              <a:p>
                <a:pPr marL="1554480" lvl="2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pop an index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</m:oMath>
                </a14:m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 out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 (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 = 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.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𝑡𝑜𝑝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)</m:t>
                    </m:r>
                  </m:oMath>
                </a14:m>
                <a:endParaRPr lang="en-US" sz="2400" dirty="0">
                  <a:latin typeface="Lato" panose="020F0502020204030203" pitchFamily="34" charset="0"/>
                  <a:sym typeface="Consolas"/>
                </a:endParaRPr>
              </a:p>
              <a:p>
                <a:pPr marL="1600200" lvl="2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assign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𝑅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] =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 </m:t>
                    </m:r>
                  </m:oMath>
                </a14:m>
                <a:endParaRPr lang="en-US" sz="2400" dirty="0">
                  <a:latin typeface="Lato" panose="020F0502020204030203" pitchFamily="34" charset="0"/>
                  <a:sym typeface="Consolas"/>
                </a:endParaRPr>
              </a:p>
              <a:p>
                <a:pPr marL="1143000" lvl="2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Push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</m:oMath>
                </a14:m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 into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</m:oMath>
                </a14:m>
                <a:endParaRPr lang="en-US" sz="2400" dirty="0">
                  <a:latin typeface="Lato" panose="020F0502020204030203" pitchFamily="34" charset="0"/>
                  <a:sym typeface="Consolas"/>
                </a:endParaRP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sz="2400" dirty="0">
                  <a:latin typeface="Lato" panose="020F0502020204030203" pitchFamily="34" charset="0"/>
                </a:endParaRP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chemeClr val="tx1"/>
                  </a:solidFill>
                  <a:latin typeface="Lato" panose="020F0502020204030203" pitchFamily="34" charset="0"/>
                  <a:ea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7" name="Text Placeholder 4">
                <a:extLst>
                  <a:ext uri="{FF2B5EF4-FFF2-40B4-BE49-F238E27FC236}">
                    <a16:creationId xmlns:a16="http://schemas.microsoft.com/office/drawing/2014/main" id="{E4078731-E963-7B93-A390-09BC944084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388533"/>
                <a:ext cx="6483751" cy="2090055"/>
              </a:xfrm>
              <a:prstGeom prst="rect">
                <a:avLst/>
              </a:prstGeom>
              <a:blipFill>
                <a:blip r:embed="rId3"/>
                <a:stretch>
                  <a:fillRect l="-783" t="-54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C2D69BD-2135-4050-D361-64A3F79F98DF}"/>
              </a:ext>
            </a:extLst>
          </p:cNvPr>
          <p:cNvCxnSpPr>
            <a:cxnSpLocks/>
          </p:cNvCxnSpPr>
          <p:nvPr/>
        </p:nvCxnSpPr>
        <p:spPr>
          <a:xfrm flipV="1">
            <a:off x="2147969" y="5678708"/>
            <a:ext cx="4593770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EE06476F-FF04-E4D9-2E35-7522D89C4FF9}"/>
              </a:ext>
            </a:extLst>
          </p:cNvPr>
          <p:cNvSpPr/>
          <p:nvPr/>
        </p:nvSpPr>
        <p:spPr>
          <a:xfrm>
            <a:off x="2496312" y="4677224"/>
            <a:ext cx="381000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FB9209-47DC-5AC8-5212-5FC354929060}"/>
              </a:ext>
            </a:extLst>
          </p:cNvPr>
          <p:cNvSpPr/>
          <p:nvPr/>
        </p:nvSpPr>
        <p:spPr>
          <a:xfrm>
            <a:off x="2877312" y="4285339"/>
            <a:ext cx="381000" cy="139337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7204A7-035F-661F-EF45-02939BE3A447}"/>
              </a:ext>
            </a:extLst>
          </p:cNvPr>
          <p:cNvSpPr/>
          <p:nvPr/>
        </p:nvSpPr>
        <p:spPr>
          <a:xfrm>
            <a:off x="3258312" y="3588653"/>
            <a:ext cx="381000" cy="209005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D7FF98-73F9-3AA9-D04D-A2C239541828}"/>
              </a:ext>
            </a:extLst>
          </p:cNvPr>
          <p:cNvSpPr/>
          <p:nvPr/>
        </p:nvSpPr>
        <p:spPr>
          <a:xfrm>
            <a:off x="3639312" y="4285339"/>
            <a:ext cx="381000" cy="139337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829226-30EE-668F-6DEB-0858732CCE4F}"/>
              </a:ext>
            </a:extLst>
          </p:cNvPr>
          <p:cNvSpPr/>
          <p:nvPr/>
        </p:nvSpPr>
        <p:spPr>
          <a:xfrm>
            <a:off x="4020312" y="3871690"/>
            <a:ext cx="381000" cy="18070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A53510D-31A3-579C-D4A5-A6DA5F6264B6}"/>
              </a:ext>
            </a:extLst>
          </p:cNvPr>
          <p:cNvSpPr/>
          <p:nvPr/>
        </p:nvSpPr>
        <p:spPr>
          <a:xfrm>
            <a:off x="4401312" y="5079999"/>
            <a:ext cx="386442" cy="59871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555677-1BC1-6992-D4E7-7D04019D3AA9}"/>
              </a:ext>
            </a:extLst>
          </p:cNvPr>
          <p:cNvSpPr/>
          <p:nvPr/>
        </p:nvSpPr>
        <p:spPr>
          <a:xfrm>
            <a:off x="4787754" y="4677224"/>
            <a:ext cx="375558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855EBF9-0A6E-FFAE-2653-199EBDB546B9}"/>
              </a:ext>
            </a:extLst>
          </p:cNvPr>
          <p:cNvSpPr/>
          <p:nvPr/>
        </p:nvSpPr>
        <p:spPr>
          <a:xfrm>
            <a:off x="5168754" y="4285339"/>
            <a:ext cx="381000" cy="139337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D839039-7928-3647-EFCB-C751944344EA}"/>
              </a:ext>
            </a:extLst>
          </p:cNvPr>
          <p:cNvSpPr/>
          <p:nvPr/>
        </p:nvSpPr>
        <p:spPr>
          <a:xfrm>
            <a:off x="5549754" y="5079999"/>
            <a:ext cx="381000" cy="59870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8D2CA01-20C1-5B34-54E8-502D591BA531}"/>
              </a:ext>
            </a:extLst>
          </p:cNvPr>
          <p:cNvSpPr/>
          <p:nvPr/>
        </p:nvSpPr>
        <p:spPr>
          <a:xfrm>
            <a:off x="5930754" y="4677224"/>
            <a:ext cx="381000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F8524D-E705-4ED7-E410-54DFB37E0D97}"/>
              </a:ext>
            </a:extLst>
          </p:cNvPr>
          <p:cNvSpPr txBox="1"/>
          <p:nvPr/>
        </p:nvSpPr>
        <p:spPr>
          <a:xfrm>
            <a:off x="2496311" y="5765796"/>
            <a:ext cx="40712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Lato" panose="020F0502020204030203" pitchFamily="34" charset="0"/>
              </a:rPr>
              <a:t>1     2     3     4    5     6    7     8     9    10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08B3B0F-940C-9682-A814-D00E033971D6}"/>
              </a:ext>
            </a:extLst>
          </p:cNvPr>
          <p:cNvSpPr/>
          <p:nvPr/>
        </p:nvSpPr>
        <p:spPr>
          <a:xfrm>
            <a:off x="7321951" y="2881596"/>
            <a:ext cx="1373993" cy="280748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054C515-31DD-4B3F-8AC5-F41E1C47ECBE}"/>
              </a:ext>
            </a:extLst>
          </p:cNvPr>
          <p:cNvCxnSpPr>
            <a:cxnSpLocks/>
          </p:cNvCxnSpPr>
          <p:nvPr/>
        </p:nvCxnSpPr>
        <p:spPr>
          <a:xfrm flipV="1">
            <a:off x="2639568" y="6104350"/>
            <a:ext cx="0" cy="339312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4">
            <a:extLst>
              <a:ext uri="{FF2B5EF4-FFF2-40B4-BE49-F238E27FC236}">
                <a16:creationId xmlns:a16="http://schemas.microsoft.com/office/drawing/2014/main" id="{F1687D40-BD8E-D27D-8162-E431CB55C1EC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Method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01201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0">
          <a:extLst>
            <a:ext uri="{FF2B5EF4-FFF2-40B4-BE49-F238E27FC236}">
              <a16:creationId xmlns:a16="http://schemas.microsoft.com/office/drawing/2014/main" id="{2AFE30EF-9E69-FF80-DFEF-FA42578EB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CA77033-EB62-BB80-E44C-D3622D427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7B4DD4-0133-EE56-3F92-3AB31283A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4">
                <a:extLst>
                  <a:ext uri="{FF2B5EF4-FFF2-40B4-BE49-F238E27FC236}">
                    <a16:creationId xmlns:a16="http://schemas.microsoft.com/office/drawing/2014/main" id="{B65CAD4F-85CE-4F42-CC6D-E72378CA15B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388533"/>
                <a:ext cx="6483751" cy="209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 fontScale="92500" lnSpcReduction="10000"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114300" marR="0" lvl="0" indent="0" algn="l" rtl="0" eaLnBrk="1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  <a:defRPr sz="2400" b="0" i="0" u="none" strike="noStrike" cap="none">
                    <a:solidFill>
                      <a:schemeClr val="dk1"/>
                    </a:solidFill>
                    <a:latin typeface="+mj-lt"/>
                    <a:ea typeface="Calibri"/>
                    <a:cs typeface="Calibri"/>
                    <a:sym typeface="Calibri"/>
                  </a:defRPr>
                </a:lvl1pPr>
                <a:lvl2pPr marL="914400" marR="0" lvl="1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4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marL="1371600" marR="0" lvl="2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marL="1828800" marR="0" lvl="3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marL="2286000" marR="0" lvl="4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marL="2743200" marR="0" lvl="5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marL="342900" indent="-342900" algn="just">
                  <a:spcBef>
                    <a:spcPts val="0"/>
                  </a:spcBef>
                  <a:buFont typeface="Wingdings" panose="05000000000000000000" pitchFamily="2" charset="2"/>
                  <a:buChar char="Ø"/>
                </a:pPr>
                <a:r>
                  <a:rPr lang="en-US" dirty="0">
                    <a:solidFill>
                      <a:schemeClr val="tx1"/>
                    </a:solidFill>
                    <a:latin typeface="Lato" panose="020F0502020204030203" pitchFamily="34" charset="0"/>
                    <a:ea typeface="Arial"/>
                    <a:cs typeface="Arial"/>
                    <a:sym typeface="Arial"/>
                  </a:rPr>
                  <a:t>Solving histogram problem</a:t>
                </a: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Lato" panose="020F0502020204030203" pitchFamily="34" charset="0"/>
                    <a:sym typeface="Consolas"/>
                  </a:rPr>
                  <a:t>Compute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𝑅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]</m:t>
                    </m:r>
                  </m:oMath>
                </a14:m>
                <a:r>
                  <a:rPr lang="en-US" dirty="0">
                    <a:latin typeface="Lato" panose="020F0502020204030203" pitchFamily="34" charset="0"/>
                    <a:sym typeface="Consolas"/>
                  </a:rPr>
                  <a:t>: </a:t>
                </a:r>
              </a:p>
              <a:p>
                <a:pPr lvl="1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Lato" panose="020F0502020204030203" pitchFamily="34" charset="0"/>
                    <a:sym typeface="Consolas"/>
                  </a:rPr>
                  <a:t>For each column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</m:oMath>
                </a14:m>
                <a:r>
                  <a:rPr lang="en-US" dirty="0">
                    <a:latin typeface="Lato" panose="020F0502020204030203" pitchFamily="34" charset="0"/>
                    <a:sym typeface="Consolas"/>
                  </a:rPr>
                  <a:t>:</a:t>
                </a:r>
              </a:p>
              <a:p>
                <a:pPr marL="1143000" lvl="1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Lato" panose="020F0502020204030203" pitchFamily="34" charset="0"/>
                    <a:sym typeface="Consolas"/>
                  </a:rPr>
                  <a:t>while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] &lt; 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.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𝑡𝑜𝑝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] </m:t>
                    </m:r>
                  </m:oMath>
                </a14:m>
                <a:r>
                  <a:rPr lang="en-US" dirty="0">
                    <a:latin typeface="Lato" panose="020F0502020204030203" pitchFamily="34" charset="0"/>
                    <a:sym typeface="Consolas"/>
                  </a:rPr>
                  <a:t>do</a:t>
                </a:r>
              </a:p>
              <a:p>
                <a:pPr marL="1554480" lvl="2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pop an index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</m:oMath>
                </a14:m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 out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 (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 = 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.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𝑡𝑜𝑝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)</m:t>
                    </m:r>
                  </m:oMath>
                </a14:m>
                <a:endParaRPr lang="en-US" sz="2400" dirty="0">
                  <a:latin typeface="Lato" panose="020F0502020204030203" pitchFamily="34" charset="0"/>
                  <a:sym typeface="Consolas"/>
                </a:endParaRPr>
              </a:p>
              <a:p>
                <a:pPr marL="1600200" lvl="2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assign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𝑅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] =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 </m:t>
                    </m:r>
                  </m:oMath>
                </a14:m>
                <a:endParaRPr lang="en-US" sz="2400" dirty="0">
                  <a:latin typeface="Lato" panose="020F0502020204030203" pitchFamily="34" charset="0"/>
                  <a:sym typeface="Consolas"/>
                </a:endParaRPr>
              </a:p>
              <a:p>
                <a:pPr marL="1143000" lvl="2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Push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</m:oMath>
                </a14:m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 into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</m:oMath>
                </a14:m>
                <a:endParaRPr lang="en-US" sz="2400" dirty="0">
                  <a:latin typeface="Lato" panose="020F0502020204030203" pitchFamily="34" charset="0"/>
                  <a:sym typeface="Consolas"/>
                </a:endParaRP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sz="2400" dirty="0">
                  <a:latin typeface="Lato" panose="020F0502020204030203" pitchFamily="34" charset="0"/>
                </a:endParaRP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chemeClr val="tx1"/>
                  </a:solidFill>
                  <a:latin typeface="Lato" panose="020F0502020204030203" pitchFamily="34" charset="0"/>
                  <a:ea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7" name="Text Placeholder 4">
                <a:extLst>
                  <a:ext uri="{FF2B5EF4-FFF2-40B4-BE49-F238E27FC236}">
                    <a16:creationId xmlns:a16="http://schemas.microsoft.com/office/drawing/2014/main" id="{B65CAD4F-85CE-4F42-CC6D-E72378CA15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388533"/>
                <a:ext cx="6483751" cy="2090055"/>
              </a:xfrm>
              <a:prstGeom prst="rect">
                <a:avLst/>
              </a:prstGeom>
              <a:blipFill>
                <a:blip r:embed="rId3"/>
                <a:stretch>
                  <a:fillRect l="-783" t="-54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7A1DFB0-5EEB-CA65-3598-68D5A0B631EA}"/>
              </a:ext>
            </a:extLst>
          </p:cNvPr>
          <p:cNvCxnSpPr>
            <a:cxnSpLocks/>
          </p:cNvCxnSpPr>
          <p:nvPr/>
        </p:nvCxnSpPr>
        <p:spPr>
          <a:xfrm flipV="1">
            <a:off x="2147969" y="5678708"/>
            <a:ext cx="4593770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7DDE7068-9290-B7DC-6A58-A13D97445141}"/>
              </a:ext>
            </a:extLst>
          </p:cNvPr>
          <p:cNvSpPr/>
          <p:nvPr/>
        </p:nvSpPr>
        <p:spPr>
          <a:xfrm>
            <a:off x="2496312" y="4677224"/>
            <a:ext cx="381000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E870DE-A4E7-7F42-2574-F7CF05B7AFB3}"/>
              </a:ext>
            </a:extLst>
          </p:cNvPr>
          <p:cNvSpPr/>
          <p:nvPr/>
        </p:nvSpPr>
        <p:spPr>
          <a:xfrm>
            <a:off x="2877312" y="4285339"/>
            <a:ext cx="381000" cy="139337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C6AEFF-E646-B804-EF41-B56FF39E3914}"/>
              </a:ext>
            </a:extLst>
          </p:cNvPr>
          <p:cNvSpPr/>
          <p:nvPr/>
        </p:nvSpPr>
        <p:spPr>
          <a:xfrm>
            <a:off x="3258312" y="3588653"/>
            <a:ext cx="381000" cy="209005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B8261B-4D78-3655-895D-63A18B374D74}"/>
              </a:ext>
            </a:extLst>
          </p:cNvPr>
          <p:cNvSpPr/>
          <p:nvPr/>
        </p:nvSpPr>
        <p:spPr>
          <a:xfrm>
            <a:off x="3639312" y="4285339"/>
            <a:ext cx="381000" cy="139337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C46450-B63A-1C88-C31C-56A4BF5076B3}"/>
              </a:ext>
            </a:extLst>
          </p:cNvPr>
          <p:cNvSpPr/>
          <p:nvPr/>
        </p:nvSpPr>
        <p:spPr>
          <a:xfrm>
            <a:off x="4020312" y="3871690"/>
            <a:ext cx="381000" cy="18070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A95CB7-F034-25EA-9F1D-6D18291EBDFC}"/>
              </a:ext>
            </a:extLst>
          </p:cNvPr>
          <p:cNvSpPr/>
          <p:nvPr/>
        </p:nvSpPr>
        <p:spPr>
          <a:xfrm>
            <a:off x="4401312" y="5079999"/>
            <a:ext cx="386442" cy="59871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3C8E53-A26B-F1BF-8F8A-2F72198D8C64}"/>
              </a:ext>
            </a:extLst>
          </p:cNvPr>
          <p:cNvSpPr/>
          <p:nvPr/>
        </p:nvSpPr>
        <p:spPr>
          <a:xfrm>
            <a:off x="4787754" y="4677224"/>
            <a:ext cx="375558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B6257B0-3D27-742F-572A-4C7B5CCE4F2C}"/>
              </a:ext>
            </a:extLst>
          </p:cNvPr>
          <p:cNvSpPr/>
          <p:nvPr/>
        </p:nvSpPr>
        <p:spPr>
          <a:xfrm>
            <a:off x="5168754" y="4285339"/>
            <a:ext cx="381000" cy="139337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390116-9A3C-84D7-42EC-945804FBDD0D}"/>
              </a:ext>
            </a:extLst>
          </p:cNvPr>
          <p:cNvSpPr/>
          <p:nvPr/>
        </p:nvSpPr>
        <p:spPr>
          <a:xfrm>
            <a:off x="5549754" y="5079999"/>
            <a:ext cx="381000" cy="59870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1FA39BA-007E-54D7-71F8-B7C128CAEA48}"/>
              </a:ext>
            </a:extLst>
          </p:cNvPr>
          <p:cNvSpPr/>
          <p:nvPr/>
        </p:nvSpPr>
        <p:spPr>
          <a:xfrm>
            <a:off x="5930754" y="4677224"/>
            <a:ext cx="381000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E62584-AF15-2A02-1D0E-D53AD9CB95A9}"/>
              </a:ext>
            </a:extLst>
          </p:cNvPr>
          <p:cNvSpPr txBox="1"/>
          <p:nvPr/>
        </p:nvSpPr>
        <p:spPr>
          <a:xfrm>
            <a:off x="2496311" y="5765796"/>
            <a:ext cx="40712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Lato" panose="020F0502020204030203" pitchFamily="34" charset="0"/>
              </a:rPr>
              <a:t>1     2     3     4    5     6    7     8     9    10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F8878CA-5841-FEEC-3CC2-156878AAB2D5}"/>
              </a:ext>
            </a:extLst>
          </p:cNvPr>
          <p:cNvSpPr/>
          <p:nvPr/>
        </p:nvSpPr>
        <p:spPr>
          <a:xfrm>
            <a:off x="7321951" y="2881596"/>
            <a:ext cx="1373993" cy="280748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625349A-20B5-0D0C-30D5-A20EDB14CCDB}"/>
              </a:ext>
            </a:extLst>
          </p:cNvPr>
          <p:cNvCxnSpPr>
            <a:cxnSpLocks/>
          </p:cNvCxnSpPr>
          <p:nvPr/>
        </p:nvCxnSpPr>
        <p:spPr>
          <a:xfrm flipV="1">
            <a:off x="2639568" y="6104350"/>
            <a:ext cx="0" cy="339312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5FC25104-32EE-88AF-8D41-37D61043F8BC}"/>
              </a:ext>
            </a:extLst>
          </p:cNvPr>
          <p:cNvSpPr/>
          <p:nvPr/>
        </p:nvSpPr>
        <p:spPr>
          <a:xfrm>
            <a:off x="7493507" y="5076802"/>
            <a:ext cx="1030879" cy="46039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Lato" panose="020F0502020204030203" pitchFamily="34" charset="0"/>
              </a:rPr>
              <a:t>1</a:t>
            </a:r>
            <a:endParaRPr lang="vi-VN" sz="2400" b="1" dirty="0">
              <a:solidFill>
                <a:srgbClr val="C00000"/>
              </a:solidFill>
            </a:endParaRPr>
          </a:p>
        </p:txBody>
      </p:sp>
      <p:sp>
        <p:nvSpPr>
          <p:cNvPr id="14" name="Title 4">
            <a:extLst>
              <a:ext uri="{FF2B5EF4-FFF2-40B4-BE49-F238E27FC236}">
                <a16:creationId xmlns:a16="http://schemas.microsoft.com/office/drawing/2014/main" id="{7277E353-5F4D-BB82-0915-96EF1ABF37DD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Method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145749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0">
          <a:extLst>
            <a:ext uri="{FF2B5EF4-FFF2-40B4-BE49-F238E27FC236}">
              <a16:creationId xmlns:a16="http://schemas.microsoft.com/office/drawing/2014/main" id="{ADFD27AE-ED20-BA14-CD3B-1885D6388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87C5B47-34C9-47E4-7E47-7B4215517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16232-F6D4-0F1C-600E-AAB18E51F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4">
                <a:extLst>
                  <a:ext uri="{FF2B5EF4-FFF2-40B4-BE49-F238E27FC236}">
                    <a16:creationId xmlns:a16="http://schemas.microsoft.com/office/drawing/2014/main" id="{BD3337D4-6713-5E0D-C5D5-0043F84F2ED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388533"/>
                <a:ext cx="6483751" cy="209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 fontScale="92500" lnSpcReduction="10000"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114300" marR="0" lvl="0" indent="0" algn="l" rtl="0" eaLnBrk="1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  <a:defRPr sz="2400" b="0" i="0" u="none" strike="noStrike" cap="none">
                    <a:solidFill>
                      <a:schemeClr val="dk1"/>
                    </a:solidFill>
                    <a:latin typeface="+mj-lt"/>
                    <a:ea typeface="Calibri"/>
                    <a:cs typeface="Calibri"/>
                    <a:sym typeface="Calibri"/>
                  </a:defRPr>
                </a:lvl1pPr>
                <a:lvl2pPr marL="914400" marR="0" lvl="1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4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marL="1371600" marR="0" lvl="2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marL="1828800" marR="0" lvl="3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marL="2286000" marR="0" lvl="4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marL="2743200" marR="0" lvl="5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marL="342900" indent="-342900" algn="just">
                  <a:spcBef>
                    <a:spcPts val="0"/>
                  </a:spcBef>
                  <a:buFont typeface="Wingdings" panose="05000000000000000000" pitchFamily="2" charset="2"/>
                  <a:buChar char="Ø"/>
                </a:pPr>
                <a:r>
                  <a:rPr lang="en-US" dirty="0">
                    <a:solidFill>
                      <a:schemeClr val="tx1"/>
                    </a:solidFill>
                    <a:latin typeface="Lato" panose="020F0502020204030203" pitchFamily="34" charset="0"/>
                    <a:ea typeface="Arial"/>
                    <a:cs typeface="Arial"/>
                    <a:sym typeface="Arial"/>
                  </a:rPr>
                  <a:t>Solving histogram problem</a:t>
                </a: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Lato" panose="020F0502020204030203" pitchFamily="34" charset="0"/>
                    <a:sym typeface="Consolas"/>
                  </a:rPr>
                  <a:t>Compute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𝑅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]</m:t>
                    </m:r>
                  </m:oMath>
                </a14:m>
                <a:r>
                  <a:rPr lang="en-US" dirty="0">
                    <a:latin typeface="Lato" panose="020F0502020204030203" pitchFamily="34" charset="0"/>
                    <a:sym typeface="Consolas"/>
                  </a:rPr>
                  <a:t>: </a:t>
                </a:r>
              </a:p>
              <a:p>
                <a:pPr lvl="1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Lato" panose="020F0502020204030203" pitchFamily="34" charset="0"/>
                    <a:sym typeface="Consolas"/>
                  </a:rPr>
                  <a:t>For each column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</m:oMath>
                </a14:m>
                <a:r>
                  <a:rPr lang="en-US" dirty="0">
                    <a:latin typeface="Lato" panose="020F0502020204030203" pitchFamily="34" charset="0"/>
                    <a:sym typeface="Consolas"/>
                  </a:rPr>
                  <a:t>:</a:t>
                </a:r>
              </a:p>
              <a:p>
                <a:pPr marL="1143000" lvl="1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Lato" panose="020F0502020204030203" pitchFamily="34" charset="0"/>
                    <a:sym typeface="Consolas"/>
                  </a:rPr>
                  <a:t>while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] &lt; 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.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𝑡𝑜𝑝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] </m:t>
                    </m:r>
                  </m:oMath>
                </a14:m>
                <a:r>
                  <a:rPr lang="en-US" dirty="0">
                    <a:latin typeface="Lato" panose="020F0502020204030203" pitchFamily="34" charset="0"/>
                    <a:sym typeface="Consolas"/>
                  </a:rPr>
                  <a:t>do</a:t>
                </a:r>
              </a:p>
              <a:p>
                <a:pPr marL="1554480" lvl="2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pop an index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</m:oMath>
                </a14:m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 out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 (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 = 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.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𝑡𝑜𝑝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)</m:t>
                    </m:r>
                  </m:oMath>
                </a14:m>
                <a:endParaRPr lang="en-US" sz="2400" dirty="0">
                  <a:latin typeface="Lato" panose="020F0502020204030203" pitchFamily="34" charset="0"/>
                  <a:sym typeface="Consolas"/>
                </a:endParaRPr>
              </a:p>
              <a:p>
                <a:pPr marL="1600200" lvl="2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assign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𝑅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] =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 </m:t>
                    </m:r>
                  </m:oMath>
                </a14:m>
                <a:endParaRPr lang="en-US" sz="2400" dirty="0">
                  <a:latin typeface="Lato" panose="020F0502020204030203" pitchFamily="34" charset="0"/>
                  <a:sym typeface="Consolas"/>
                </a:endParaRPr>
              </a:p>
              <a:p>
                <a:pPr marL="1143000" lvl="2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Push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</m:oMath>
                </a14:m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 into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</m:oMath>
                </a14:m>
                <a:endParaRPr lang="en-US" sz="2400" dirty="0">
                  <a:latin typeface="Lato" panose="020F0502020204030203" pitchFamily="34" charset="0"/>
                  <a:sym typeface="Consolas"/>
                </a:endParaRP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sz="2400" dirty="0">
                  <a:latin typeface="Lato" panose="020F0502020204030203" pitchFamily="34" charset="0"/>
                </a:endParaRP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chemeClr val="tx1"/>
                  </a:solidFill>
                  <a:latin typeface="Lato" panose="020F0502020204030203" pitchFamily="34" charset="0"/>
                  <a:ea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7" name="Text Placeholder 4">
                <a:extLst>
                  <a:ext uri="{FF2B5EF4-FFF2-40B4-BE49-F238E27FC236}">
                    <a16:creationId xmlns:a16="http://schemas.microsoft.com/office/drawing/2014/main" id="{BD3337D4-6713-5E0D-C5D5-0043F84F2E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388533"/>
                <a:ext cx="6483751" cy="2090055"/>
              </a:xfrm>
              <a:prstGeom prst="rect">
                <a:avLst/>
              </a:prstGeom>
              <a:blipFill>
                <a:blip r:embed="rId3"/>
                <a:stretch>
                  <a:fillRect l="-783" t="-54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28CE0D9-3F4B-6DDC-A70B-7648683966FA}"/>
              </a:ext>
            </a:extLst>
          </p:cNvPr>
          <p:cNvCxnSpPr>
            <a:cxnSpLocks/>
          </p:cNvCxnSpPr>
          <p:nvPr/>
        </p:nvCxnSpPr>
        <p:spPr>
          <a:xfrm flipV="1">
            <a:off x="2147969" y="5678708"/>
            <a:ext cx="4593770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F87F1D15-9214-C68D-3E05-6BACECF628BF}"/>
              </a:ext>
            </a:extLst>
          </p:cNvPr>
          <p:cNvSpPr/>
          <p:nvPr/>
        </p:nvSpPr>
        <p:spPr>
          <a:xfrm>
            <a:off x="2496312" y="4677224"/>
            <a:ext cx="381000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FDDBF8-6E14-B337-7D90-D866891EE7CA}"/>
              </a:ext>
            </a:extLst>
          </p:cNvPr>
          <p:cNvSpPr/>
          <p:nvPr/>
        </p:nvSpPr>
        <p:spPr>
          <a:xfrm>
            <a:off x="2877312" y="4285339"/>
            <a:ext cx="381000" cy="139337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90BE24-B11D-E8A8-EF07-43D7B3838CE6}"/>
              </a:ext>
            </a:extLst>
          </p:cNvPr>
          <p:cNvSpPr/>
          <p:nvPr/>
        </p:nvSpPr>
        <p:spPr>
          <a:xfrm>
            <a:off x="3258312" y="4892044"/>
            <a:ext cx="381000" cy="78666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005ABD-5726-4DA4-B961-154420EEE9CB}"/>
              </a:ext>
            </a:extLst>
          </p:cNvPr>
          <p:cNvSpPr/>
          <p:nvPr/>
        </p:nvSpPr>
        <p:spPr>
          <a:xfrm>
            <a:off x="3639312" y="4462272"/>
            <a:ext cx="381000" cy="121643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03CB53-0F70-65A7-48E3-C7B9456FF621}"/>
              </a:ext>
            </a:extLst>
          </p:cNvPr>
          <p:cNvSpPr/>
          <p:nvPr/>
        </p:nvSpPr>
        <p:spPr>
          <a:xfrm>
            <a:off x="4020312" y="3871690"/>
            <a:ext cx="381000" cy="18070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41B909-F416-5DA9-C81F-41D789B5CAB7}"/>
              </a:ext>
            </a:extLst>
          </p:cNvPr>
          <p:cNvSpPr/>
          <p:nvPr/>
        </p:nvSpPr>
        <p:spPr>
          <a:xfrm>
            <a:off x="4401312" y="5079999"/>
            <a:ext cx="386442" cy="59871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657556D-0583-09AE-0B4D-8C3F64313C20}"/>
              </a:ext>
            </a:extLst>
          </p:cNvPr>
          <p:cNvSpPr/>
          <p:nvPr/>
        </p:nvSpPr>
        <p:spPr>
          <a:xfrm>
            <a:off x="4787754" y="4677224"/>
            <a:ext cx="375558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F9015F8-889A-F126-5EC5-582ADD7369A2}"/>
              </a:ext>
            </a:extLst>
          </p:cNvPr>
          <p:cNvSpPr/>
          <p:nvPr/>
        </p:nvSpPr>
        <p:spPr>
          <a:xfrm>
            <a:off x="5168754" y="4285339"/>
            <a:ext cx="381000" cy="139337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B8D716-851C-F66A-FFAB-9EAA57A8FB34}"/>
              </a:ext>
            </a:extLst>
          </p:cNvPr>
          <p:cNvSpPr/>
          <p:nvPr/>
        </p:nvSpPr>
        <p:spPr>
          <a:xfrm>
            <a:off x="5549754" y="5079999"/>
            <a:ext cx="381000" cy="59870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2FEDAA-48F0-6D54-C678-BD1D79559049}"/>
              </a:ext>
            </a:extLst>
          </p:cNvPr>
          <p:cNvSpPr/>
          <p:nvPr/>
        </p:nvSpPr>
        <p:spPr>
          <a:xfrm>
            <a:off x="5930754" y="4677224"/>
            <a:ext cx="381000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06EE73C-8329-8D00-A857-B2D3E12C3839}"/>
              </a:ext>
            </a:extLst>
          </p:cNvPr>
          <p:cNvSpPr txBox="1"/>
          <p:nvPr/>
        </p:nvSpPr>
        <p:spPr>
          <a:xfrm>
            <a:off x="2496311" y="5765796"/>
            <a:ext cx="40712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Lato" panose="020F0502020204030203" pitchFamily="34" charset="0"/>
              </a:rPr>
              <a:t>1     2     3     4    5     6    7     8     9    10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6470490-B86A-98C8-6968-958219D8A3D8}"/>
              </a:ext>
            </a:extLst>
          </p:cNvPr>
          <p:cNvSpPr/>
          <p:nvPr/>
        </p:nvSpPr>
        <p:spPr>
          <a:xfrm>
            <a:off x="7321951" y="2881596"/>
            <a:ext cx="1373993" cy="280748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7AE21DA-6B49-CAA7-8036-7AB259981FDB}"/>
              </a:ext>
            </a:extLst>
          </p:cNvPr>
          <p:cNvCxnSpPr>
            <a:cxnSpLocks/>
          </p:cNvCxnSpPr>
          <p:nvPr/>
        </p:nvCxnSpPr>
        <p:spPr>
          <a:xfrm flipV="1">
            <a:off x="3041904" y="6104350"/>
            <a:ext cx="0" cy="339312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570DFA39-7DE0-DCC8-5EB2-B47478137A8B}"/>
              </a:ext>
            </a:extLst>
          </p:cNvPr>
          <p:cNvSpPr/>
          <p:nvPr/>
        </p:nvSpPr>
        <p:spPr>
          <a:xfrm>
            <a:off x="7493507" y="5076802"/>
            <a:ext cx="1030879" cy="46039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Lato" panose="020F0502020204030203" pitchFamily="34" charset="0"/>
              </a:rPr>
              <a:t>1</a:t>
            </a:r>
            <a:endParaRPr lang="vi-VN" sz="2400" b="1" dirty="0">
              <a:solidFill>
                <a:srgbClr val="C00000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684F154-52F0-49D1-92CB-AF6143ECA6BA}"/>
              </a:ext>
            </a:extLst>
          </p:cNvPr>
          <p:cNvSpPr/>
          <p:nvPr/>
        </p:nvSpPr>
        <p:spPr>
          <a:xfrm>
            <a:off x="7493506" y="4563289"/>
            <a:ext cx="1030879" cy="46039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Lato" panose="020F0502020204030203" pitchFamily="34" charset="0"/>
              </a:rPr>
              <a:t>2</a:t>
            </a:r>
            <a:endParaRPr lang="vi-VN" sz="2400" b="1" dirty="0">
              <a:solidFill>
                <a:srgbClr val="C00000"/>
              </a:solidFill>
            </a:endParaRPr>
          </a:p>
        </p:txBody>
      </p:sp>
      <p:sp>
        <p:nvSpPr>
          <p:cNvPr id="14" name="Title 4">
            <a:extLst>
              <a:ext uri="{FF2B5EF4-FFF2-40B4-BE49-F238E27FC236}">
                <a16:creationId xmlns:a16="http://schemas.microsoft.com/office/drawing/2014/main" id="{7C294F2D-B8C0-25A3-EA12-19F025AB018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Method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3171507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0">
          <a:extLst>
            <a:ext uri="{FF2B5EF4-FFF2-40B4-BE49-F238E27FC236}">
              <a16:creationId xmlns:a16="http://schemas.microsoft.com/office/drawing/2014/main" id="{BB3B9DC5-9601-577B-9191-4CD7CD09D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69DA016-EEDB-71F5-5325-6C83A14BF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3A5EC4-5172-616F-3F6C-5FC7046D7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4">
                <a:extLst>
                  <a:ext uri="{FF2B5EF4-FFF2-40B4-BE49-F238E27FC236}">
                    <a16:creationId xmlns:a16="http://schemas.microsoft.com/office/drawing/2014/main" id="{53C54DD2-8E6C-AA1B-59AD-31CA31BFD45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388533"/>
                <a:ext cx="6483751" cy="209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 fontScale="92500" lnSpcReduction="10000"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114300" marR="0" lvl="0" indent="0" algn="l" rtl="0" eaLnBrk="1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  <a:defRPr sz="2400" b="0" i="0" u="none" strike="noStrike" cap="none">
                    <a:solidFill>
                      <a:schemeClr val="dk1"/>
                    </a:solidFill>
                    <a:latin typeface="+mj-lt"/>
                    <a:ea typeface="Calibri"/>
                    <a:cs typeface="Calibri"/>
                    <a:sym typeface="Calibri"/>
                  </a:defRPr>
                </a:lvl1pPr>
                <a:lvl2pPr marL="914400" marR="0" lvl="1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4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marL="1371600" marR="0" lvl="2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marL="1828800" marR="0" lvl="3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marL="2286000" marR="0" lvl="4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marL="2743200" marR="0" lvl="5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marL="342900" indent="-342900" algn="just">
                  <a:spcBef>
                    <a:spcPts val="0"/>
                  </a:spcBef>
                  <a:buFont typeface="Wingdings" panose="05000000000000000000" pitchFamily="2" charset="2"/>
                  <a:buChar char="Ø"/>
                </a:pPr>
                <a:r>
                  <a:rPr lang="en-US" dirty="0">
                    <a:solidFill>
                      <a:schemeClr val="tx1"/>
                    </a:solidFill>
                    <a:latin typeface="Lato" panose="020F0502020204030203" pitchFamily="34" charset="0"/>
                    <a:ea typeface="Arial"/>
                    <a:cs typeface="Arial"/>
                    <a:sym typeface="Arial"/>
                  </a:rPr>
                  <a:t>Solving histogram problem</a:t>
                </a: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Lato" panose="020F0502020204030203" pitchFamily="34" charset="0"/>
                    <a:sym typeface="Consolas"/>
                  </a:rPr>
                  <a:t>Compute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𝑅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]</m:t>
                    </m:r>
                  </m:oMath>
                </a14:m>
                <a:r>
                  <a:rPr lang="en-US" dirty="0">
                    <a:latin typeface="Lato" panose="020F0502020204030203" pitchFamily="34" charset="0"/>
                    <a:sym typeface="Consolas"/>
                  </a:rPr>
                  <a:t>: </a:t>
                </a:r>
              </a:p>
              <a:p>
                <a:pPr lvl="1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Lato" panose="020F0502020204030203" pitchFamily="34" charset="0"/>
                    <a:sym typeface="Consolas"/>
                  </a:rPr>
                  <a:t>For each column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</m:oMath>
                </a14:m>
                <a:r>
                  <a:rPr lang="en-US" dirty="0">
                    <a:latin typeface="Lato" panose="020F0502020204030203" pitchFamily="34" charset="0"/>
                    <a:sym typeface="Consolas"/>
                  </a:rPr>
                  <a:t>:</a:t>
                </a:r>
              </a:p>
              <a:p>
                <a:pPr marL="1143000" lvl="1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Lato" panose="020F0502020204030203" pitchFamily="34" charset="0"/>
                    <a:sym typeface="Consolas"/>
                  </a:rPr>
                  <a:t>while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] &lt; 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.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𝑡𝑜𝑝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] </m:t>
                    </m:r>
                  </m:oMath>
                </a14:m>
                <a:r>
                  <a:rPr lang="en-US" dirty="0">
                    <a:latin typeface="Lato" panose="020F0502020204030203" pitchFamily="34" charset="0"/>
                    <a:sym typeface="Consolas"/>
                  </a:rPr>
                  <a:t>do</a:t>
                </a:r>
              </a:p>
              <a:p>
                <a:pPr marL="1554480" lvl="2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pop an index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</m:oMath>
                </a14:m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 out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 (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 = 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.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𝑡𝑜𝑝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)</m:t>
                    </m:r>
                  </m:oMath>
                </a14:m>
                <a:endParaRPr lang="en-US" sz="2400" dirty="0">
                  <a:latin typeface="Lato" panose="020F0502020204030203" pitchFamily="34" charset="0"/>
                  <a:sym typeface="Consolas"/>
                </a:endParaRPr>
              </a:p>
              <a:p>
                <a:pPr marL="1600200" lvl="2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assign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𝑅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] =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 </m:t>
                    </m:r>
                  </m:oMath>
                </a14:m>
                <a:endParaRPr lang="en-US" sz="2400" dirty="0">
                  <a:latin typeface="Lato" panose="020F0502020204030203" pitchFamily="34" charset="0"/>
                  <a:sym typeface="Consolas"/>
                </a:endParaRPr>
              </a:p>
              <a:p>
                <a:pPr marL="1143000" lvl="2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Push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</m:oMath>
                </a14:m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 into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</m:oMath>
                </a14:m>
                <a:endParaRPr lang="en-US" sz="2400" dirty="0">
                  <a:latin typeface="Lato" panose="020F0502020204030203" pitchFamily="34" charset="0"/>
                  <a:sym typeface="Consolas"/>
                </a:endParaRP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sz="2400" dirty="0">
                  <a:latin typeface="Lato" panose="020F0502020204030203" pitchFamily="34" charset="0"/>
                </a:endParaRP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chemeClr val="tx1"/>
                  </a:solidFill>
                  <a:latin typeface="Lato" panose="020F0502020204030203" pitchFamily="34" charset="0"/>
                  <a:ea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7" name="Text Placeholder 4">
                <a:extLst>
                  <a:ext uri="{FF2B5EF4-FFF2-40B4-BE49-F238E27FC236}">
                    <a16:creationId xmlns:a16="http://schemas.microsoft.com/office/drawing/2014/main" id="{53C54DD2-8E6C-AA1B-59AD-31CA31BFD4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388533"/>
                <a:ext cx="6483751" cy="2090055"/>
              </a:xfrm>
              <a:prstGeom prst="rect">
                <a:avLst/>
              </a:prstGeom>
              <a:blipFill>
                <a:blip r:embed="rId3"/>
                <a:stretch>
                  <a:fillRect l="-783" t="-54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E36070B-8357-AD24-77E8-04591A6E0168}"/>
              </a:ext>
            </a:extLst>
          </p:cNvPr>
          <p:cNvCxnSpPr>
            <a:cxnSpLocks/>
          </p:cNvCxnSpPr>
          <p:nvPr/>
        </p:nvCxnSpPr>
        <p:spPr>
          <a:xfrm flipV="1">
            <a:off x="2147969" y="5678708"/>
            <a:ext cx="4593770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70C4AA87-06C2-87EB-E752-60013EF69103}"/>
              </a:ext>
            </a:extLst>
          </p:cNvPr>
          <p:cNvSpPr/>
          <p:nvPr/>
        </p:nvSpPr>
        <p:spPr>
          <a:xfrm>
            <a:off x="2496312" y="4677224"/>
            <a:ext cx="381000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0B0D22-5FA6-C7A4-68F8-26F8F4C5D269}"/>
              </a:ext>
            </a:extLst>
          </p:cNvPr>
          <p:cNvSpPr/>
          <p:nvPr/>
        </p:nvSpPr>
        <p:spPr>
          <a:xfrm>
            <a:off x="2877312" y="4285339"/>
            <a:ext cx="381000" cy="139337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119A0B-0351-289B-33A1-4C4BF08DD8BD}"/>
              </a:ext>
            </a:extLst>
          </p:cNvPr>
          <p:cNvSpPr/>
          <p:nvPr/>
        </p:nvSpPr>
        <p:spPr>
          <a:xfrm>
            <a:off x="3258312" y="4892044"/>
            <a:ext cx="381000" cy="78666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4D6093-E8AD-9872-177C-5F81552DDB0F}"/>
              </a:ext>
            </a:extLst>
          </p:cNvPr>
          <p:cNvSpPr/>
          <p:nvPr/>
        </p:nvSpPr>
        <p:spPr>
          <a:xfrm>
            <a:off x="3639312" y="4462272"/>
            <a:ext cx="381000" cy="121643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9AF70E-F39F-B8CA-F074-F75F19BF1019}"/>
              </a:ext>
            </a:extLst>
          </p:cNvPr>
          <p:cNvSpPr/>
          <p:nvPr/>
        </p:nvSpPr>
        <p:spPr>
          <a:xfrm>
            <a:off x="4020312" y="3871690"/>
            <a:ext cx="381000" cy="18070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3F718A0-9580-257D-217B-A4A9962BF862}"/>
              </a:ext>
            </a:extLst>
          </p:cNvPr>
          <p:cNvSpPr/>
          <p:nvPr/>
        </p:nvSpPr>
        <p:spPr>
          <a:xfrm>
            <a:off x="4401312" y="5079999"/>
            <a:ext cx="386442" cy="59871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9A12F5-6909-8037-E617-F02349E4583D}"/>
              </a:ext>
            </a:extLst>
          </p:cNvPr>
          <p:cNvSpPr/>
          <p:nvPr/>
        </p:nvSpPr>
        <p:spPr>
          <a:xfrm>
            <a:off x="4787754" y="4677224"/>
            <a:ext cx="375558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2A5A2B-E1BA-8426-A0EA-A1D1017CE2E0}"/>
              </a:ext>
            </a:extLst>
          </p:cNvPr>
          <p:cNvSpPr/>
          <p:nvPr/>
        </p:nvSpPr>
        <p:spPr>
          <a:xfrm>
            <a:off x="5168754" y="4285339"/>
            <a:ext cx="381000" cy="139337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5C1DDF9-8FA8-ECD7-07D7-A0EA2DEA01C5}"/>
              </a:ext>
            </a:extLst>
          </p:cNvPr>
          <p:cNvSpPr/>
          <p:nvPr/>
        </p:nvSpPr>
        <p:spPr>
          <a:xfrm>
            <a:off x="5549754" y="5079999"/>
            <a:ext cx="381000" cy="59870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7AAC520-E5EE-555D-C329-D442AEEA55E6}"/>
              </a:ext>
            </a:extLst>
          </p:cNvPr>
          <p:cNvSpPr/>
          <p:nvPr/>
        </p:nvSpPr>
        <p:spPr>
          <a:xfrm>
            <a:off x="5930754" y="4677224"/>
            <a:ext cx="381000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404F8FF-0906-964A-6A0B-74CE9D5A1B30}"/>
              </a:ext>
            </a:extLst>
          </p:cNvPr>
          <p:cNvSpPr txBox="1"/>
          <p:nvPr/>
        </p:nvSpPr>
        <p:spPr>
          <a:xfrm>
            <a:off x="2496311" y="5765796"/>
            <a:ext cx="40712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Lato" panose="020F0502020204030203" pitchFamily="34" charset="0"/>
              </a:rPr>
              <a:t>1     2     3     4    5     6    7     8     9    10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D73E2E1-AAB8-2EEF-ED9A-008E8D087DDA}"/>
              </a:ext>
            </a:extLst>
          </p:cNvPr>
          <p:cNvSpPr/>
          <p:nvPr/>
        </p:nvSpPr>
        <p:spPr>
          <a:xfrm>
            <a:off x="7321951" y="2881596"/>
            <a:ext cx="1373993" cy="280748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1CE73D9-0CB2-CB9D-7228-D68020077B4B}"/>
              </a:ext>
            </a:extLst>
          </p:cNvPr>
          <p:cNvCxnSpPr>
            <a:cxnSpLocks/>
          </p:cNvCxnSpPr>
          <p:nvPr/>
        </p:nvCxnSpPr>
        <p:spPr>
          <a:xfrm flipV="1">
            <a:off x="3416808" y="6104350"/>
            <a:ext cx="0" cy="339312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EF00DA45-D0C3-8A0D-5811-C86E896E4545}"/>
              </a:ext>
            </a:extLst>
          </p:cNvPr>
          <p:cNvSpPr/>
          <p:nvPr/>
        </p:nvSpPr>
        <p:spPr>
          <a:xfrm>
            <a:off x="7493507" y="5076802"/>
            <a:ext cx="1030879" cy="46039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Lato" panose="020F0502020204030203" pitchFamily="34" charset="0"/>
              </a:rPr>
              <a:t>1</a:t>
            </a:r>
            <a:endParaRPr lang="vi-VN" sz="2400" b="1" dirty="0">
              <a:solidFill>
                <a:srgbClr val="C00000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0E9ADC-B9AB-BC21-CF44-3FC7BE13A39B}"/>
              </a:ext>
            </a:extLst>
          </p:cNvPr>
          <p:cNvSpPr/>
          <p:nvPr/>
        </p:nvSpPr>
        <p:spPr>
          <a:xfrm>
            <a:off x="7493506" y="4563289"/>
            <a:ext cx="1030879" cy="46039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Lato" panose="020F0502020204030203" pitchFamily="34" charset="0"/>
              </a:rPr>
              <a:t>2</a:t>
            </a:r>
            <a:endParaRPr lang="vi-VN" sz="2400" b="1" dirty="0">
              <a:solidFill>
                <a:srgbClr val="C00000"/>
              </a:solidFill>
            </a:endParaRPr>
          </a:p>
        </p:txBody>
      </p:sp>
      <p:sp>
        <p:nvSpPr>
          <p:cNvPr id="14" name="Title 4">
            <a:extLst>
              <a:ext uri="{FF2B5EF4-FFF2-40B4-BE49-F238E27FC236}">
                <a16:creationId xmlns:a16="http://schemas.microsoft.com/office/drawing/2014/main" id="{31CAF3B1-D953-03D0-B684-7BD86EB09403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Method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3908985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0">
          <a:extLst>
            <a:ext uri="{FF2B5EF4-FFF2-40B4-BE49-F238E27FC236}">
              <a16:creationId xmlns:a16="http://schemas.microsoft.com/office/drawing/2014/main" id="{1B00B297-6171-1B33-1391-BEF0653CC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FC702F-E7D6-B2A9-AFA6-9AFA8B378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4">
                <a:extLst>
                  <a:ext uri="{FF2B5EF4-FFF2-40B4-BE49-F238E27FC236}">
                    <a16:creationId xmlns:a16="http://schemas.microsoft.com/office/drawing/2014/main" id="{FA1D0C54-B121-7513-7971-6AF0553E628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388533"/>
                <a:ext cx="6483751" cy="209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 fontScale="92500" lnSpcReduction="10000"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114300" marR="0" lvl="0" indent="0" algn="l" rtl="0" eaLnBrk="1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  <a:defRPr sz="2400" b="0" i="0" u="none" strike="noStrike" cap="none">
                    <a:solidFill>
                      <a:schemeClr val="dk1"/>
                    </a:solidFill>
                    <a:latin typeface="+mj-lt"/>
                    <a:ea typeface="Calibri"/>
                    <a:cs typeface="Calibri"/>
                    <a:sym typeface="Calibri"/>
                  </a:defRPr>
                </a:lvl1pPr>
                <a:lvl2pPr marL="914400" marR="0" lvl="1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4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marL="1371600" marR="0" lvl="2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marL="1828800" marR="0" lvl="3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marL="2286000" marR="0" lvl="4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marL="2743200" marR="0" lvl="5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marL="342900" indent="-342900" algn="just">
                  <a:spcBef>
                    <a:spcPts val="0"/>
                  </a:spcBef>
                  <a:buFont typeface="Wingdings" panose="05000000000000000000" pitchFamily="2" charset="2"/>
                  <a:buChar char="Ø"/>
                </a:pPr>
                <a:r>
                  <a:rPr lang="en-US" dirty="0">
                    <a:solidFill>
                      <a:schemeClr val="tx1"/>
                    </a:solidFill>
                    <a:latin typeface="Lato" panose="020F0502020204030203" pitchFamily="34" charset="0"/>
                    <a:ea typeface="Arial"/>
                    <a:cs typeface="Arial"/>
                    <a:sym typeface="Arial"/>
                  </a:rPr>
                  <a:t>Solving histogram problem</a:t>
                </a: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Lato" panose="020F0502020204030203" pitchFamily="34" charset="0"/>
                    <a:sym typeface="Consolas"/>
                  </a:rPr>
                  <a:t>Compute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𝑅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]</m:t>
                    </m:r>
                  </m:oMath>
                </a14:m>
                <a:r>
                  <a:rPr lang="en-US" dirty="0">
                    <a:latin typeface="Lato" panose="020F0502020204030203" pitchFamily="34" charset="0"/>
                    <a:sym typeface="Consolas"/>
                  </a:rPr>
                  <a:t>: </a:t>
                </a:r>
              </a:p>
              <a:p>
                <a:pPr lvl="1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Lato" panose="020F0502020204030203" pitchFamily="34" charset="0"/>
                    <a:sym typeface="Consolas"/>
                  </a:rPr>
                  <a:t>For each column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</m:oMath>
                </a14:m>
                <a:r>
                  <a:rPr lang="en-US" dirty="0">
                    <a:latin typeface="Lato" panose="020F0502020204030203" pitchFamily="34" charset="0"/>
                    <a:sym typeface="Consolas"/>
                  </a:rPr>
                  <a:t>:</a:t>
                </a:r>
              </a:p>
              <a:p>
                <a:pPr marL="1143000" lvl="1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Lato" panose="020F0502020204030203" pitchFamily="34" charset="0"/>
                    <a:sym typeface="Consolas"/>
                  </a:rPr>
                  <a:t>while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] &lt; 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.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𝑡𝑜𝑝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] </m:t>
                    </m:r>
                  </m:oMath>
                </a14:m>
                <a:r>
                  <a:rPr lang="en-US" dirty="0">
                    <a:latin typeface="Lato" panose="020F0502020204030203" pitchFamily="34" charset="0"/>
                    <a:sym typeface="Consolas"/>
                  </a:rPr>
                  <a:t>do</a:t>
                </a:r>
              </a:p>
              <a:p>
                <a:pPr marL="1554480" lvl="2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pop an index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</m:oMath>
                </a14:m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 out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 (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 = 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.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𝑡𝑜𝑝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)</m:t>
                    </m:r>
                  </m:oMath>
                </a14:m>
                <a:endParaRPr lang="en-US" sz="2400" dirty="0">
                  <a:latin typeface="Lato" panose="020F0502020204030203" pitchFamily="34" charset="0"/>
                  <a:sym typeface="Consolas"/>
                </a:endParaRPr>
              </a:p>
              <a:p>
                <a:pPr marL="1600200" lvl="2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assign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𝑅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] =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 </m:t>
                    </m:r>
                  </m:oMath>
                </a14:m>
                <a:endParaRPr lang="en-US" sz="2400" dirty="0">
                  <a:latin typeface="Lato" panose="020F0502020204030203" pitchFamily="34" charset="0"/>
                  <a:sym typeface="Consolas"/>
                </a:endParaRPr>
              </a:p>
              <a:p>
                <a:pPr marL="1143000" lvl="2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Push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</m:oMath>
                </a14:m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 into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</m:oMath>
                </a14:m>
                <a:endParaRPr lang="en-US" sz="2400" dirty="0">
                  <a:latin typeface="Lato" panose="020F0502020204030203" pitchFamily="34" charset="0"/>
                  <a:sym typeface="Consolas"/>
                </a:endParaRP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sz="2400" dirty="0">
                  <a:latin typeface="Lato" panose="020F0502020204030203" pitchFamily="34" charset="0"/>
                </a:endParaRP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chemeClr val="tx1"/>
                  </a:solidFill>
                  <a:latin typeface="Lato" panose="020F0502020204030203" pitchFamily="34" charset="0"/>
                  <a:ea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7" name="Text Placeholder 4">
                <a:extLst>
                  <a:ext uri="{FF2B5EF4-FFF2-40B4-BE49-F238E27FC236}">
                    <a16:creationId xmlns:a16="http://schemas.microsoft.com/office/drawing/2014/main" id="{FA1D0C54-B121-7513-7971-6AF0553E6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388533"/>
                <a:ext cx="6483751" cy="2090055"/>
              </a:xfrm>
              <a:prstGeom prst="rect">
                <a:avLst/>
              </a:prstGeom>
              <a:blipFill>
                <a:blip r:embed="rId3"/>
                <a:stretch>
                  <a:fillRect l="-783" t="-54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D5EFE26-8E94-E39F-40D2-387938711681}"/>
              </a:ext>
            </a:extLst>
          </p:cNvPr>
          <p:cNvCxnSpPr>
            <a:cxnSpLocks/>
          </p:cNvCxnSpPr>
          <p:nvPr/>
        </p:nvCxnSpPr>
        <p:spPr>
          <a:xfrm flipV="1">
            <a:off x="2147969" y="5678708"/>
            <a:ext cx="4593770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99C43EAE-B2D2-15CD-CF95-784BCA24DCA5}"/>
              </a:ext>
            </a:extLst>
          </p:cNvPr>
          <p:cNvSpPr/>
          <p:nvPr/>
        </p:nvSpPr>
        <p:spPr>
          <a:xfrm>
            <a:off x="2496312" y="4677224"/>
            <a:ext cx="381000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DEC84B-EEC1-4274-8D51-ED003E340BAE}"/>
              </a:ext>
            </a:extLst>
          </p:cNvPr>
          <p:cNvSpPr/>
          <p:nvPr/>
        </p:nvSpPr>
        <p:spPr>
          <a:xfrm>
            <a:off x="2877312" y="4285339"/>
            <a:ext cx="381000" cy="139337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2D63FA-0F37-C32F-DF63-C27EC292CC54}"/>
              </a:ext>
            </a:extLst>
          </p:cNvPr>
          <p:cNvSpPr/>
          <p:nvPr/>
        </p:nvSpPr>
        <p:spPr>
          <a:xfrm>
            <a:off x="3258312" y="4892044"/>
            <a:ext cx="381000" cy="78666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2E5CC59-9031-F966-4192-F7068C08C687}"/>
              </a:ext>
            </a:extLst>
          </p:cNvPr>
          <p:cNvSpPr/>
          <p:nvPr/>
        </p:nvSpPr>
        <p:spPr>
          <a:xfrm>
            <a:off x="3639312" y="4462272"/>
            <a:ext cx="381000" cy="121643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5B28E9-5A77-77A2-1C3F-27F01E37471A}"/>
              </a:ext>
            </a:extLst>
          </p:cNvPr>
          <p:cNvSpPr/>
          <p:nvPr/>
        </p:nvSpPr>
        <p:spPr>
          <a:xfrm>
            <a:off x="4020312" y="3871690"/>
            <a:ext cx="381000" cy="18070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5329835-BFA0-8A11-5FC6-B367010E3FEE}"/>
              </a:ext>
            </a:extLst>
          </p:cNvPr>
          <p:cNvSpPr/>
          <p:nvPr/>
        </p:nvSpPr>
        <p:spPr>
          <a:xfrm>
            <a:off x="4401312" y="5079999"/>
            <a:ext cx="386442" cy="59871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C55753-E133-8A2F-0D24-6012B61971E4}"/>
              </a:ext>
            </a:extLst>
          </p:cNvPr>
          <p:cNvSpPr/>
          <p:nvPr/>
        </p:nvSpPr>
        <p:spPr>
          <a:xfrm>
            <a:off x="4787754" y="4677224"/>
            <a:ext cx="375558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D068987-427D-D9A3-497F-B7F572CF88FD}"/>
              </a:ext>
            </a:extLst>
          </p:cNvPr>
          <p:cNvSpPr/>
          <p:nvPr/>
        </p:nvSpPr>
        <p:spPr>
          <a:xfrm>
            <a:off x="5168754" y="4285339"/>
            <a:ext cx="381000" cy="139337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D7A0E58-5A5C-D6F5-E604-268AF80BA9D1}"/>
              </a:ext>
            </a:extLst>
          </p:cNvPr>
          <p:cNvSpPr/>
          <p:nvPr/>
        </p:nvSpPr>
        <p:spPr>
          <a:xfrm>
            <a:off x="5549754" y="5079999"/>
            <a:ext cx="381000" cy="59870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877D3C-A5FA-E77D-67EF-ACD8238465B4}"/>
              </a:ext>
            </a:extLst>
          </p:cNvPr>
          <p:cNvSpPr/>
          <p:nvPr/>
        </p:nvSpPr>
        <p:spPr>
          <a:xfrm>
            <a:off x="5930754" y="4677224"/>
            <a:ext cx="381000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78D817C-9341-344D-D00E-A5A3EEA6F1E7}"/>
              </a:ext>
            </a:extLst>
          </p:cNvPr>
          <p:cNvSpPr txBox="1"/>
          <p:nvPr/>
        </p:nvSpPr>
        <p:spPr>
          <a:xfrm>
            <a:off x="2496311" y="5765796"/>
            <a:ext cx="40712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Lato" panose="020F0502020204030203" pitchFamily="34" charset="0"/>
              </a:rPr>
              <a:t>1     2     3     4    5     6    7     8     9    10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3A9CD8D-C7FB-9609-AA1A-12C6419428EE}"/>
              </a:ext>
            </a:extLst>
          </p:cNvPr>
          <p:cNvSpPr/>
          <p:nvPr/>
        </p:nvSpPr>
        <p:spPr>
          <a:xfrm>
            <a:off x="7321951" y="2881596"/>
            <a:ext cx="1373993" cy="280748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E6684A2-ECB7-7D88-3D9A-600161D5CA13}"/>
              </a:ext>
            </a:extLst>
          </p:cNvPr>
          <p:cNvCxnSpPr>
            <a:cxnSpLocks/>
          </p:cNvCxnSpPr>
          <p:nvPr/>
        </p:nvCxnSpPr>
        <p:spPr>
          <a:xfrm flipV="1">
            <a:off x="3435096" y="6104350"/>
            <a:ext cx="0" cy="339312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27B4F16A-E008-DA36-6A1F-FC40BD6B4342}"/>
              </a:ext>
            </a:extLst>
          </p:cNvPr>
          <p:cNvSpPr/>
          <p:nvPr/>
        </p:nvSpPr>
        <p:spPr>
          <a:xfrm>
            <a:off x="7493507" y="5076802"/>
            <a:ext cx="1030879" cy="46039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Lato" panose="020F0502020204030203" pitchFamily="34" charset="0"/>
              </a:rPr>
              <a:t>1</a:t>
            </a:r>
            <a:endParaRPr lang="vi-VN" sz="2400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67D4277-1ACF-7AF3-D8C9-443AA566F95C}"/>
                  </a:ext>
                </a:extLst>
              </p:cNvPr>
              <p:cNvSpPr txBox="1"/>
              <p:nvPr/>
            </p:nvSpPr>
            <p:spPr>
              <a:xfrm>
                <a:off x="9171432" y="2478024"/>
                <a:ext cx="218236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sz="2400" dirty="0">
                  <a:latin typeface="Lato" panose="020F0502020204030203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67D4277-1ACF-7AF3-D8C9-443AA566F9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1432" y="2478024"/>
                <a:ext cx="2182367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itle 4">
            <a:extLst>
              <a:ext uri="{FF2B5EF4-FFF2-40B4-BE49-F238E27FC236}">
                <a16:creationId xmlns:a16="http://schemas.microsoft.com/office/drawing/2014/main" id="{CD4ECB70-6CE2-C7B4-3EAA-40453BFCCE72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vi-VN" dirty="0"/>
          </a:p>
        </p:txBody>
      </p:sp>
      <p:sp>
        <p:nvSpPr>
          <p:cNvPr id="20" name="Title 4">
            <a:extLst>
              <a:ext uri="{FF2B5EF4-FFF2-40B4-BE49-F238E27FC236}">
                <a16:creationId xmlns:a16="http://schemas.microsoft.com/office/drawing/2014/main" id="{FB060DE1-946E-A65C-24F4-4003418EE14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Method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7313034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0">
          <a:extLst>
            <a:ext uri="{FF2B5EF4-FFF2-40B4-BE49-F238E27FC236}">
              <a16:creationId xmlns:a16="http://schemas.microsoft.com/office/drawing/2014/main" id="{8EF2F77D-30D8-0242-6A3F-DB0DF40F0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8BDDD66-B476-1AAF-F9F3-0B1389527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E14FE7-AC6A-7432-9935-B61926E52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4">
                <a:extLst>
                  <a:ext uri="{FF2B5EF4-FFF2-40B4-BE49-F238E27FC236}">
                    <a16:creationId xmlns:a16="http://schemas.microsoft.com/office/drawing/2014/main" id="{82B2D8EA-53FF-249B-6F4B-AF79F8D22E6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388533"/>
                <a:ext cx="6483751" cy="209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 fontScale="92500" lnSpcReduction="10000"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114300" marR="0" lvl="0" indent="0" algn="l" rtl="0" eaLnBrk="1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  <a:defRPr sz="2400" b="0" i="0" u="none" strike="noStrike" cap="none">
                    <a:solidFill>
                      <a:schemeClr val="dk1"/>
                    </a:solidFill>
                    <a:latin typeface="+mj-lt"/>
                    <a:ea typeface="Calibri"/>
                    <a:cs typeface="Calibri"/>
                    <a:sym typeface="Calibri"/>
                  </a:defRPr>
                </a:lvl1pPr>
                <a:lvl2pPr marL="914400" marR="0" lvl="1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4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marL="1371600" marR="0" lvl="2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marL="1828800" marR="0" lvl="3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marL="2286000" marR="0" lvl="4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marL="2743200" marR="0" lvl="5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marL="342900" indent="-342900" algn="just">
                  <a:spcBef>
                    <a:spcPts val="0"/>
                  </a:spcBef>
                  <a:buFont typeface="Wingdings" panose="05000000000000000000" pitchFamily="2" charset="2"/>
                  <a:buChar char="Ø"/>
                </a:pPr>
                <a:r>
                  <a:rPr lang="en-US" dirty="0">
                    <a:solidFill>
                      <a:schemeClr val="tx1"/>
                    </a:solidFill>
                    <a:latin typeface="Lato" panose="020F0502020204030203" pitchFamily="34" charset="0"/>
                    <a:ea typeface="Arial"/>
                    <a:cs typeface="Arial"/>
                    <a:sym typeface="Arial"/>
                  </a:rPr>
                  <a:t>Solving histogram problem</a:t>
                </a: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Lato" panose="020F0502020204030203" pitchFamily="34" charset="0"/>
                    <a:sym typeface="Consolas"/>
                  </a:rPr>
                  <a:t>Compute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𝑅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]</m:t>
                    </m:r>
                  </m:oMath>
                </a14:m>
                <a:r>
                  <a:rPr lang="en-US" dirty="0">
                    <a:latin typeface="Lato" panose="020F0502020204030203" pitchFamily="34" charset="0"/>
                    <a:sym typeface="Consolas"/>
                  </a:rPr>
                  <a:t>: </a:t>
                </a:r>
              </a:p>
              <a:p>
                <a:pPr lvl="1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Lato" panose="020F0502020204030203" pitchFamily="34" charset="0"/>
                    <a:sym typeface="Consolas"/>
                  </a:rPr>
                  <a:t>For each column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</m:oMath>
                </a14:m>
                <a:r>
                  <a:rPr lang="en-US" dirty="0">
                    <a:latin typeface="Lato" panose="020F0502020204030203" pitchFamily="34" charset="0"/>
                    <a:sym typeface="Consolas"/>
                  </a:rPr>
                  <a:t>:</a:t>
                </a:r>
              </a:p>
              <a:p>
                <a:pPr marL="1143000" lvl="1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Lato" panose="020F0502020204030203" pitchFamily="34" charset="0"/>
                    <a:sym typeface="Consolas"/>
                  </a:rPr>
                  <a:t>while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] &lt; 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.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𝑡𝑜𝑝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] </m:t>
                    </m:r>
                  </m:oMath>
                </a14:m>
                <a:r>
                  <a:rPr lang="en-US" dirty="0">
                    <a:latin typeface="Lato" panose="020F0502020204030203" pitchFamily="34" charset="0"/>
                    <a:sym typeface="Consolas"/>
                  </a:rPr>
                  <a:t>do</a:t>
                </a:r>
              </a:p>
              <a:p>
                <a:pPr marL="1554480" lvl="2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pop an index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</m:oMath>
                </a14:m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 out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 (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 = 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.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𝑡𝑜𝑝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)</m:t>
                    </m:r>
                  </m:oMath>
                </a14:m>
                <a:endParaRPr lang="en-US" sz="2400" dirty="0">
                  <a:latin typeface="Lato" panose="020F0502020204030203" pitchFamily="34" charset="0"/>
                  <a:sym typeface="Consolas"/>
                </a:endParaRPr>
              </a:p>
              <a:p>
                <a:pPr marL="1600200" lvl="2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assign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𝑅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] =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 </m:t>
                    </m:r>
                  </m:oMath>
                </a14:m>
                <a:endParaRPr lang="en-US" sz="2400" dirty="0">
                  <a:latin typeface="Lato" panose="020F0502020204030203" pitchFamily="34" charset="0"/>
                  <a:sym typeface="Consolas"/>
                </a:endParaRPr>
              </a:p>
              <a:p>
                <a:pPr marL="1143000" lvl="2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Push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</m:oMath>
                </a14:m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 into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</m:oMath>
                </a14:m>
                <a:endParaRPr lang="en-US" sz="2400" dirty="0">
                  <a:latin typeface="Lato" panose="020F0502020204030203" pitchFamily="34" charset="0"/>
                  <a:sym typeface="Consolas"/>
                </a:endParaRP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sz="2400" dirty="0">
                  <a:latin typeface="Lato" panose="020F0502020204030203" pitchFamily="34" charset="0"/>
                </a:endParaRP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chemeClr val="tx1"/>
                  </a:solidFill>
                  <a:latin typeface="Lato" panose="020F0502020204030203" pitchFamily="34" charset="0"/>
                  <a:ea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7" name="Text Placeholder 4">
                <a:extLst>
                  <a:ext uri="{FF2B5EF4-FFF2-40B4-BE49-F238E27FC236}">
                    <a16:creationId xmlns:a16="http://schemas.microsoft.com/office/drawing/2014/main" id="{82B2D8EA-53FF-249B-6F4B-AF79F8D22E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388533"/>
                <a:ext cx="6483751" cy="2090055"/>
              </a:xfrm>
              <a:prstGeom prst="rect">
                <a:avLst/>
              </a:prstGeom>
              <a:blipFill>
                <a:blip r:embed="rId3"/>
                <a:stretch>
                  <a:fillRect l="-783" t="-54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B25778D-85F4-4121-C8BA-48DC4FE141FE}"/>
              </a:ext>
            </a:extLst>
          </p:cNvPr>
          <p:cNvCxnSpPr>
            <a:cxnSpLocks/>
          </p:cNvCxnSpPr>
          <p:nvPr/>
        </p:nvCxnSpPr>
        <p:spPr>
          <a:xfrm flipV="1">
            <a:off x="2147969" y="5678708"/>
            <a:ext cx="4593770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CDE2B8AA-C269-68F0-41A4-2BDD9C354153}"/>
              </a:ext>
            </a:extLst>
          </p:cNvPr>
          <p:cNvSpPr/>
          <p:nvPr/>
        </p:nvSpPr>
        <p:spPr>
          <a:xfrm>
            <a:off x="2496312" y="4677224"/>
            <a:ext cx="381000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DADC05-E9A5-AC66-D2E3-8282D2095A05}"/>
              </a:ext>
            </a:extLst>
          </p:cNvPr>
          <p:cNvSpPr/>
          <p:nvPr/>
        </p:nvSpPr>
        <p:spPr>
          <a:xfrm>
            <a:off x="2877312" y="4285339"/>
            <a:ext cx="381000" cy="139337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C5B0E3-DC1D-F28F-5F8C-64381CAF17C6}"/>
              </a:ext>
            </a:extLst>
          </p:cNvPr>
          <p:cNvSpPr/>
          <p:nvPr/>
        </p:nvSpPr>
        <p:spPr>
          <a:xfrm>
            <a:off x="3258312" y="4892044"/>
            <a:ext cx="381000" cy="78666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540702-1197-19E6-9CE4-C9409C850C3F}"/>
              </a:ext>
            </a:extLst>
          </p:cNvPr>
          <p:cNvSpPr/>
          <p:nvPr/>
        </p:nvSpPr>
        <p:spPr>
          <a:xfrm>
            <a:off x="3639312" y="4462272"/>
            <a:ext cx="381000" cy="121643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39C7841-4243-A893-E188-6F1B375CB962}"/>
              </a:ext>
            </a:extLst>
          </p:cNvPr>
          <p:cNvSpPr/>
          <p:nvPr/>
        </p:nvSpPr>
        <p:spPr>
          <a:xfrm>
            <a:off x="4020312" y="3871690"/>
            <a:ext cx="381000" cy="18070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F95425F-A966-B313-709A-1B45B4732C77}"/>
              </a:ext>
            </a:extLst>
          </p:cNvPr>
          <p:cNvSpPr/>
          <p:nvPr/>
        </p:nvSpPr>
        <p:spPr>
          <a:xfrm>
            <a:off x="4401312" y="5079999"/>
            <a:ext cx="386442" cy="59871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C28017-D693-2E81-CF0E-F9F2FF88184F}"/>
              </a:ext>
            </a:extLst>
          </p:cNvPr>
          <p:cNvSpPr/>
          <p:nvPr/>
        </p:nvSpPr>
        <p:spPr>
          <a:xfrm>
            <a:off x="4787754" y="4677224"/>
            <a:ext cx="375558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8CF8C4-463A-9B40-671A-D4FF1429ED2B}"/>
              </a:ext>
            </a:extLst>
          </p:cNvPr>
          <p:cNvSpPr/>
          <p:nvPr/>
        </p:nvSpPr>
        <p:spPr>
          <a:xfrm>
            <a:off x="5168754" y="4285339"/>
            <a:ext cx="381000" cy="139337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6C87D62-1A3C-8B9A-02E2-6B3FC89E493D}"/>
              </a:ext>
            </a:extLst>
          </p:cNvPr>
          <p:cNvSpPr/>
          <p:nvPr/>
        </p:nvSpPr>
        <p:spPr>
          <a:xfrm>
            <a:off x="5549754" y="5079999"/>
            <a:ext cx="381000" cy="59870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5146164-3023-EAE5-F38F-AD6498749F2E}"/>
              </a:ext>
            </a:extLst>
          </p:cNvPr>
          <p:cNvSpPr/>
          <p:nvPr/>
        </p:nvSpPr>
        <p:spPr>
          <a:xfrm>
            <a:off x="5930754" y="4677224"/>
            <a:ext cx="381000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BADF8E8-947E-F469-5711-191099B8C483}"/>
              </a:ext>
            </a:extLst>
          </p:cNvPr>
          <p:cNvSpPr txBox="1"/>
          <p:nvPr/>
        </p:nvSpPr>
        <p:spPr>
          <a:xfrm>
            <a:off x="2496311" y="5765796"/>
            <a:ext cx="40712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Lato" panose="020F0502020204030203" pitchFamily="34" charset="0"/>
              </a:rPr>
              <a:t>1     2     3     4    5     6    7     8     9    10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8E4A480-F0CE-CFCB-6004-7EFE09B92D00}"/>
              </a:ext>
            </a:extLst>
          </p:cNvPr>
          <p:cNvSpPr/>
          <p:nvPr/>
        </p:nvSpPr>
        <p:spPr>
          <a:xfrm>
            <a:off x="7321951" y="2881596"/>
            <a:ext cx="1373993" cy="280748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6EA8C84-E807-594B-A60E-5954D9B14A4D}"/>
              </a:ext>
            </a:extLst>
          </p:cNvPr>
          <p:cNvCxnSpPr>
            <a:cxnSpLocks/>
          </p:cNvCxnSpPr>
          <p:nvPr/>
        </p:nvCxnSpPr>
        <p:spPr>
          <a:xfrm flipV="1">
            <a:off x="3435096" y="6104350"/>
            <a:ext cx="0" cy="339312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8C7F407-CAB1-0E35-14F3-596C4F7F60A4}"/>
                  </a:ext>
                </a:extLst>
              </p:cNvPr>
              <p:cNvSpPr txBox="1"/>
              <p:nvPr/>
            </p:nvSpPr>
            <p:spPr>
              <a:xfrm>
                <a:off x="9171432" y="2478024"/>
                <a:ext cx="218236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sz="2400" dirty="0">
                  <a:latin typeface="Lato" panose="020F0502020204030203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vi-VN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8C7F407-CAB1-0E35-14F3-596C4F7F60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1432" y="2478024"/>
                <a:ext cx="2182367" cy="8309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itle 4">
            <a:extLst>
              <a:ext uri="{FF2B5EF4-FFF2-40B4-BE49-F238E27FC236}">
                <a16:creationId xmlns:a16="http://schemas.microsoft.com/office/drawing/2014/main" id="{CC537D78-C036-4E1C-C8D5-2945A4FD5853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Method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7076392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0">
          <a:extLst>
            <a:ext uri="{FF2B5EF4-FFF2-40B4-BE49-F238E27FC236}">
              <a16:creationId xmlns:a16="http://schemas.microsoft.com/office/drawing/2014/main" id="{C5DFAC30-F5AC-F350-33DF-5D6B83705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C7A26CD-9840-E9A7-BFB1-559451CA3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4BD91A-15C5-BF67-6F7D-0701268EC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4">
                <a:extLst>
                  <a:ext uri="{FF2B5EF4-FFF2-40B4-BE49-F238E27FC236}">
                    <a16:creationId xmlns:a16="http://schemas.microsoft.com/office/drawing/2014/main" id="{E93022C2-C5C2-D7ED-8C40-DA54318EF33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388533"/>
                <a:ext cx="6483751" cy="209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 fontScale="92500" lnSpcReduction="10000"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114300" marR="0" lvl="0" indent="0" algn="l" rtl="0" eaLnBrk="1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  <a:defRPr sz="2400" b="0" i="0" u="none" strike="noStrike" cap="none">
                    <a:solidFill>
                      <a:schemeClr val="dk1"/>
                    </a:solidFill>
                    <a:latin typeface="+mj-lt"/>
                    <a:ea typeface="Calibri"/>
                    <a:cs typeface="Calibri"/>
                    <a:sym typeface="Calibri"/>
                  </a:defRPr>
                </a:lvl1pPr>
                <a:lvl2pPr marL="914400" marR="0" lvl="1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4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marL="1371600" marR="0" lvl="2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marL="1828800" marR="0" lvl="3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marL="2286000" marR="0" lvl="4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marL="2743200" marR="0" lvl="5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marL="342900" indent="-342900" algn="just">
                  <a:spcBef>
                    <a:spcPts val="0"/>
                  </a:spcBef>
                  <a:buFont typeface="Wingdings" panose="05000000000000000000" pitchFamily="2" charset="2"/>
                  <a:buChar char="Ø"/>
                </a:pPr>
                <a:r>
                  <a:rPr lang="en-US" dirty="0">
                    <a:solidFill>
                      <a:schemeClr val="tx1"/>
                    </a:solidFill>
                    <a:latin typeface="Lato" panose="020F0502020204030203" pitchFamily="34" charset="0"/>
                    <a:ea typeface="Arial"/>
                    <a:cs typeface="Arial"/>
                    <a:sym typeface="Arial"/>
                  </a:rPr>
                  <a:t>Solving histogram problem</a:t>
                </a: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Lato" panose="020F0502020204030203" pitchFamily="34" charset="0"/>
                    <a:sym typeface="Consolas"/>
                  </a:rPr>
                  <a:t>Compute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𝑅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]</m:t>
                    </m:r>
                  </m:oMath>
                </a14:m>
                <a:r>
                  <a:rPr lang="en-US" dirty="0">
                    <a:latin typeface="Lato" panose="020F0502020204030203" pitchFamily="34" charset="0"/>
                    <a:sym typeface="Consolas"/>
                  </a:rPr>
                  <a:t>: </a:t>
                </a:r>
              </a:p>
              <a:p>
                <a:pPr lvl="1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Lato" panose="020F0502020204030203" pitchFamily="34" charset="0"/>
                    <a:sym typeface="Consolas"/>
                  </a:rPr>
                  <a:t>For each column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</m:oMath>
                </a14:m>
                <a:r>
                  <a:rPr lang="en-US" dirty="0">
                    <a:latin typeface="Lato" panose="020F0502020204030203" pitchFamily="34" charset="0"/>
                    <a:sym typeface="Consolas"/>
                  </a:rPr>
                  <a:t>:</a:t>
                </a:r>
              </a:p>
              <a:p>
                <a:pPr marL="1143000" lvl="1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Lato" panose="020F0502020204030203" pitchFamily="34" charset="0"/>
                    <a:sym typeface="Consolas"/>
                  </a:rPr>
                  <a:t>while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] &lt; 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.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𝑡𝑜𝑝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] </m:t>
                    </m:r>
                  </m:oMath>
                </a14:m>
                <a:r>
                  <a:rPr lang="en-US" dirty="0">
                    <a:latin typeface="Lato" panose="020F0502020204030203" pitchFamily="34" charset="0"/>
                    <a:sym typeface="Consolas"/>
                  </a:rPr>
                  <a:t>do</a:t>
                </a:r>
              </a:p>
              <a:p>
                <a:pPr marL="1554480" lvl="2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pop an index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</m:oMath>
                </a14:m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 out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 (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 = 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.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𝑡𝑜𝑝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)</m:t>
                    </m:r>
                  </m:oMath>
                </a14:m>
                <a:endParaRPr lang="en-US" sz="2400" dirty="0">
                  <a:latin typeface="Lato" panose="020F0502020204030203" pitchFamily="34" charset="0"/>
                  <a:sym typeface="Consolas"/>
                </a:endParaRPr>
              </a:p>
              <a:p>
                <a:pPr marL="1600200" lvl="2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assign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𝑅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] =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 </m:t>
                    </m:r>
                  </m:oMath>
                </a14:m>
                <a:endParaRPr lang="en-US" sz="2400" dirty="0">
                  <a:latin typeface="Lato" panose="020F0502020204030203" pitchFamily="34" charset="0"/>
                  <a:sym typeface="Consolas"/>
                </a:endParaRPr>
              </a:p>
              <a:p>
                <a:pPr marL="1143000" lvl="2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Push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</m:oMath>
                </a14:m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 into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</m:oMath>
                </a14:m>
                <a:endParaRPr lang="en-US" sz="2400" dirty="0">
                  <a:latin typeface="Lato" panose="020F0502020204030203" pitchFamily="34" charset="0"/>
                  <a:sym typeface="Consolas"/>
                </a:endParaRP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sz="2400" dirty="0">
                  <a:latin typeface="Lato" panose="020F0502020204030203" pitchFamily="34" charset="0"/>
                </a:endParaRP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chemeClr val="tx1"/>
                  </a:solidFill>
                  <a:latin typeface="Lato" panose="020F0502020204030203" pitchFamily="34" charset="0"/>
                  <a:ea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7" name="Text Placeholder 4">
                <a:extLst>
                  <a:ext uri="{FF2B5EF4-FFF2-40B4-BE49-F238E27FC236}">
                    <a16:creationId xmlns:a16="http://schemas.microsoft.com/office/drawing/2014/main" id="{E93022C2-C5C2-D7ED-8C40-DA54318EF3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388533"/>
                <a:ext cx="6483751" cy="2090055"/>
              </a:xfrm>
              <a:prstGeom prst="rect">
                <a:avLst/>
              </a:prstGeom>
              <a:blipFill>
                <a:blip r:embed="rId3"/>
                <a:stretch>
                  <a:fillRect l="-783" t="-54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7AEB796-E313-69A6-13ED-4693EBD3354A}"/>
              </a:ext>
            </a:extLst>
          </p:cNvPr>
          <p:cNvCxnSpPr>
            <a:cxnSpLocks/>
          </p:cNvCxnSpPr>
          <p:nvPr/>
        </p:nvCxnSpPr>
        <p:spPr>
          <a:xfrm flipV="1">
            <a:off x="2147969" y="5678708"/>
            <a:ext cx="4593770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ACE94AD1-54A5-D3FC-03E3-903C95990957}"/>
              </a:ext>
            </a:extLst>
          </p:cNvPr>
          <p:cNvSpPr/>
          <p:nvPr/>
        </p:nvSpPr>
        <p:spPr>
          <a:xfrm>
            <a:off x="2496312" y="4677224"/>
            <a:ext cx="381000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7F6089-D9BF-78C9-2D8F-6FB0DBD95BC3}"/>
              </a:ext>
            </a:extLst>
          </p:cNvPr>
          <p:cNvSpPr/>
          <p:nvPr/>
        </p:nvSpPr>
        <p:spPr>
          <a:xfrm>
            <a:off x="2877312" y="4285339"/>
            <a:ext cx="381000" cy="139337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3731446-7ABC-FDC6-8F9B-7DDB51F9DDE1}"/>
              </a:ext>
            </a:extLst>
          </p:cNvPr>
          <p:cNvSpPr/>
          <p:nvPr/>
        </p:nvSpPr>
        <p:spPr>
          <a:xfrm>
            <a:off x="3258312" y="4892044"/>
            <a:ext cx="381000" cy="78666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8AC1CD-6023-EF6C-62AA-964F45020205}"/>
              </a:ext>
            </a:extLst>
          </p:cNvPr>
          <p:cNvSpPr/>
          <p:nvPr/>
        </p:nvSpPr>
        <p:spPr>
          <a:xfrm>
            <a:off x="3639312" y="4462272"/>
            <a:ext cx="381000" cy="121643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B0647C1-F169-69B7-5D92-BC2F93E83D08}"/>
              </a:ext>
            </a:extLst>
          </p:cNvPr>
          <p:cNvSpPr/>
          <p:nvPr/>
        </p:nvSpPr>
        <p:spPr>
          <a:xfrm>
            <a:off x="4020312" y="3871690"/>
            <a:ext cx="381000" cy="18070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EBA6A2B-DE79-8A87-0521-000B8070A5A3}"/>
              </a:ext>
            </a:extLst>
          </p:cNvPr>
          <p:cNvSpPr/>
          <p:nvPr/>
        </p:nvSpPr>
        <p:spPr>
          <a:xfrm>
            <a:off x="4401312" y="5079999"/>
            <a:ext cx="386442" cy="59871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4DF1206-D188-8D5B-95E8-086094F097C0}"/>
              </a:ext>
            </a:extLst>
          </p:cNvPr>
          <p:cNvSpPr/>
          <p:nvPr/>
        </p:nvSpPr>
        <p:spPr>
          <a:xfrm>
            <a:off x="4787754" y="4677224"/>
            <a:ext cx="375558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21EB90-3587-0D21-1E89-6D7BA788C689}"/>
              </a:ext>
            </a:extLst>
          </p:cNvPr>
          <p:cNvSpPr/>
          <p:nvPr/>
        </p:nvSpPr>
        <p:spPr>
          <a:xfrm>
            <a:off x="5168754" y="4285339"/>
            <a:ext cx="381000" cy="139337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F3D9C1E-2F7B-4799-EC77-720DEF8D783B}"/>
              </a:ext>
            </a:extLst>
          </p:cNvPr>
          <p:cNvSpPr/>
          <p:nvPr/>
        </p:nvSpPr>
        <p:spPr>
          <a:xfrm>
            <a:off x="5549754" y="5079999"/>
            <a:ext cx="381000" cy="59870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7713C34-7F43-F400-988E-46C5F266B1F3}"/>
              </a:ext>
            </a:extLst>
          </p:cNvPr>
          <p:cNvSpPr/>
          <p:nvPr/>
        </p:nvSpPr>
        <p:spPr>
          <a:xfrm>
            <a:off x="5930754" y="4677224"/>
            <a:ext cx="381000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B963B3A-9B4A-4E42-1258-A1E986973577}"/>
              </a:ext>
            </a:extLst>
          </p:cNvPr>
          <p:cNvSpPr txBox="1"/>
          <p:nvPr/>
        </p:nvSpPr>
        <p:spPr>
          <a:xfrm>
            <a:off x="2496311" y="5765796"/>
            <a:ext cx="40712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Lato" panose="020F0502020204030203" pitchFamily="34" charset="0"/>
              </a:rPr>
              <a:t>1     2     3     4    5     6    7     8     9    10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DDC830E-E241-059C-61C2-07AF2CE06211}"/>
              </a:ext>
            </a:extLst>
          </p:cNvPr>
          <p:cNvSpPr/>
          <p:nvPr/>
        </p:nvSpPr>
        <p:spPr>
          <a:xfrm>
            <a:off x="7321951" y="2881596"/>
            <a:ext cx="1373993" cy="280748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AB78D01-CD31-2251-5A52-9B612AB5D68F}"/>
              </a:ext>
            </a:extLst>
          </p:cNvPr>
          <p:cNvCxnSpPr>
            <a:cxnSpLocks/>
          </p:cNvCxnSpPr>
          <p:nvPr/>
        </p:nvCxnSpPr>
        <p:spPr>
          <a:xfrm flipV="1">
            <a:off x="3435096" y="6104350"/>
            <a:ext cx="0" cy="339312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35BBC029-B3CC-5562-D195-92F318ED5EDA}"/>
              </a:ext>
            </a:extLst>
          </p:cNvPr>
          <p:cNvSpPr/>
          <p:nvPr/>
        </p:nvSpPr>
        <p:spPr>
          <a:xfrm>
            <a:off x="7493507" y="5076802"/>
            <a:ext cx="1030879" cy="46039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Lato" panose="020F0502020204030203" pitchFamily="34" charset="0"/>
              </a:rPr>
              <a:t>3</a:t>
            </a:r>
            <a:endParaRPr lang="vi-VN" sz="2400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CF17959-1CB0-7036-432F-057F0FC06AA1}"/>
                  </a:ext>
                </a:extLst>
              </p:cNvPr>
              <p:cNvSpPr txBox="1"/>
              <p:nvPr/>
            </p:nvSpPr>
            <p:spPr>
              <a:xfrm>
                <a:off x="9171432" y="2478024"/>
                <a:ext cx="218236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sz="2400" dirty="0">
                  <a:latin typeface="Lato" panose="020F0502020204030203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vi-VN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CF17959-1CB0-7036-432F-057F0FC06A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1432" y="2478024"/>
                <a:ext cx="2182367" cy="8309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itle 4">
            <a:extLst>
              <a:ext uri="{FF2B5EF4-FFF2-40B4-BE49-F238E27FC236}">
                <a16:creationId xmlns:a16="http://schemas.microsoft.com/office/drawing/2014/main" id="{7D21E5B8-E299-CCEB-20B2-7939B59C2AB3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Method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99160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0">
          <a:extLst>
            <a:ext uri="{FF2B5EF4-FFF2-40B4-BE49-F238E27FC236}">
              <a16:creationId xmlns:a16="http://schemas.microsoft.com/office/drawing/2014/main" id="{5D1DDFC5-06A4-0535-2447-0EE94C0C0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6844694-0B98-0301-E318-C06D7F186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3F526A-2BAA-5D26-7230-A73A82F85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4">
                <a:extLst>
                  <a:ext uri="{FF2B5EF4-FFF2-40B4-BE49-F238E27FC236}">
                    <a16:creationId xmlns:a16="http://schemas.microsoft.com/office/drawing/2014/main" id="{D8D31D10-554C-5CAE-20CE-33C61B65E7C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388533"/>
                <a:ext cx="6483751" cy="209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 fontScale="92500" lnSpcReduction="10000"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114300" marR="0" lvl="0" indent="0" algn="l" rtl="0" eaLnBrk="1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  <a:defRPr sz="2400" b="0" i="0" u="none" strike="noStrike" cap="none">
                    <a:solidFill>
                      <a:schemeClr val="dk1"/>
                    </a:solidFill>
                    <a:latin typeface="+mj-lt"/>
                    <a:ea typeface="Calibri"/>
                    <a:cs typeface="Calibri"/>
                    <a:sym typeface="Calibri"/>
                  </a:defRPr>
                </a:lvl1pPr>
                <a:lvl2pPr marL="914400" marR="0" lvl="1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4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marL="1371600" marR="0" lvl="2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marL="1828800" marR="0" lvl="3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marL="2286000" marR="0" lvl="4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marL="2743200" marR="0" lvl="5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marL="342900" indent="-342900" algn="just">
                  <a:spcBef>
                    <a:spcPts val="0"/>
                  </a:spcBef>
                  <a:buFont typeface="Wingdings" panose="05000000000000000000" pitchFamily="2" charset="2"/>
                  <a:buChar char="Ø"/>
                </a:pPr>
                <a:r>
                  <a:rPr lang="en-US" dirty="0">
                    <a:solidFill>
                      <a:schemeClr val="tx1"/>
                    </a:solidFill>
                    <a:latin typeface="Lato" panose="020F0502020204030203" pitchFamily="34" charset="0"/>
                    <a:ea typeface="Arial"/>
                    <a:cs typeface="Arial"/>
                    <a:sym typeface="Arial"/>
                  </a:rPr>
                  <a:t>Solving histogram problem</a:t>
                </a: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Lato" panose="020F0502020204030203" pitchFamily="34" charset="0"/>
                    <a:sym typeface="Consolas"/>
                  </a:rPr>
                  <a:t>Compute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𝑅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]</m:t>
                    </m:r>
                  </m:oMath>
                </a14:m>
                <a:r>
                  <a:rPr lang="en-US" dirty="0">
                    <a:latin typeface="Lato" panose="020F0502020204030203" pitchFamily="34" charset="0"/>
                    <a:sym typeface="Consolas"/>
                  </a:rPr>
                  <a:t>: </a:t>
                </a:r>
              </a:p>
              <a:p>
                <a:pPr lvl="1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Lato" panose="020F0502020204030203" pitchFamily="34" charset="0"/>
                    <a:sym typeface="Consolas"/>
                  </a:rPr>
                  <a:t>For each column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</m:oMath>
                </a14:m>
                <a:r>
                  <a:rPr lang="en-US" dirty="0">
                    <a:latin typeface="Lato" panose="020F0502020204030203" pitchFamily="34" charset="0"/>
                    <a:sym typeface="Consolas"/>
                  </a:rPr>
                  <a:t>:</a:t>
                </a:r>
              </a:p>
              <a:p>
                <a:pPr marL="1143000" lvl="1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Lato" panose="020F0502020204030203" pitchFamily="34" charset="0"/>
                    <a:sym typeface="Consolas"/>
                  </a:rPr>
                  <a:t>while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] &lt; 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.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𝑡𝑜𝑝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] </m:t>
                    </m:r>
                  </m:oMath>
                </a14:m>
                <a:r>
                  <a:rPr lang="en-US" dirty="0">
                    <a:latin typeface="Lato" panose="020F0502020204030203" pitchFamily="34" charset="0"/>
                    <a:sym typeface="Consolas"/>
                  </a:rPr>
                  <a:t>do</a:t>
                </a:r>
              </a:p>
              <a:p>
                <a:pPr marL="1554480" lvl="2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pop an index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</m:oMath>
                </a14:m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 out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 (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 = 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.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𝑡𝑜𝑝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)</m:t>
                    </m:r>
                  </m:oMath>
                </a14:m>
                <a:endParaRPr lang="en-US" sz="2400" dirty="0">
                  <a:latin typeface="Lato" panose="020F0502020204030203" pitchFamily="34" charset="0"/>
                  <a:sym typeface="Consolas"/>
                </a:endParaRPr>
              </a:p>
              <a:p>
                <a:pPr marL="1600200" lvl="2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assign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𝑅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] =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 </m:t>
                    </m:r>
                  </m:oMath>
                </a14:m>
                <a:endParaRPr lang="en-US" sz="2400" dirty="0">
                  <a:latin typeface="Lato" panose="020F0502020204030203" pitchFamily="34" charset="0"/>
                  <a:sym typeface="Consolas"/>
                </a:endParaRPr>
              </a:p>
              <a:p>
                <a:pPr marL="1143000" lvl="2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Push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</m:oMath>
                </a14:m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 into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</m:oMath>
                </a14:m>
                <a:endParaRPr lang="en-US" sz="2400" dirty="0">
                  <a:latin typeface="Lato" panose="020F0502020204030203" pitchFamily="34" charset="0"/>
                  <a:sym typeface="Consolas"/>
                </a:endParaRP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sz="2400" dirty="0">
                  <a:latin typeface="Lato" panose="020F0502020204030203" pitchFamily="34" charset="0"/>
                </a:endParaRP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chemeClr val="tx1"/>
                  </a:solidFill>
                  <a:latin typeface="Lato" panose="020F0502020204030203" pitchFamily="34" charset="0"/>
                  <a:ea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7" name="Text Placeholder 4">
                <a:extLst>
                  <a:ext uri="{FF2B5EF4-FFF2-40B4-BE49-F238E27FC236}">
                    <a16:creationId xmlns:a16="http://schemas.microsoft.com/office/drawing/2014/main" id="{D8D31D10-554C-5CAE-20CE-33C61B65E7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388533"/>
                <a:ext cx="6483751" cy="2090055"/>
              </a:xfrm>
              <a:prstGeom prst="rect">
                <a:avLst/>
              </a:prstGeom>
              <a:blipFill>
                <a:blip r:embed="rId3"/>
                <a:stretch>
                  <a:fillRect l="-783" t="-54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B31A913-BD19-19C7-BAFE-B239DF8691AF}"/>
              </a:ext>
            </a:extLst>
          </p:cNvPr>
          <p:cNvCxnSpPr>
            <a:cxnSpLocks/>
          </p:cNvCxnSpPr>
          <p:nvPr/>
        </p:nvCxnSpPr>
        <p:spPr>
          <a:xfrm flipV="1">
            <a:off x="2147969" y="5678708"/>
            <a:ext cx="4593770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2E924E5F-D158-89C5-7010-85E6D487956C}"/>
              </a:ext>
            </a:extLst>
          </p:cNvPr>
          <p:cNvSpPr/>
          <p:nvPr/>
        </p:nvSpPr>
        <p:spPr>
          <a:xfrm>
            <a:off x="2496312" y="4677224"/>
            <a:ext cx="381000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46CA112-967C-6F4F-B496-57DF5942723A}"/>
              </a:ext>
            </a:extLst>
          </p:cNvPr>
          <p:cNvSpPr/>
          <p:nvPr/>
        </p:nvSpPr>
        <p:spPr>
          <a:xfrm>
            <a:off x="2877312" y="4285339"/>
            <a:ext cx="381000" cy="139337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78FCA5-D4FA-F286-A796-A53D5F4F24E4}"/>
              </a:ext>
            </a:extLst>
          </p:cNvPr>
          <p:cNvSpPr/>
          <p:nvPr/>
        </p:nvSpPr>
        <p:spPr>
          <a:xfrm>
            <a:off x="3258312" y="4892044"/>
            <a:ext cx="381000" cy="78666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25C6F6-D8DE-38BA-9914-5B07A0137F96}"/>
              </a:ext>
            </a:extLst>
          </p:cNvPr>
          <p:cNvSpPr/>
          <p:nvPr/>
        </p:nvSpPr>
        <p:spPr>
          <a:xfrm>
            <a:off x="3639312" y="4462272"/>
            <a:ext cx="381000" cy="121643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3F06F9-7BEC-0A52-68C5-ED619EB345EE}"/>
              </a:ext>
            </a:extLst>
          </p:cNvPr>
          <p:cNvSpPr/>
          <p:nvPr/>
        </p:nvSpPr>
        <p:spPr>
          <a:xfrm>
            <a:off x="4020312" y="3871690"/>
            <a:ext cx="381000" cy="18070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D30EFD3-75A2-B86B-A792-31FCF38331DA}"/>
              </a:ext>
            </a:extLst>
          </p:cNvPr>
          <p:cNvSpPr/>
          <p:nvPr/>
        </p:nvSpPr>
        <p:spPr>
          <a:xfrm>
            <a:off x="4401312" y="5079999"/>
            <a:ext cx="386442" cy="59871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E4EA72-5DD7-F514-CA38-2CF47F5C3C6B}"/>
              </a:ext>
            </a:extLst>
          </p:cNvPr>
          <p:cNvSpPr/>
          <p:nvPr/>
        </p:nvSpPr>
        <p:spPr>
          <a:xfrm>
            <a:off x="4787754" y="4677224"/>
            <a:ext cx="375558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F9CE389-50D3-0B3C-DEA0-96CCF9F0A004}"/>
              </a:ext>
            </a:extLst>
          </p:cNvPr>
          <p:cNvSpPr/>
          <p:nvPr/>
        </p:nvSpPr>
        <p:spPr>
          <a:xfrm>
            <a:off x="5168754" y="4285339"/>
            <a:ext cx="381000" cy="139337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03B85B-99A6-3430-9340-361BD59B08EC}"/>
              </a:ext>
            </a:extLst>
          </p:cNvPr>
          <p:cNvSpPr/>
          <p:nvPr/>
        </p:nvSpPr>
        <p:spPr>
          <a:xfrm>
            <a:off x="5549754" y="5079999"/>
            <a:ext cx="381000" cy="59870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924E5CC-291F-4E37-FA1D-DD94A5F12231}"/>
              </a:ext>
            </a:extLst>
          </p:cNvPr>
          <p:cNvSpPr/>
          <p:nvPr/>
        </p:nvSpPr>
        <p:spPr>
          <a:xfrm>
            <a:off x="5930754" y="4677224"/>
            <a:ext cx="381000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ED003FC-3FB9-A019-FBD1-306E7D8DB4C9}"/>
              </a:ext>
            </a:extLst>
          </p:cNvPr>
          <p:cNvSpPr txBox="1"/>
          <p:nvPr/>
        </p:nvSpPr>
        <p:spPr>
          <a:xfrm>
            <a:off x="2496311" y="5765796"/>
            <a:ext cx="40712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Lato" panose="020F0502020204030203" pitchFamily="34" charset="0"/>
              </a:rPr>
              <a:t>1     2     3     4    5     6    7     8     9    10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1CBBCDA-19D9-4D2D-F1BD-B3EE20682535}"/>
              </a:ext>
            </a:extLst>
          </p:cNvPr>
          <p:cNvSpPr/>
          <p:nvPr/>
        </p:nvSpPr>
        <p:spPr>
          <a:xfrm>
            <a:off x="7321951" y="2881596"/>
            <a:ext cx="1373993" cy="280748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699A0A8-45F2-852C-E279-55569905B421}"/>
              </a:ext>
            </a:extLst>
          </p:cNvPr>
          <p:cNvCxnSpPr>
            <a:cxnSpLocks/>
          </p:cNvCxnSpPr>
          <p:nvPr/>
        </p:nvCxnSpPr>
        <p:spPr>
          <a:xfrm flipV="1">
            <a:off x="3828288" y="6104350"/>
            <a:ext cx="0" cy="339312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96A5E6A9-37C0-95E4-C27A-CB5B4B7383E6}"/>
              </a:ext>
            </a:extLst>
          </p:cNvPr>
          <p:cNvSpPr/>
          <p:nvPr/>
        </p:nvSpPr>
        <p:spPr>
          <a:xfrm>
            <a:off x="7493507" y="5076802"/>
            <a:ext cx="1030879" cy="46039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Lato" panose="020F0502020204030203" pitchFamily="34" charset="0"/>
              </a:rPr>
              <a:t>3</a:t>
            </a:r>
            <a:endParaRPr lang="vi-VN" sz="2400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3FC1975-365D-D3C6-A8E4-9E2DCC855D63}"/>
                  </a:ext>
                </a:extLst>
              </p:cNvPr>
              <p:cNvSpPr txBox="1"/>
              <p:nvPr/>
            </p:nvSpPr>
            <p:spPr>
              <a:xfrm>
                <a:off x="9171432" y="2478024"/>
                <a:ext cx="218236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sz="2400" dirty="0">
                  <a:latin typeface="Lato" panose="020F0502020204030203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vi-VN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3FC1975-365D-D3C6-A8E4-9E2DCC855D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1432" y="2478024"/>
                <a:ext cx="2182367" cy="8309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90F3773C-3225-BCF4-84AB-5C056FA7D565}"/>
              </a:ext>
            </a:extLst>
          </p:cNvPr>
          <p:cNvSpPr/>
          <p:nvPr/>
        </p:nvSpPr>
        <p:spPr>
          <a:xfrm>
            <a:off x="7493506" y="4563289"/>
            <a:ext cx="1030879" cy="46039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Lato" panose="020F0502020204030203" pitchFamily="34" charset="0"/>
              </a:rPr>
              <a:t>4</a:t>
            </a:r>
            <a:endParaRPr lang="vi-VN" sz="2400" b="1" dirty="0">
              <a:solidFill>
                <a:srgbClr val="C00000"/>
              </a:solidFill>
            </a:endParaRPr>
          </a:p>
        </p:txBody>
      </p:sp>
      <p:sp>
        <p:nvSpPr>
          <p:cNvPr id="16" name="Title 4">
            <a:extLst>
              <a:ext uri="{FF2B5EF4-FFF2-40B4-BE49-F238E27FC236}">
                <a16:creationId xmlns:a16="http://schemas.microsoft.com/office/drawing/2014/main" id="{26BCCC6E-FF67-8947-836B-3B4669327384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Method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4533014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0">
          <a:extLst>
            <a:ext uri="{FF2B5EF4-FFF2-40B4-BE49-F238E27FC236}">
              <a16:creationId xmlns:a16="http://schemas.microsoft.com/office/drawing/2014/main" id="{8BEAA466-8A3F-9D4E-BB42-2F883F439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E7AFAFF-E9F5-FFED-06D4-91603F168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515851-13F4-7C65-B433-6C96D2A68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4">
                <a:extLst>
                  <a:ext uri="{FF2B5EF4-FFF2-40B4-BE49-F238E27FC236}">
                    <a16:creationId xmlns:a16="http://schemas.microsoft.com/office/drawing/2014/main" id="{2C03BF52-DF11-69D5-FB0F-95C66A52F8A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388533"/>
                <a:ext cx="6483751" cy="209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 fontScale="92500" lnSpcReduction="10000"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114300" marR="0" lvl="0" indent="0" algn="l" rtl="0" eaLnBrk="1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  <a:defRPr sz="2400" b="0" i="0" u="none" strike="noStrike" cap="none">
                    <a:solidFill>
                      <a:schemeClr val="dk1"/>
                    </a:solidFill>
                    <a:latin typeface="+mj-lt"/>
                    <a:ea typeface="Calibri"/>
                    <a:cs typeface="Calibri"/>
                    <a:sym typeface="Calibri"/>
                  </a:defRPr>
                </a:lvl1pPr>
                <a:lvl2pPr marL="914400" marR="0" lvl="1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4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marL="1371600" marR="0" lvl="2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marL="1828800" marR="0" lvl="3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marL="2286000" marR="0" lvl="4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marL="2743200" marR="0" lvl="5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marL="342900" indent="-342900" algn="just">
                  <a:spcBef>
                    <a:spcPts val="0"/>
                  </a:spcBef>
                  <a:buFont typeface="Wingdings" panose="05000000000000000000" pitchFamily="2" charset="2"/>
                  <a:buChar char="Ø"/>
                </a:pPr>
                <a:r>
                  <a:rPr lang="en-US" dirty="0">
                    <a:solidFill>
                      <a:schemeClr val="tx1"/>
                    </a:solidFill>
                    <a:latin typeface="Lato" panose="020F0502020204030203" pitchFamily="34" charset="0"/>
                    <a:ea typeface="Arial"/>
                    <a:cs typeface="Arial"/>
                    <a:sym typeface="Arial"/>
                  </a:rPr>
                  <a:t>Solving histogram problem</a:t>
                </a: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Lato" panose="020F0502020204030203" pitchFamily="34" charset="0"/>
                    <a:sym typeface="Consolas"/>
                  </a:rPr>
                  <a:t>Compute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𝑅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]</m:t>
                    </m:r>
                  </m:oMath>
                </a14:m>
                <a:r>
                  <a:rPr lang="en-US" dirty="0">
                    <a:latin typeface="Lato" panose="020F0502020204030203" pitchFamily="34" charset="0"/>
                    <a:sym typeface="Consolas"/>
                  </a:rPr>
                  <a:t>: </a:t>
                </a:r>
              </a:p>
              <a:p>
                <a:pPr lvl="1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Lato" panose="020F0502020204030203" pitchFamily="34" charset="0"/>
                    <a:sym typeface="Consolas"/>
                  </a:rPr>
                  <a:t>For each column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</m:oMath>
                </a14:m>
                <a:r>
                  <a:rPr lang="en-US" dirty="0">
                    <a:latin typeface="Lato" panose="020F0502020204030203" pitchFamily="34" charset="0"/>
                    <a:sym typeface="Consolas"/>
                  </a:rPr>
                  <a:t>:</a:t>
                </a:r>
              </a:p>
              <a:p>
                <a:pPr marL="1143000" lvl="1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Lato" panose="020F0502020204030203" pitchFamily="34" charset="0"/>
                    <a:sym typeface="Consolas"/>
                  </a:rPr>
                  <a:t>while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] &lt; 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.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𝑡𝑜𝑝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] </m:t>
                    </m:r>
                  </m:oMath>
                </a14:m>
                <a:r>
                  <a:rPr lang="en-US" dirty="0">
                    <a:latin typeface="Lato" panose="020F0502020204030203" pitchFamily="34" charset="0"/>
                    <a:sym typeface="Consolas"/>
                  </a:rPr>
                  <a:t>do</a:t>
                </a:r>
              </a:p>
              <a:p>
                <a:pPr marL="1554480" lvl="2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pop an index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</m:oMath>
                </a14:m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 out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 (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 = 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.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𝑡𝑜𝑝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)</m:t>
                    </m:r>
                  </m:oMath>
                </a14:m>
                <a:endParaRPr lang="en-US" sz="2400" dirty="0">
                  <a:latin typeface="Lato" panose="020F0502020204030203" pitchFamily="34" charset="0"/>
                  <a:sym typeface="Consolas"/>
                </a:endParaRPr>
              </a:p>
              <a:p>
                <a:pPr marL="1600200" lvl="2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assign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𝑅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] =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 </m:t>
                    </m:r>
                  </m:oMath>
                </a14:m>
                <a:endParaRPr lang="en-US" sz="2400" dirty="0">
                  <a:latin typeface="Lato" panose="020F0502020204030203" pitchFamily="34" charset="0"/>
                  <a:sym typeface="Consolas"/>
                </a:endParaRPr>
              </a:p>
              <a:p>
                <a:pPr marL="1143000" lvl="2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Push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</m:oMath>
                </a14:m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 into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</m:oMath>
                </a14:m>
                <a:endParaRPr lang="en-US" sz="2400" dirty="0">
                  <a:latin typeface="Lato" panose="020F0502020204030203" pitchFamily="34" charset="0"/>
                  <a:sym typeface="Consolas"/>
                </a:endParaRP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sz="2400" dirty="0">
                  <a:latin typeface="Lato" panose="020F0502020204030203" pitchFamily="34" charset="0"/>
                </a:endParaRP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chemeClr val="tx1"/>
                  </a:solidFill>
                  <a:latin typeface="Lato" panose="020F0502020204030203" pitchFamily="34" charset="0"/>
                  <a:ea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7" name="Text Placeholder 4">
                <a:extLst>
                  <a:ext uri="{FF2B5EF4-FFF2-40B4-BE49-F238E27FC236}">
                    <a16:creationId xmlns:a16="http://schemas.microsoft.com/office/drawing/2014/main" id="{2C03BF52-DF11-69D5-FB0F-95C66A52F8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388533"/>
                <a:ext cx="6483751" cy="2090055"/>
              </a:xfrm>
              <a:prstGeom prst="rect">
                <a:avLst/>
              </a:prstGeom>
              <a:blipFill>
                <a:blip r:embed="rId3"/>
                <a:stretch>
                  <a:fillRect l="-783" t="-54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D722EF0-26CD-4383-8B97-76B9A1878170}"/>
              </a:ext>
            </a:extLst>
          </p:cNvPr>
          <p:cNvCxnSpPr>
            <a:cxnSpLocks/>
          </p:cNvCxnSpPr>
          <p:nvPr/>
        </p:nvCxnSpPr>
        <p:spPr>
          <a:xfrm flipV="1">
            <a:off x="2147969" y="5678708"/>
            <a:ext cx="4593770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34D9081C-7B30-2DB5-4232-F8D0E7AECB8F}"/>
              </a:ext>
            </a:extLst>
          </p:cNvPr>
          <p:cNvSpPr/>
          <p:nvPr/>
        </p:nvSpPr>
        <p:spPr>
          <a:xfrm>
            <a:off x="2496312" y="4677224"/>
            <a:ext cx="381000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2D69BE-EC49-1CD6-9FAE-B3ADB8AC6164}"/>
              </a:ext>
            </a:extLst>
          </p:cNvPr>
          <p:cNvSpPr/>
          <p:nvPr/>
        </p:nvSpPr>
        <p:spPr>
          <a:xfrm>
            <a:off x="2877312" y="4285339"/>
            <a:ext cx="381000" cy="139337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E4F440-0F27-7F14-260C-39191C659B49}"/>
              </a:ext>
            </a:extLst>
          </p:cNvPr>
          <p:cNvSpPr/>
          <p:nvPr/>
        </p:nvSpPr>
        <p:spPr>
          <a:xfrm>
            <a:off x="3258312" y="4892044"/>
            <a:ext cx="381000" cy="78666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4D95EC-954C-B70E-60CB-53ED74DE6397}"/>
              </a:ext>
            </a:extLst>
          </p:cNvPr>
          <p:cNvSpPr/>
          <p:nvPr/>
        </p:nvSpPr>
        <p:spPr>
          <a:xfrm>
            <a:off x="3639312" y="4462272"/>
            <a:ext cx="381000" cy="121643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7982D0-D802-945B-BEC0-BB6F3525ACA3}"/>
              </a:ext>
            </a:extLst>
          </p:cNvPr>
          <p:cNvSpPr/>
          <p:nvPr/>
        </p:nvSpPr>
        <p:spPr>
          <a:xfrm>
            <a:off x="4020312" y="3871690"/>
            <a:ext cx="381000" cy="18070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EE46E4D-5ACB-6ECF-A135-C20222DE8AC2}"/>
              </a:ext>
            </a:extLst>
          </p:cNvPr>
          <p:cNvSpPr/>
          <p:nvPr/>
        </p:nvSpPr>
        <p:spPr>
          <a:xfrm>
            <a:off x="4401312" y="5079999"/>
            <a:ext cx="386442" cy="59871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047B3E-6EEA-A802-51E9-FDA1F514A5E8}"/>
              </a:ext>
            </a:extLst>
          </p:cNvPr>
          <p:cNvSpPr/>
          <p:nvPr/>
        </p:nvSpPr>
        <p:spPr>
          <a:xfrm>
            <a:off x="4787754" y="4677224"/>
            <a:ext cx="375558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220BECA-D2EA-A419-604C-E27D2452705F}"/>
              </a:ext>
            </a:extLst>
          </p:cNvPr>
          <p:cNvSpPr/>
          <p:nvPr/>
        </p:nvSpPr>
        <p:spPr>
          <a:xfrm>
            <a:off x="5168754" y="4285339"/>
            <a:ext cx="381000" cy="139337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70E8684-9E76-C7B3-82B2-78D1928AC22F}"/>
              </a:ext>
            </a:extLst>
          </p:cNvPr>
          <p:cNvSpPr/>
          <p:nvPr/>
        </p:nvSpPr>
        <p:spPr>
          <a:xfrm>
            <a:off x="5549754" y="5079999"/>
            <a:ext cx="381000" cy="59870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1FEA103-B20B-FED5-0F5D-4CF76AFEE267}"/>
              </a:ext>
            </a:extLst>
          </p:cNvPr>
          <p:cNvSpPr/>
          <p:nvPr/>
        </p:nvSpPr>
        <p:spPr>
          <a:xfrm>
            <a:off x="5930754" y="4677224"/>
            <a:ext cx="381000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86D3AC4-8B42-BA59-21A9-27AB35F7D9A6}"/>
              </a:ext>
            </a:extLst>
          </p:cNvPr>
          <p:cNvSpPr txBox="1"/>
          <p:nvPr/>
        </p:nvSpPr>
        <p:spPr>
          <a:xfrm>
            <a:off x="2496311" y="5765796"/>
            <a:ext cx="40712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Lato" panose="020F0502020204030203" pitchFamily="34" charset="0"/>
              </a:rPr>
              <a:t>1     2     3     4    5     6    7     8     9    10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702D432-52CF-2AE8-0750-E4A13DC9E0D2}"/>
              </a:ext>
            </a:extLst>
          </p:cNvPr>
          <p:cNvSpPr/>
          <p:nvPr/>
        </p:nvSpPr>
        <p:spPr>
          <a:xfrm>
            <a:off x="7321951" y="2881596"/>
            <a:ext cx="1373993" cy="280748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77AB091-3496-C689-27A5-E7E3D36701A8}"/>
              </a:ext>
            </a:extLst>
          </p:cNvPr>
          <p:cNvCxnSpPr>
            <a:cxnSpLocks/>
          </p:cNvCxnSpPr>
          <p:nvPr/>
        </p:nvCxnSpPr>
        <p:spPr>
          <a:xfrm flipV="1">
            <a:off x="4157472" y="6104350"/>
            <a:ext cx="0" cy="339312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1B647D10-7217-B06B-3593-639065FDF8FF}"/>
              </a:ext>
            </a:extLst>
          </p:cNvPr>
          <p:cNvSpPr/>
          <p:nvPr/>
        </p:nvSpPr>
        <p:spPr>
          <a:xfrm>
            <a:off x="7493507" y="5076802"/>
            <a:ext cx="1030879" cy="46039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Lato" panose="020F0502020204030203" pitchFamily="34" charset="0"/>
              </a:rPr>
              <a:t>3</a:t>
            </a:r>
            <a:endParaRPr lang="vi-VN" sz="2400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FB65374-39DC-996E-5BA3-695BDEF6D67A}"/>
                  </a:ext>
                </a:extLst>
              </p:cNvPr>
              <p:cNvSpPr txBox="1"/>
              <p:nvPr/>
            </p:nvSpPr>
            <p:spPr>
              <a:xfrm>
                <a:off x="9171432" y="2478024"/>
                <a:ext cx="218236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sz="2400" dirty="0">
                  <a:latin typeface="Lato" panose="020F0502020204030203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vi-VN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FB65374-39DC-996E-5BA3-695BDEF6D6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1432" y="2478024"/>
                <a:ext cx="2182367" cy="8309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4723EBF8-3ED3-0D70-AB8E-95EB2DA67239}"/>
              </a:ext>
            </a:extLst>
          </p:cNvPr>
          <p:cNvSpPr/>
          <p:nvPr/>
        </p:nvSpPr>
        <p:spPr>
          <a:xfrm>
            <a:off x="7493506" y="4563289"/>
            <a:ext cx="1030879" cy="46039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Lato" panose="020F0502020204030203" pitchFamily="34" charset="0"/>
              </a:rPr>
              <a:t>4</a:t>
            </a:r>
            <a:endParaRPr lang="vi-VN" sz="2400" b="1" dirty="0">
              <a:solidFill>
                <a:srgbClr val="C00000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428034F-D6F0-B844-4BF9-238C2BE8E1B1}"/>
              </a:ext>
            </a:extLst>
          </p:cNvPr>
          <p:cNvSpPr/>
          <p:nvPr/>
        </p:nvSpPr>
        <p:spPr>
          <a:xfrm>
            <a:off x="7493506" y="4049776"/>
            <a:ext cx="1030879" cy="46039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Lato" panose="020F0502020204030203" pitchFamily="34" charset="0"/>
              </a:rPr>
              <a:t>5</a:t>
            </a:r>
            <a:endParaRPr lang="vi-VN" sz="2400" b="1" dirty="0">
              <a:solidFill>
                <a:srgbClr val="C00000"/>
              </a:solidFill>
            </a:endParaRPr>
          </a:p>
        </p:txBody>
      </p:sp>
      <p:sp>
        <p:nvSpPr>
          <p:cNvPr id="20" name="Title 4">
            <a:extLst>
              <a:ext uri="{FF2B5EF4-FFF2-40B4-BE49-F238E27FC236}">
                <a16:creationId xmlns:a16="http://schemas.microsoft.com/office/drawing/2014/main" id="{FF97DFB8-6410-8F51-B2A0-3D24F407B7B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Method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9988926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0">
          <a:extLst>
            <a:ext uri="{FF2B5EF4-FFF2-40B4-BE49-F238E27FC236}">
              <a16:creationId xmlns:a16="http://schemas.microsoft.com/office/drawing/2014/main" id="{F995DEA5-8444-1E5D-0171-513E32C4B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F5DE68B-B1BC-71F9-D349-CD4AA8C27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E36D82-F772-52DE-749C-B9B85B0FC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4">
                <a:extLst>
                  <a:ext uri="{FF2B5EF4-FFF2-40B4-BE49-F238E27FC236}">
                    <a16:creationId xmlns:a16="http://schemas.microsoft.com/office/drawing/2014/main" id="{2D8C987E-CD13-45C4-5B97-48F2C0CEB6F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388533"/>
                <a:ext cx="6483751" cy="209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 fontScale="92500" lnSpcReduction="10000"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114300" marR="0" lvl="0" indent="0" algn="l" rtl="0" eaLnBrk="1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  <a:defRPr sz="2400" b="0" i="0" u="none" strike="noStrike" cap="none">
                    <a:solidFill>
                      <a:schemeClr val="dk1"/>
                    </a:solidFill>
                    <a:latin typeface="+mj-lt"/>
                    <a:ea typeface="Calibri"/>
                    <a:cs typeface="Calibri"/>
                    <a:sym typeface="Calibri"/>
                  </a:defRPr>
                </a:lvl1pPr>
                <a:lvl2pPr marL="914400" marR="0" lvl="1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4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marL="1371600" marR="0" lvl="2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marL="1828800" marR="0" lvl="3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marL="2286000" marR="0" lvl="4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marL="2743200" marR="0" lvl="5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marL="342900" indent="-342900" algn="just">
                  <a:spcBef>
                    <a:spcPts val="0"/>
                  </a:spcBef>
                  <a:buFont typeface="Wingdings" panose="05000000000000000000" pitchFamily="2" charset="2"/>
                  <a:buChar char="Ø"/>
                </a:pPr>
                <a:r>
                  <a:rPr lang="en-US" dirty="0">
                    <a:solidFill>
                      <a:schemeClr val="tx1"/>
                    </a:solidFill>
                    <a:latin typeface="Lato" panose="020F0502020204030203" pitchFamily="34" charset="0"/>
                    <a:ea typeface="Arial"/>
                    <a:cs typeface="Arial"/>
                    <a:sym typeface="Arial"/>
                  </a:rPr>
                  <a:t>Solving histogram problem</a:t>
                </a: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Lato" panose="020F0502020204030203" pitchFamily="34" charset="0"/>
                    <a:sym typeface="Consolas"/>
                  </a:rPr>
                  <a:t>Compute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𝑅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]</m:t>
                    </m:r>
                  </m:oMath>
                </a14:m>
                <a:r>
                  <a:rPr lang="en-US" dirty="0">
                    <a:latin typeface="Lato" panose="020F0502020204030203" pitchFamily="34" charset="0"/>
                    <a:sym typeface="Consolas"/>
                  </a:rPr>
                  <a:t>: </a:t>
                </a:r>
              </a:p>
              <a:p>
                <a:pPr lvl="1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Lato" panose="020F0502020204030203" pitchFamily="34" charset="0"/>
                    <a:sym typeface="Consolas"/>
                  </a:rPr>
                  <a:t>For each column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</m:oMath>
                </a14:m>
                <a:r>
                  <a:rPr lang="en-US" dirty="0">
                    <a:latin typeface="Lato" panose="020F0502020204030203" pitchFamily="34" charset="0"/>
                    <a:sym typeface="Consolas"/>
                  </a:rPr>
                  <a:t>:</a:t>
                </a:r>
              </a:p>
              <a:p>
                <a:pPr marL="1143000" lvl="1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Lato" panose="020F0502020204030203" pitchFamily="34" charset="0"/>
                    <a:sym typeface="Consolas"/>
                  </a:rPr>
                  <a:t>while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] &lt; 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.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𝑡𝑜𝑝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] </m:t>
                    </m:r>
                  </m:oMath>
                </a14:m>
                <a:r>
                  <a:rPr lang="en-US" dirty="0">
                    <a:latin typeface="Lato" panose="020F0502020204030203" pitchFamily="34" charset="0"/>
                    <a:sym typeface="Consolas"/>
                  </a:rPr>
                  <a:t>do</a:t>
                </a:r>
              </a:p>
              <a:p>
                <a:pPr marL="1554480" lvl="2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pop an index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</m:oMath>
                </a14:m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 out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 (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 = 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.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𝑡𝑜𝑝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)</m:t>
                    </m:r>
                  </m:oMath>
                </a14:m>
                <a:endParaRPr lang="en-US" sz="2400" dirty="0">
                  <a:latin typeface="Lato" panose="020F0502020204030203" pitchFamily="34" charset="0"/>
                  <a:sym typeface="Consolas"/>
                </a:endParaRPr>
              </a:p>
              <a:p>
                <a:pPr marL="1600200" lvl="2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assign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𝑅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] =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 </m:t>
                    </m:r>
                  </m:oMath>
                </a14:m>
                <a:endParaRPr lang="en-US" sz="2400" dirty="0">
                  <a:latin typeface="Lato" panose="020F0502020204030203" pitchFamily="34" charset="0"/>
                  <a:sym typeface="Consolas"/>
                </a:endParaRPr>
              </a:p>
              <a:p>
                <a:pPr marL="1143000" lvl="2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Push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</m:oMath>
                </a14:m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 into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</m:oMath>
                </a14:m>
                <a:endParaRPr lang="en-US" sz="2400" dirty="0">
                  <a:latin typeface="Lato" panose="020F0502020204030203" pitchFamily="34" charset="0"/>
                  <a:sym typeface="Consolas"/>
                </a:endParaRP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sz="2400" dirty="0">
                  <a:latin typeface="Lato" panose="020F0502020204030203" pitchFamily="34" charset="0"/>
                </a:endParaRP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chemeClr val="tx1"/>
                  </a:solidFill>
                  <a:latin typeface="Lato" panose="020F0502020204030203" pitchFamily="34" charset="0"/>
                  <a:ea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7" name="Text Placeholder 4">
                <a:extLst>
                  <a:ext uri="{FF2B5EF4-FFF2-40B4-BE49-F238E27FC236}">
                    <a16:creationId xmlns:a16="http://schemas.microsoft.com/office/drawing/2014/main" id="{2D8C987E-CD13-45C4-5B97-48F2C0CEB6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388533"/>
                <a:ext cx="6483751" cy="2090055"/>
              </a:xfrm>
              <a:prstGeom prst="rect">
                <a:avLst/>
              </a:prstGeom>
              <a:blipFill>
                <a:blip r:embed="rId3"/>
                <a:stretch>
                  <a:fillRect l="-783" t="-54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2014403-6624-FF2C-C382-92B14B0E9C84}"/>
              </a:ext>
            </a:extLst>
          </p:cNvPr>
          <p:cNvCxnSpPr>
            <a:cxnSpLocks/>
          </p:cNvCxnSpPr>
          <p:nvPr/>
        </p:nvCxnSpPr>
        <p:spPr>
          <a:xfrm flipV="1">
            <a:off x="2147969" y="5678708"/>
            <a:ext cx="4593770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EE70C0D1-594D-93C2-B112-42CA451FFD55}"/>
              </a:ext>
            </a:extLst>
          </p:cNvPr>
          <p:cNvSpPr/>
          <p:nvPr/>
        </p:nvSpPr>
        <p:spPr>
          <a:xfrm>
            <a:off x="2496312" y="4677224"/>
            <a:ext cx="381000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D8183B-C4FD-6B34-825C-64D5455DAD76}"/>
              </a:ext>
            </a:extLst>
          </p:cNvPr>
          <p:cNvSpPr/>
          <p:nvPr/>
        </p:nvSpPr>
        <p:spPr>
          <a:xfrm>
            <a:off x="2877312" y="4285339"/>
            <a:ext cx="381000" cy="139337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B796BD-C631-5C90-A306-E1024ADE5FF9}"/>
              </a:ext>
            </a:extLst>
          </p:cNvPr>
          <p:cNvSpPr/>
          <p:nvPr/>
        </p:nvSpPr>
        <p:spPr>
          <a:xfrm>
            <a:off x="3258312" y="4892044"/>
            <a:ext cx="381000" cy="78666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7C5B8A-C5F2-0E20-39C1-816A7AF49900}"/>
              </a:ext>
            </a:extLst>
          </p:cNvPr>
          <p:cNvSpPr/>
          <p:nvPr/>
        </p:nvSpPr>
        <p:spPr>
          <a:xfrm>
            <a:off x="3639312" y="4462272"/>
            <a:ext cx="381000" cy="121643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38E164-620D-AF36-C76F-280DDB11C281}"/>
              </a:ext>
            </a:extLst>
          </p:cNvPr>
          <p:cNvSpPr/>
          <p:nvPr/>
        </p:nvSpPr>
        <p:spPr>
          <a:xfrm>
            <a:off x="4020312" y="3871690"/>
            <a:ext cx="381000" cy="18070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6DEDD49-FA6E-CECC-F4E2-9A1DB18E6EC0}"/>
              </a:ext>
            </a:extLst>
          </p:cNvPr>
          <p:cNvSpPr/>
          <p:nvPr/>
        </p:nvSpPr>
        <p:spPr>
          <a:xfrm>
            <a:off x="4401312" y="5079999"/>
            <a:ext cx="386442" cy="59871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02CE2B-2579-B49B-3E9D-1FF769C3020D}"/>
              </a:ext>
            </a:extLst>
          </p:cNvPr>
          <p:cNvSpPr/>
          <p:nvPr/>
        </p:nvSpPr>
        <p:spPr>
          <a:xfrm>
            <a:off x="4787754" y="4677224"/>
            <a:ext cx="375558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CCC8D97-3473-4E56-192B-4449E42670BA}"/>
              </a:ext>
            </a:extLst>
          </p:cNvPr>
          <p:cNvSpPr/>
          <p:nvPr/>
        </p:nvSpPr>
        <p:spPr>
          <a:xfrm>
            <a:off x="5168754" y="4285339"/>
            <a:ext cx="381000" cy="139337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495B1B-200E-7FD1-5D20-36B19296AD30}"/>
              </a:ext>
            </a:extLst>
          </p:cNvPr>
          <p:cNvSpPr/>
          <p:nvPr/>
        </p:nvSpPr>
        <p:spPr>
          <a:xfrm>
            <a:off x="5549754" y="5079999"/>
            <a:ext cx="381000" cy="59870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7C1F49F-CEDA-A0FF-A763-0AECEE917655}"/>
              </a:ext>
            </a:extLst>
          </p:cNvPr>
          <p:cNvSpPr/>
          <p:nvPr/>
        </p:nvSpPr>
        <p:spPr>
          <a:xfrm>
            <a:off x="5930754" y="4677224"/>
            <a:ext cx="381000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D7478D-8451-76AE-E78F-3B4FEAB91088}"/>
              </a:ext>
            </a:extLst>
          </p:cNvPr>
          <p:cNvSpPr txBox="1"/>
          <p:nvPr/>
        </p:nvSpPr>
        <p:spPr>
          <a:xfrm>
            <a:off x="2496311" y="5765796"/>
            <a:ext cx="40712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Lato" panose="020F0502020204030203" pitchFamily="34" charset="0"/>
              </a:rPr>
              <a:t>1     2     3     4    5     6    7     8     9    10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629F211-E24F-4C6F-D0FE-7EA0E202CBE3}"/>
              </a:ext>
            </a:extLst>
          </p:cNvPr>
          <p:cNvSpPr/>
          <p:nvPr/>
        </p:nvSpPr>
        <p:spPr>
          <a:xfrm>
            <a:off x="7321951" y="2881596"/>
            <a:ext cx="1373993" cy="280748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08FAEB2-BFCB-F7C3-3E4A-1E08ED688C2A}"/>
              </a:ext>
            </a:extLst>
          </p:cNvPr>
          <p:cNvCxnSpPr>
            <a:cxnSpLocks/>
          </p:cNvCxnSpPr>
          <p:nvPr/>
        </p:nvCxnSpPr>
        <p:spPr>
          <a:xfrm flipV="1">
            <a:off x="4587240" y="6104350"/>
            <a:ext cx="0" cy="339312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D4D522D6-2E32-3D22-1510-D984BDA2AF18}"/>
              </a:ext>
            </a:extLst>
          </p:cNvPr>
          <p:cNvSpPr/>
          <p:nvPr/>
        </p:nvSpPr>
        <p:spPr>
          <a:xfrm>
            <a:off x="7493507" y="5076802"/>
            <a:ext cx="1030879" cy="46039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Lato" panose="020F0502020204030203" pitchFamily="34" charset="0"/>
              </a:rPr>
              <a:t>3</a:t>
            </a:r>
            <a:endParaRPr lang="vi-VN" sz="2400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726D672-42A1-E27E-FF41-8F61F950CDDC}"/>
                  </a:ext>
                </a:extLst>
              </p:cNvPr>
              <p:cNvSpPr txBox="1"/>
              <p:nvPr/>
            </p:nvSpPr>
            <p:spPr>
              <a:xfrm>
                <a:off x="9171432" y="2478024"/>
                <a:ext cx="218236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sz="2400" dirty="0">
                  <a:latin typeface="Lato" panose="020F0502020204030203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vi-VN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726D672-42A1-E27E-FF41-8F61F950CD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1432" y="2478024"/>
                <a:ext cx="2182367" cy="8309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EE1C6933-8A8E-E44F-4F87-042E252B5273}"/>
              </a:ext>
            </a:extLst>
          </p:cNvPr>
          <p:cNvSpPr/>
          <p:nvPr/>
        </p:nvSpPr>
        <p:spPr>
          <a:xfrm>
            <a:off x="7493506" y="4563289"/>
            <a:ext cx="1030879" cy="46039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Lato" panose="020F0502020204030203" pitchFamily="34" charset="0"/>
              </a:rPr>
              <a:t>4</a:t>
            </a:r>
            <a:endParaRPr lang="vi-VN" sz="2400" b="1" dirty="0">
              <a:solidFill>
                <a:srgbClr val="C00000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7523B02-183E-E208-9DAC-232412E13B75}"/>
              </a:ext>
            </a:extLst>
          </p:cNvPr>
          <p:cNvSpPr/>
          <p:nvPr/>
        </p:nvSpPr>
        <p:spPr>
          <a:xfrm>
            <a:off x="7493506" y="4049776"/>
            <a:ext cx="1030879" cy="46039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Lato" panose="020F0502020204030203" pitchFamily="34" charset="0"/>
              </a:rPr>
              <a:t>5</a:t>
            </a:r>
            <a:endParaRPr lang="vi-VN" sz="2400" b="1" dirty="0">
              <a:solidFill>
                <a:srgbClr val="C00000"/>
              </a:solidFill>
            </a:endParaRPr>
          </a:p>
        </p:txBody>
      </p:sp>
      <p:sp>
        <p:nvSpPr>
          <p:cNvPr id="20" name="Title 4">
            <a:extLst>
              <a:ext uri="{FF2B5EF4-FFF2-40B4-BE49-F238E27FC236}">
                <a16:creationId xmlns:a16="http://schemas.microsoft.com/office/drawing/2014/main" id="{AF613AFC-F9A4-2261-5A79-93A0302EF3D6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Method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03803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0">
          <a:extLst>
            <a:ext uri="{FF2B5EF4-FFF2-40B4-BE49-F238E27FC236}">
              <a16:creationId xmlns:a16="http://schemas.microsoft.com/office/drawing/2014/main" id="{7670720D-1F23-C160-89C0-EFDBB78B9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E77A635-D81C-00EA-0C59-9D989E353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60C66F-90D1-A046-16AC-36A9C5557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20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4">
                <a:extLst>
                  <a:ext uri="{FF2B5EF4-FFF2-40B4-BE49-F238E27FC236}">
                    <a16:creationId xmlns:a16="http://schemas.microsoft.com/office/drawing/2014/main" id="{FB54E6F4-5F15-7AB9-AABA-D3E473BAD90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388533"/>
                <a:ext cx="6483751" cy="209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 fontScale="92500" lnSpcReduction="10000"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114300" marR="0" lvl="0" indent="0" algn="l" rtl="0" eaLnBrk="1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  <a:defRPr sz="2400" b="0" i="0" u="none" strike="noStrike" cap="none">
                    <a:solidFill>
                      <a:schemeClr val="dk1"/>
                    </a:solidFill>
                    <a:latin typeface="+mj-lt"/>
                    <a:ea typeface="Calibri"/>
                    <a:cs typeface="Calibri"/>
                    <a:sym typeface="Calibri"/>
                  </a:defRPr>
                </a:lvl1pPr>
                <a:lvl2pPr marL="914400" marR="0" lvl="1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4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marL="1371600" marR="0" lvl="2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marL="1828800" marR="0" lvl="3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marL="2286000" marR="0" lvl="4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marL="2743200" marR="0" lvl="5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marL="342900" indent="-342900" algn="just">
                  <a:spcBef>
                    <a:spcPts val="0"/>
                  </a:spcBef>
                  <a:buFont typeface="Wingdings" panose="05000000000000000000" pitchFamily="2" charset="2"/>
                  <a:buChar char="Ø"/>
                </a:pPr>
                <a:r>
                  <a:rPr lang="en-US" dirty="0">
                    <a:solidFill>
                      <a:schemeClr val="tx1"/>
                    </a:solidFill>
                    <a:latin typeface="Lato" panose="020F0502020204030203" pitchFamily="34" charset="0"/>
                    <a:ea typeface="Arial"/>
                    <a:cs typeface="Arial"/>
                    <a:sym typeface="Arial"/>
                  </a:rPr>
                  <a:t>Solving histogram problem</a:t>
                </a: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Lato" panose="020F0502020204030203" pitchFamily="34" charset="0"/>
                    <a:sym typeface="Consolas"/>
                  </a:rPr>
                  <a:t>Compute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𝑅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]</m:t>
                    </m:r>
                  </m:oMath>
                </a14:m>
                <a:r>
                  <a:rPr lang="en-US" dirty="0">
                    <a:latin typeface="Lato" panose="020F0502020204030203" pitchFamily="34" charset="0"/>
                    <a:sym typeface="Consolas"/>
                  </a:rPr>
                  <a:t>: </a:t>
                </a:r>
              </a:p>
              <a:p>
                <a:pPr lvl="1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Lato" panose="020F0502020204030203" pitchFamily="34" charset="0"/>
                    <a:sym typeface="Consolas"/>
                  </a:rPr>
                  <a:t>For each column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</m:oMath>
                </a14:m>
                <a:r>
                  <a:rPr lang="en-US" dirty="0">
                    <a:latin typeface="Lato" panose="020F0502020204030203" pitchFamily="34" charset="0"/>
                    <a:sym typeface="Consolas"/>
                  </a:rPr>
                  <a:t>:</a:t>
                </a:r>
              </a:p>
              <a:p>
                <a:pPr marL="1143000" lvl="1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Lato" panose="020F0502020204030203" pitchFamily="34" charset="0"/>
                    <a:sym typeface="Consolas"/>
                  </a:rPr>
                  <a:t>while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] &lt; 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.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𝑡𝑜𝑝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] </m:t>
                    </m:r>
                  </m:oMath>
                </a14:m>
                <a:r>
                  <a:rPr lang="en-US" dirty="0">
                    <a:latin typeface="Lato" panose="020F0502020204030203" pitchFamily="34" charset="0"/>
                    <a:sym typeface="Consolas"/>
                  </a:rPr>
                  <a:t>do</a:t>
                </a:r>
              </a:p>
              <a:p>
                <a:pPr marL="1554480" lvl="2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pop an index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</m:oMath>
                </a14:m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 out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 (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 = 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.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𝑡𝑜𝑝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)</m:t>
                    </m:r>
                  </m:oMath>
                </a14:m>
                <a:endParaRPr lang="en-US" sz="2400" dirty="0">
                  <a:latin typeface="Lato" panose="020F0502020204030203" pitchFamily="34" charset="0"/>
                  <a:sym typeface="Consolas"/>
                </a:endParaRPr>
              </a:p>
              <a:p>
                <a:pPr marL="1600200" lvl="2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assign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𝑅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] =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 </m:t>
                    </m:r>
                  </m:oMath>
                </a14:m>
                <a:endParaRPr lang="en-US" sz="2400" dirty="0">
                  <a:latin typeface="Lato" panose="020F0502020204030203" pitchFamily="34" charset="0"/>
                  <a:sym typeface="Consolas"/>
                </a:endParaRPr>
              </a:p>
              <a:p>
                <a:pPr marL="1143000" lvl="2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Push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</m:oMath>
                </a14:m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 into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</m:oMath>
                </a14:m>
                <a:endParaRPr lang="en-US" sz="2400" dirty="0">
                  <a:latin typeface="Lato" panose="020F0502020204030203" pitchFamily="34" charset="0"/>
                  <a:sym typeface="Consolas"/>
                </a:endParaRP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sz="2400" dirty="0">
                  <a:latin typeface="Lato" panose="020F0502020204030203" pitchFamily="34" charset="0"/>
                </a:endParaRP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chemeClr val="tx1"/>
                  </a:solidFill>
                  <a:latin typeface="Lato" panose="020F0502020204030203" pitchFamily="34" charset="0"/>
                  <a:ea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7" name="Text Placeholder 4">
                <a:extLst>
                  <a:ext uri="{FF2B5EF4-FFF2-40B4-BE49-F238E27FC236}">
                    <a16:creationId xmlns:a16="http://schemas.microsoft.com/office/drawing/2014/main" id="{FB54E6F4-5F15-7AB9-AABA-D3E473BAD9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388533"/>
                <a:ext cx="6483751" cy="2090055"/>
              </a:xfrm>
              <a:prstGeom prst="rect">
                <a:avLst/>
              </a:prstGeom>
              <a:blipFill>
                <a:blip r:embed="rId3"/>
                <a:stretch>
                  <a:fillRect l="-783" t="-54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40F673A-79DA-43E8-EBA1-60D9B93A620C}"/>
              </a:ext>
            </a:extLst>
          </p:cNvPr>
          <p:cNvCxnSpPr>
            <a:cxnSpLocks/>
          </p:cNvCxnSpPr>
          <p:nvPr/>
        </p:nvCxnSpPr>
        <p:spPr>
          <a:xfrm flipV="1">
            <a:off x="2147969" y="5678708"/>
            <a:ext cx="4593770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F044AAB4-2DD8-CE8D-E69D-AA4EB790F061}"/>
              </a:ext>
            </a:extLst>
          </p:cNvPr>
          <p:cNvSpPr/>
          <p:nvPr/>
        </p:nvSpPr>
        <p:spPr>
          <a:xfrm>
            <a:off x="2496312" y="4677224"/>
            <a:ext cx="381000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32157B-DAE0-8CD6-070A-CCFBDA489A8E}"/>
              </a:ext>
            </a:extLst>
          </p:cNvPr>
          <p:cNvSpPr/>
          <p:nvPr/>
        </p:nvSpPr>
        <p:spPr>
          <a:xfrm>
            <a:off x="2877312" y="4285339"/>
            <a:ext cx="381000" cy="139337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F5F5E6-F003-F95E-8A18-427342AE9237}"/>
              </a:ext>
            </a:extLst>
          </p:cNvPr>
          <p:cNvSpPr/>
          <p:nvPr/>
        </p:nvSpPr>
        <p:spPr>
          <a:xfrm>
            <a:off x="3258312" y="4892044"/>
            <a:ext cx="381000" cy="78666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B38FB5-8411-4FF1-D74F-C19F35C4A78A}"/>
              </a:ext>
            </a:extLst>
          </p:cNvPr>
          <p:cNvSpPr/>
          <p:nvPr/>
        </p:nvSpPr>
        <p:spPr>
          <a:xfrm>
            <a:off x="3639312" y="4462272"/>
            <a:ext cx="381000" cy="121643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3EDD92A-A1B6-C635-8D73-6DF5A87E1B30}"/>
              </a:ext>
            </a:extLst>
          </p:cNvPr>
          <p:cNvSpPr/>
          <p:nvPr/>
        </p:nvSpPr>
        <p:spPr>
          <a:xfrm>
            <a:off x="4020312" y="3871690"/>
            <a:ext cx="381000" cy="18070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C50BC5B-8FEF-CCFA-28C7-5D989FD450F0}"/>
              </a:ext>
            </a:extLst>
          </p:cNvPr>
          <p:cNvSpPr/>
          <p:nvPr/>
        </p:nvSpPr>
        <p:spPr>
          <a:xfrm>
            <a:off x="4401312" y="5079999"/>
            <a:ext cx="386442" cy="59871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31CBF2-169C-BCCC-48BD-105527647ECA}"/>
              </a:ext>
            </a:extLst>
          </p:cNvPr>
          <p:cNvSpPr/>
          <p:nvPr/>
        </p:nvSpPr>
        <p:spPr>
          <a:xfrm>
            <a:off x="4787754" y="4677224"/>
            <a:ext cx="375558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05E44F2-FFC9-3089-4DB2-B32C3C73F8CA}"/>
              </a:ext>
            </a:extLst>
          </p:cNvPr>
          <p:cNvSpPr/>
          <p:nvPr/>
        </p:nvSpPr>
        <p:spPr>
          <a:xfrm>
            <a:off x="5168754" y="4285339"/>
            <a:ext cx="381000" cy="139337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18EB1-F31B-20E9-2F14-861A28E8B857}"/>
              </a:ext>
            </a:extLst>
          </p:cNvPr>
          <p:cNvSpPr/>
          <p:nvPr/>
        </p:nvSpPr>
        <p:spPr>
          <a:xfrm>
            <a:off x="5549754" y="5079999"/>
            <a:ext cx="381000" cy="59870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1E94728-0A2E-8C1F-2FE0-3BE8DF831DC8}"/>
              </a:ext>
            </a:extLst>
          </p:cNvPr>
          <p:cNvSpPr/>
          <p:nvPr/>
        </p:nvSpPr>
        <p:spPr>
          <a:xfrm>
            <a:off x="5930754" y="4677224"/>
            <a:ext cx="381000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A73BDB8-9AB2-1B7C-6E52-087F47B5A409}"/>
              </a:ext>
            </a:extLst>
          </p:cNvPr>
          <p:cNvSpPr txBox="1"/>
          <p:nvPr/>
        </p:nvSpPr>
        <p:spPr>
          <a:xfrm>
            <a:off x="2496311" y="5765796"/>
            <a:ext cx="40712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Lato" panose="020F0502020204030203" pitchFamily="34" charset="0"/>
              </a:rPr>
              <a:t>1     2     3     4    5     6    7     8     9    10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DF40999-6777-1916-0843-62DE2B61F31F}"/>
              </a:ext>
            </a:extLst>
          </p:cNvPr>
          <p:cNvSpPr/>
          <p:nvPr/>
        </p:nvSpPr>
        <p:spPr>
          <a:xfrm>
            <a:off x="7321951" y="2881596"/>
            <a:ext cx="1373993" cy="280748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A081388-EB47-1D3C-4E3A-517DE64CB90F}"/>
              </a:ext>
            </a:extLst>
          </p:cNvPr>
          <p:cNvSpPr/>
          <p:nvPr/>
        </p:nvSpPr>
        <p:spPr>
          <a:xfrm>
            <a:off x="7493507" y="5076802"/>
            <a:ext cx="1030879" cy="46039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Lato" panose="020F0502020204030203" pitchFamily="34" charset="0"/>
              </a:rPr>
              <a:t>3</a:t>
            </a:r>
            <a:endParaRPr lang="vi-VN" sz="2400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E16D741-9671-6AD5-7CB3-A5F410701280}"/>
                  </a:ext>
                </a:extLst>
              </p:cNvPr>
              <p:cNvSpPr txBox="1"/>
              <p:nvPr/>
            </p:nvSpPr>
            <p:spPr>
              <a:xfrm>
                <a:off x="9171432" y="2478024"/>
                <a:ext cx="218236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sz="2400" dirty="0">
                  <a:latin typeface="Lato" panose="020F0502020204030203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sz="2400" dirty="0">
                  <a:latin typeface="Lato" panose="020F0502020204030203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vi-VN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E16D741-9671-6AD5-7CB3-A5F4107012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1432" y="2478024"/>
                <a:ext cx="2182367" cy="120032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6B107154-56AB-D2BC-83C2-82C029A81864}"/>
              </a:ext>
            </a:extLst>
          </p:cNvPr>
          <p:cNvSpPr/>
          <p:nvPr/>
        </p:nvSpPr>
        <p:spPr>
          <a:xfrm>
            <a:off x="7493506" y="4563289"/>
            <a:ext cx="1030879" cy="46039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Lato" panose="020F0502020204030203" pitchFamily="34" charset="0"/>
              </a:rPr>
              <a:t>4</a:t>
            </a:r>
            <a:endParaRPr lang="vi-VN" sz="2400" b="1" dirty="0">
              <a:solidFill>
                <a:srgbClr val="C00000"/>
              </a:solidFill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4810C40-E825-3408-CC6A-B516F4802845}"/>
              </a:ext>
            </a:extLst>
          </p:cNvPr>
          <p:cNvCxnSpPr>
            <a:cxnSpLocks/>
          </p:cNvCxnSpPr>
          <p:nvPr/>
        </p:nvCxnSpPr>
        <p:spPr>
          <a:xfrm flipV="1">
            <a:off x="4587240" y="6104350"/>
            <a:ext cx="0" cy="339312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itle 4">
            <a:extLst>
              <a:ext uri="{FF2B5EF4-FFF2-40B4-BE49-F238E27FC236}">
                <a16:creationId xmlns:a16="http://schemas.microsoft.com/office/drawing/2014/main" id="{4C88F626-9EAF-64D8-2975-4FEC77CA726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Method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9721346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0">
          <a:extLst>
            <a:ext uri="{FF2B5EF4-FFF2-40B4-BE49-F238E27FC236}">
              <a16:creationId xmlns:a16="http://schemas.microsoft.com/office/drawing/2014/main" id="{6EF39C1D-DFAE-7F4D-70B2-E278F2B69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E69C808-8EFD-0766-2371-2DD08121D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D61800-3DAB-5D66-CAC4-2B571C863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4">
                <a:extLst>
                  <a:ext uri="{FF2B5EF4-FFF2-40B4-BE49-F238E27FC236}">
                    <a16:creationId xmlns:a16="http://schemas.microsoft.com/office/drawing/2014/main" id="{37D293BB-818C-1B60-5AB1-0821F99D16D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388533"/>
                <a:ext cx="6483751" cy="209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 fontScale="92500" lnSpcReduction="10000"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114300" marR="0" lvl="0" indent="0" algn="l" rtl="0" eaLnBrk="1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  <a:defRPr sz="2400" b="0" i="0" u="none" strike="noStrike" cap="none">
                    <a:solidFill>
                      <a:schemeClr val="dk1"/>
                    </a:solidFill>
                    <a:latin typeface="+mj-lt"/>
                    <a:ea typeface="Calibri"/>
                    <a:cs typeface="Calibri"/>
                    <a:sym typeface="Calibri"/>
                  </a:defRPr>
                </a:lvl1pPr>
                <a:lvl2pPr marL="914400" marR="0" lvl="1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4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marL="1371600" marR="0" lvl="2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marL="1828800" marR="0" lvl="3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marL="2286000" marR="0" lvl="4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marL="2743200" marR="0" lvl="5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marL="342900" indent="-342900" algn="just">
                  <a:spcBef>
                    <a:spcPts val="0"/>
                  </a:spcBef>
                  <a:buFont typeface="Wingdings" panose="05000000000000000000" pitchFamily="2" charset="2"/>
                  <a:buChar char="Ø"/>
                </a:pPr>
                <a:r>
                  <a:rPr lang="en-US" dirty="0">
                    <a:solidFill>
                      <a:schemeClr val="tx1"/>
                    </a:solidFill>
                    <a:latin typeface="Lato" panose="020F0502020204030203" pitchFamily="34" charset="0"/>
                    <a:ea typeface="Arial"/>
                    <a:cs typeface="Arial"/>
                    <a:sym typeface="Arial"/>
                  </a:rPr>
                  <a:t>Solving histogram problem</a:t>
                </a: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Lato" panose="020F0502020204030203" pitchFamily="34" charset="0"/>
                    <a:sym typeface="Consolas"/>
                  </a:rPr>
                  <a:t>Compute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𝑅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]</m:t>
                    </m:r>
                  </m:oMath>
                </a14:m>
                <a:r>
                  <a:rPr lang="en-US" dirty="0">
                    <a:latin typeface="Lato" panose="020F0502020204030203" pitchFamily="34" charset="0"/>
                    <a:sym typeface="Consolas"/>
                  </a:rPr>
                  <a:t>: </a:t>
                </a:r>
              </a:p>
              <a:p>
                <a:pPr lvl="1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Lato" panose="020F0502020204030203" pitchFamily="34" charset="0"/>
                    <a:sym typeface="Consolas"/>
                  </a:rPr>
                  <a:t>For each column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</m:oMath>
                </a14:m>
                <a:r>
                  <a:rPr lang="en-US" dirty="0">
                    <a:latin typeface="Lato" panose="020F0502020204030203" pitchFamily="34" charset="0"/>
                    <a:sym typeface="Consolas"/>
                  </a:rPr>
                  <a:t>:</a:t>
                </a:r>
              </a:p>
              <a:p>
                <a:pPr marL="1143000" lvl="1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Lato" panose="020F0502020204030203" pitchFamily="34" charset="0"/>
                    <a:sym typeface="Consolas"/>
                  </a:rPr>
                  <a:t>while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] &lt; 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.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𝑡𝑜𝑝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] </m:t>
                    </m:r>
                  </m:oMath>
                </a14:m>
                <a:r>
                  <a:rPr lang="en-US" dirty="0">
                    <a:latin typeface="Lato" panose="020F0502020204030203" pitchFamily="34" charset="0"/>
                    <a:sym typeface="Consolas"/>
                  </a:rPr>
                  <a:t>do</a:t>
                </a:r>
              </a:p>
              <a:p>
                <a:pPr marL="1554480" lvl="2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pop an index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</m:oMath>
                </a14:m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 out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 (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 = 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.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𝑡𝑜𝑝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)</m:t>
                    </m:r>
                  </m:oMath>
                </a14:m>
                <a:endParaRPr lang="en-US" sz="2400" dirty="0">
                  <a:latin typeface="Lato" panose="020F0502020204030203" pitchFamily="34" charset="0"/>
                  <a:sym typeface="Consolas"/>
                </a:endParaRPr>
              </a:p>
              <a:p>
                <a:pPr marL="1600200" lvl="2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assign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𝑅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] =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 </m:t>
                    </m:r>
                  </m:oMath>
                </a14:m>
                <a:endParaRPr lang="en-US" sz="2400" dirty="0">
                  <a:latin typeface="Lato" panose="020F0502020204030203" pitchFamily="34" charset="0"/>
                  <a:sym typeface="Consolas"/>
                </a:endParaRPr>
              </a:p>
              <a:p>
                <a:pPr marL="1143000" lvl="2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Push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</m:oMath>
                </a14:m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 into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</m:oMath>
                </a14:m>
                <a:endParaRPr lang="en-US" sz="2400" dirty="0">
                  <a:latin typeface="Lato" panose="020F0502020204030203" pitchFamily="34" charset="0"/>
                  <a:sym typeface="Consolas"/>
                </a:endParaRP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sz="2400" dirty="0">
                  <a:latin typeface="Lato" panose="020F0502020204030203" pitchFamily="34" charset="0"/>
                </a:endParaRP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chemeClr val="tx1"/>
                  </a:solidFill>
                  <a:latin typeface="Lato" panose="020F0502020204030203" pitchFamily="34" charset="0"/>
                  <a:ea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7" name="Text Placeholder 4">
                <a:extLst>
                  <a:ext uri="{FF2B5EF4-FFF2-40B4-BE49-F238E27FC236}">
                    <a16:creationId xmlns:a16="http://schemas.microsoft.com/office/drawing/2014/main" id="{37D293BB-818C-1B60-5AB1-0821F99D16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388533"/>
                <a:ext cx="6483751" cy="2090055"/>
              </a:xfrm>
              <a:prstGeom prst="rect">
                <a:avLst/>
              </a:prstGeom>
              <a:blipFill>
                <a:blip r:embed="rId3"/>
                <a:stretch>
                  <a:fillRect l="-783" t="-54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2DD6BD0-BB10-9FA1-2E9E-3B3C71432BAD}"/>
              </a:ext>
            </a:extLst>
          </p:cNvPr>
          <p:cNvCxnSpPr>
            <a:cxnSpLocks/>
          </p:cNvCxnSpPr>
          <p:nvPr/>
        </p:nvCxnSpPr>
        <p:spPr>
          <a:xfrm flipV="1">
            <a:off x="2147969" y="5678708"/>
            <a:ext cx="4593770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4DE6B04E-0A04-B02F-D670-A74C64809945}"/>
              </a:ext>
            </a:extLst>
          </p:cNvPr>
          <p:cNvSpPr/>
          <p:nvPr/>
        </p:nvSpPr>
        <p:spPr>
          <a:xfrm>
            <a:off x="2496312" y="4677224"/>
            <a:ext cx="381000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2DB854-CD49-8D7E-A6F2-65887DD9B739}"/>
              </a:ext>
            </a:extLst>
          </p:cNvPr>
          <p:cNvSpPr/>
          <p:nvPr/>
        </p:nvSpPr>
        <p:spPr>
          <a:xfrm>
            <a:off x="2877312" y="4285339"/>
            <a:ext cx="381000" cy="139337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D76141-878F-431C-4866-E833ED00917B}"/>
              </a:ext>
            </a:extLst>
          </p:cNvPr>
          <p:cNvSpPr/>
          <p:nvPr/>
        </p:nvSpPr>
        <p:spPr>
          <a:xfrm>
            <a:off x="3258312" y="4892044"/>
            <a:ext cx="381000" cy="78666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414302-8247-F75F-029C-D84E3E0CDAB0}"/>
              </a:ext>
            </a:extLst>
          </p:cNvPr>
          <p:cNvSpPr/>
          <p:nvPr/>
        </p:nvSpPr>
        <p:spPr>
          <a:xfrm>
            <a:off x="3639312" y="4462272"/>
            <a:ext cx="381000" cy="121643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E913DE-EF99-0C2E-31C9-7335679E601C}"/>
              </a:ext>
            </a:extLst>
          </p:cNvPr>
          <p:cNvSpPr/>
          <p:nvPr/>
        </p:nvSpPr>
        <p:spPr>
          <a:xfrm>
            <a:off x="4020312" y="3871690"/>
            <a:ext cx="381000" cy="18070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072C7E-0A03-E086-BEBE-D7BCF79894E7}"/>
              </a:ext>
            </a:extLst>
          </p:cNvPr>
          <p:cNvSpPr/>
          <p:nvPr/>
        </p:nvSpPr>
        <p:spPr>
          <a:xfrm>
            <a:off x="4401312" y="5079999"/>
            <a:ext cx="386442" cy="59871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C5ED9B-FAFE-1511-A7F0-0A79A67AFD11}"/>
              </a:ext>
            </a:extLst>
          </p:cNvPr>
          <p:cNvSpPr/>
          <p:nvPr/>
        </p:nvSpPr>
        <p:spPr>
          <a:xfrm>
            <a:off x="4787754" y="4677224"/>
            <a:ext cx="375558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DFC7041-3B9B-4F92-BE4E-A461C6100ED0}"/>
              </a:ext>
            </a:extLst>
          </p:cNvPr>
          <p:cNvSpPr/>
          <p:nvPr/>
        </p:nvSpPr>
        <p:spPr>
          <a:xfrm>
            <a:off x="5168754" y="4285339"/>
            <a:ext cx="381000" cy="139337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DC0BCD8-438B-30D1-3C5A-A3F33B6F043B}"/>
              </a:ext>
            </a:extLst>
          </p:cNvPr>
          <p:cNvSpPr/>
          <p:nvPr/>
        </p:nvSpPr>
        <p:spPr>
          <a:xfrm>
            <a:off x="5549754" y="5079999"/>
            <a:ext cx="381000" cy="59870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FF0FA95-E228-9724-7E46-B87E0A39F081}"/>
              </a:ext>
            </a:extLst>
          </p:cNvPr>
          <p:cNvSpPr/>
          <p:nvPr/>
        </p:nvSpPr>
        <p:spPr>
          <a:xfrm>
            <a:off x="5930754" y="4677224"/>
            <a:ext cx="381000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C50D1B1-39D1-C18F-E318-72F2758F74F0}"/>
              </a:ext>
            </a:extLst>
          </p:cNvPr>
          <p:cNvSpPr txBox="1"/>
          <p:nvPr/>
        </p:nvSpPr>
        <p:spPr>
          <a:xfrm>
            <a:off x="2496311" y="5765796"/>
            <a:ext cx="40712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Lato" panose="020F0502020204030203" pitchFamily="34" charset="0"/>
              </a:rPr>
              <a:t>1     2     3     4    5     6    7     8     9    10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CDF6AF3-B4B6-85E0-791C-AA9CD16B6A60}"/>
              </a:ext>
            </a:extLst>
          </p:cNvPr>
          <p:cNvSpPr/>
          <p:nvPr/>
        </p:nvSpPr>
        <p:spPr>
          <a:xfrm>
            <a:off x="7321951" y="2881596"/>
            <a:ext cx="1373993" cy="280748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7413372-9149-06F0-5D57-7564E8CEA986}"/>
              </a:ext>
            </a:extLst>
          </p:cNvPr>
          <p:cNvSpPr/>
          <p:nvPr/>
        </p:nvSpPr>
        <p:spPr>
          <a:xfrm>
            <a:off x="7493507" y="5076802"/>
            <a:ext cx="1030879" cy="46039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Lato" panose="020F0502020204030203" pitchFamily="34" charset="0"/>
              </a:rPr>
              <a:t>3</a:t>
            </a:r>
            <a:endParaRPr lang="vi-VN" sz="2400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B675E0E-870D-0568-4872-2548159C80AD}"/>
                  </a:ext>
                </a:extLst>
              </p:cNvPr>
              <p:cNvSpPr txBox="1"/>
              <p:nvPr/>
            </p:nvSpPr>
            <p:spPr>
              <a:xfrm>
                <a:off x="9171432" y="2478024"/>
                <a:ext cx="2182367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sz="2400" dirty="0">
                  <a:latin typeface="Lato" panose="020F0502020204030203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sz="2400" dirty="0">
                  <a:latin typeface="Lato" panose="020F0502020204030203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US" sz="2400" dirty="0">
                  <a:latin typeface="Lato" panose="020F0502020204030203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vi-VN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B675E0E-870D-0568-4872-2548159C80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1432" y="2478024"/>
                <a:ext cx="2182367" cy="15696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1F7CCE8-8E9C-A142-E025-7792456E01B8}"/>
              </a:ext>
            </a:extLst>
          </p:cNvPr>
          <p:cNvCxnSpPr>
            <a:cxnSpLocks/>
          </p:cNvCxnSpPr>
          <p:nvPr/>
        </p:nvCxnSpPr>
        <p:spPr>
          <a:xfrm flipV="1">
            <a:off x="4587240" y="6104350"/>
            <a:ext cx="0" cy="339312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4">
            <a:extLst>
              <a:ext uri="{FF2B5EF4-FFF2-40B4-BE49-F238E27FC236}">
                <a16:creationId xmlns:a16="http://schemas.microsoft.com/office/drawing/2014/main" id="{B0C6C02F-EC43-5239-8BB1-AF4567783924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Method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5925310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0">
          <a:extLst>
            <a:ext uri="{FF2B5EF4-FFF2-40B4-BE49-F238E27FC236}">
              <a16:creationId xmlns:a16="http://schemas.microsoft.com/office/drawing/2014/main" id="{530DF10F-0A7D-1BCE-E685-F3F5EEAE7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0A6B800-5BCB-78F3-27EE-D9AD80B79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A40E1-6877-5F39-E58C-B28B5629F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22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4">
                <a:extLst>
                  <a:ext uri="{FF2B5EF4-FFF2-40B4-BE49-F238E27FC236}">
                    <a16:creationId xmlns:a16="http://schemas.microsoft.com/office/drawing/2014/main" id="{CD4B4363-9D62-670A-A120-BD07938B458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388533"/>
                <a:ext cx="6483751" cy="49848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114300" marR="0" lvl="0" indent="0" algn="l" rtl="0" eaLnBrk="1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  <a:defRPr sz="2400" b="0" i="0" u="none" strike="noStrike" cap="none">
                    <a:solidFill>
                      <a:schemeClr val="dk1"/>
                    </a:solidFill>
                    <a:latin typeface="+mj-lt"/>
                    <a:ea typeface="Calibri"/>
                    <a:cs typeface="Calibri"/>
                    <a:sym typeface="Calibri"/>
                  </a:defRPr>
                </a:lvl1pPr>
                <a:lvl2pPr marL="914400" marR="0" lvl="1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4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marL="1371600" marR="0" lvl="2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marL="1828800" marR="0" lvl="3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marL="2286000" marR="0" lvl="4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marL="2743200" marR="0" lvl="5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marL="342900" indent="-342900" algn="just">
                  <a:spcBef>
                    <a:spcPts val="0"/>
                  </a:spcBef>
                  <a:buFont typeface="Wingdings" panose="05000000000000000000" pitchFamily="2" charset="2"/>
                  <a:buChar char="Ø"/>
                </a:pPr>
                <a:r>
                  <a:rPr lang="en-US" dirty="0">
                    <a:solidFill>
                      <a:schemeClr val="tx1"/>
                    </a:solidFill>
                    <a:latin typeface="Lato" panose="020F0502020204030203" pitchFamily="34" charset="0"/>
                    <a:ea typeface="Arial"/>
                    <a:cs typeface="Arial"/>
                    <a:sym typeface="Arial"/>
                  </a:rPr>
                  <a:t>Solving histogram problem</a:t>
                </a:r>
                <a:endParaRPr lang="en-US" sz="2400" dirty="0">
                  <a:latin typeface="Lato" panose="020F0502020204030203" pitchFamily="34" charset="0"/>
                </a:endParaRP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1"/>
                    </a:solidFill>
                    <a:latin typeface="Lato" panose="020F0502020204030203" pitchFamily="34" charset="0"/>
                    <a:ea typeface="Arial"/>
                    <a:cs typeface="Arial"/>
                    <a:sym typeface="Arial"/>
                  </a:rPr>
                  <a:t>Compute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𝐿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[</m:t>
                    </m:r>
                    <m:r>
                      <a:rPr lang="en-US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𝑖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]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Lato" panose="020F0502020204030203" pitchFamily="34" charset="0"/>
                    <a:ea typeface="Arial"/>
                    <a:cs typeface="Arial"/>
                    <a:sym typeface="Arial"/>
                  </a:rPr>
                  <a:t>: </a:t>
                </a:r>
              </a:p>
              <a:p>
                <a:pPr marL="9144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1"/>
                    </a:solidFill>
                    <a:latin typeface="Lato" panose="020F0502020204030203" pitchFamily="34" charset="0"/>
                    <a:ea typeface="Arial"/>
                    <a:cs typeface="Arial"/>
                    <a:sym typeface="Arial"/>
                  </a:rPr>
                  <a:t>Explore columns from right to left, maintain a stack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𝑆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Lato" panose="020F0502020204030203" pitchFamily="34" charset="0"/>
                    <a:ea typeface="Arial"/>
                    <a:cs typeface="Arial"/>
                    <a:sym typeface="Arial"/>
                  </a:rPr>
                  <a:t> containing indices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𝑖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Lato" panose="020F0502020204030203" pitchFamily="34" charset="0"/>
                    <a:ea typeface="Arial"/>
                    <a:cs typeface="Arial"/>
                    <a:sym typeface="Arial"/>
                  </a:rPr>
                  <a:t> of columns waiting for the computation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𝐿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[</m:t>
                    </m:r>
                    <m:r>
                      <a:rPr lang="en-US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𝑖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]</m:t>
                    </m:r>
                  </m:oMath>
                </a14:m>
                <a:endParaRPr lang="en-US" dirty="0">
                  <a:solidFill>
                    <a:schemeClr val="tx1"/>
                  </a:solidFill>
                  <a:latin typeface="Lato" panose="020F0502020204030203" pitchFamily="34" charset="0"/>
                  <a:ea typeface="Arial"/>
                  <a:cs typeface="Arial"/>
                  <a:sym typeface="Arial"/>
                </a:endParaRPr>
              </a:p>
              <a:p>
                <a:pPr marL="9144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1"/>
                    </a:solidFill>
                    <a:latin typeface="Lato" panose="020F0502020204030203" pitchFamily="34" charset="0"/>
                    <a:ea typeface="Arial"/>
                    <a:cs typeface="Arial"/>
                    <a:sym typeface="Arial"/>
                  </a:rPr>
                  <a:t>For each column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𝑗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Lato" panose="020F0502020204030203" pitchFamily="34" charset="0"/>
                    <a:ea typeface="Arial"/>
                    <a:cs typeface="Arial"/>
                    <a:sym typeface="Arial"/>
                  </a:rPr>
                  <a:t>:</a:t>
                </a:r>
              </a:p>
              <a:p>
                <a:pPr marL="11430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1"/>
                    </a:solidFill>
                    <a:latin typeface="Lato" panose="020F0502020204030203" pitchFamily="34" charset="0"/>
                    <a:ea typeface="Arial"/>
                    <a:cs typeface="Arial"/>
                    <a:sym typeface="Arial"/>
                  </a:rPr>
                  <a:t>while h[j] &lt; h[</a:t>
                </a:r>
                <a:r>
                  <a:rPr lang="en-US" dirty="0" err="1">
                    <a:solidFill>
                      <a:schemeClr val="tx1"/>
                    </a:solidFill>
                    <a:latin typeface="Lato" panose="020F0502020204030203" pitchFamily="34" charset="0"/>
                    <a:ea typeface="Arial"/>
                    <a:cs typeface="Arial"/>
                    <a:sym typeface="Arial"/>
                  </a:rPr>
                  <a:t>S.top</a:t>
                </a:r>
                <a:r>
                  <a:rPr lang="en-US" dirty="0">
                    <a:solidFill>
                      <a:schemeClr val="tx1"/>
                    </a:solidFill>
                    <a:latin typeface="Lato" panose="020F0502020204030203" pitchFamily="34" charset="0"/>
                    <a:ea typeface="Arial"/>
                    <a:cs typeface="Arial"/>
                    <a:sym typeface="Arial"/>
                  </a:rPr>
                  <a:t>] do</a:t>
                </a:r>
              </a:p>
              <a:p>
                <a:pPr marL="13716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1"/>
                    </a:solidFill>
                    <a:latin typeface="Lato" panose="020F0502020204030203" pitchFamily="34" charset="0"/>
                    <a:ea typeface="Arial"/>
                    <a:cs typeface="Arial"/>
                    <a:sym typeface="Arial"/>
                  </a:rPr>
                  <a:t>pop an index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𝑖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Lato" panose="020F0502020204030203" pitchFamily="34" charset="0"/>
                    <a:ea typeface="Arial"/>
                    <a:cs typeface="Arial"/>
                    <a:sym typeface="Arial"/>
                  </a:rPr>
                  <a:t> out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𝑆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 (</m:t>
                    </m:r>
                    <m:r>
                      <a:rPr lang="en-US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𝑖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 = </m:t>
                    </m:r>
                    <m:r>
                      <a:rPr lang="en-US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𝑆</m:t>
                    </m:r>
                    <m:r>
                      <a:rPr lang="en-US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.</m:t>
                    </m:r>
                    <m:r>
                      <a:rPr lang="en-US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𝑡𝑜𝑝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)</m:t>
                    </m:r>
                  </m:oMath>
                </a14:m>
                <a:endParaRPr lang="en-US" dirty="0">
                  <a:solidFill>
                    <a:schemeClr val="tx1"/>
                  </a:solidFill>
                  <a:latin typeface="Lato" panose="020F0502020204030203" pitchFamily="34" charset="0"/>
                  <a:ea typeface="Arial"/>
                  <a:cs typeface="Arial"/>
                  <a:sym typeface="Arial"/>
                </a:endParaRPr>
              </a:p>
              <a:p>
                <a:pPr marL="13716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1"/>
                    </a:solidFill>
                    <a:latin typeface="Lato" panose="020F0502020204030203" pitchFamily="34" charset="0"/>
                    <a:ea typeface="Arial"/>
                    <a:cs typeface="Arial"/>
                    <a:sym typeface="Arial"/>
                  </a:rPr>
                  <a:t>assign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𝐿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[</m:t>
                    </m:r>
                    <m:r>
                      <a:rPr lang="en-US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𝑖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] = 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𝑗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 </m:t>
                    </m:r>
                  </m:oMath>
                </a14:m>
                <a:endParaRPr lang="en-US" dirty="0">
                  <a:solidFill>
                    <a:schemeClr val="tx1"/>
                  </a:solidFill>
                  <a:latin typeface="Lato" panose="020F0502020204030203" pitchFamily="34" charset="0"/>
                  <a:ea typeface="Arial"/>
                  <a:cs typeface="Arial"/>
                  <a:sym typeface="Arial"/>
                </a:endParaRPr>
              </a:p>
              <a:p>
                <a:pPr marL="11430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1"/>
                    </a:solidFill>
                    <a:latin typeface="Lato" panose="020F0502020204030203" pitchFamily="34" charset="0"/>
                    <a:ea typeface="Arial"/>
                    <a:cs typeface="Arial"/>
                    <a:sym typeface="Arial"/>
                  </a:rPr>
                  <a:t>Push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𝑗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Lato" panose="020F0502020204030203" pitchFamily="34" charset="0"/>
                    <a:ea typeface="Arial"/>
                    <a:cs typeface="Arial"/>
                    <a:sym typeface="Arial"/>
                  </a:rPr>
                  <a:t> into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𝑆</m:t>
                    </m:r>
                  </m:oMath>
                </a14:m>
                <a:endParaRPr lang="en-US" dirty="0">
                  <a:solidFill>
                    <a:schemeClr val="tx1"/>
                  </a:solidFill>
                  <a:latin typeface="Lato" panose="020F0502020204030203" pitchFamily="34" charset="0"/>
                  <a:ea typeface="Arial"/>
                  <a:cs typeface="Arial"/>
                  <a:sym typeface="Arial"/>
                </a:endParaRP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chemeClr val="tx1"/>
                  </a:solidFill>
                  <a:latin typeface="Lato" panose="020F0502020204030203" pitchFamily="34" charset="0"/>
                  <a:ea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7" name="Text Placeholder 4">
                <a:extLst>
                  <a:ext uri="{FF2B5EF4-FFF2-40B4-BE49-F238E27FC236}">
                    <a16:creationId xmlns:a16="http://schemas.microsoft.com/office/drawing/2014/main" id="{CD4B4363-9D62-670A-A120-BD07938B45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388533"/>
                <a:ext cx="6483751" cy="4984835"/>
              </a:xfrm>
              <a:prstGeom prst="rect">
                <a:avLst/>
              </a:prstGeom>
              <a:blipFill>
                <a:blip r:embed="rId3"/>
                <a:stretch>
                  <a:fillRect l="-783" t="-1777" r="-156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F8F0756-FCD7-107C-FA42-62F31D4CFB61}"/>
              </a:ext>
            </a:extLst>
          </p:cNvPr>
          <p:cNvCxnSpPr>
            <a:cxnSpLocks/>
          </p:cNvCxnSpPr>
          <p:nvPr/>
        </p:nvCxnSpPr>
        <p:spPr>
          <a:xfrm flipV="1">
            <a:off x="7424057" y="3243941"/>
            <a:ext cx="4593770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894F77E4-E34A-FFD9-1DAA-B5CE67E86942}"/>
              </a:ext>
            </a:extLst>
          </p:cNvPr>
          <p:cNvSpPr/>
          <p:nvPr/>
        </p:nvSpPr>
        <p:spPr>
          <a:xfrm>
            <a:off x="7772400" y="2242457"/>
            <a:ext cx="381000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A0A953-8452-B0A9-1608-9DDC6A0DFAFD}"/>
              </a:ext>
            </a:extLst>
          </p:cNvPr>
          <p:cNvSpPr/>
          <p:nvPr/>
        </p:nvSpPr>
        <p:spPr>
          <a:xfrm>
            <a:off x="8153400" y="1850572"/>
            <a:ext cx="381000" cy="139337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6516DA-7A21-3F25-069B-66240BF097F8}"/>
              </a:ext>
            </a:extLst>
          </p:cNvPr>
          <p:cNvSpPr/>
          <p:nvPr/>
        </p:nvSpPr>
        <p:spPr>
          <a:xfrm>
            <a:off x="8534400" y="1153886"/>
            <a:ext cx="381000" cy="209005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43F5B1-4D97-08FF-3D7C-5DC82574FB86}"/>
              </a:ext>
            </a:extLst>
          </p:cNvPr>
          <p:cNvSpPr/>
          <p:nvPr/>
        </p:nvSpPr>
        <p:spPr>
          <a:xfrm>
            <a:off x="8915400" y="1850572"/>
            <a:ext cx="381000" cy="1393371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C041C25-976F-1F42-7F6C-A1E43BB04011}"/>
              </a:ext>
            </a:extLst>
          </p:cNvPr>
          <p:cNvSpPr/>
          <p:nvPr/>
        </p:nvSpPr>
        <p:spPr>
          <a:xfrm>
            <a:off x="9296400" y="1436923"/>
            <a:ext cx="381000" cy="18070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D2887F-5C7E-C043-DB00-DEE403E2B5BF}"/>
              </a:ext>
            </a:extLst>
          </p:cNvPr>
          <p:cNvSpPr/>
          <p:nvPr/>
        </p:nvSpPr>
        <p:spPr>
          <a:xfrm>
            <a:off x="9677400" y="2645232"/>
            <a:ext cx="386442" cy="59871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97CAA99-B575-5FAA-8301-CB713FD18753}"/>
              </a:ext>
            </a:extLst>
          </p:cNvPr>
          <p:cNvSpPr/>
          <p:nvPr/>
        </p:nvSpPr>
        <p:spPr>
          <a:xfrm>
            <a:off x="10063842" y="2242457"/>
            <a:ext cx="375558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EC014CD-89D3-EE5C-2F00-D99CD03B6E22}"/>
              </a:ext>
            </a:extLst>
          </p:cNvPr>
          <p:cNvSpPr/>
          <p:nvPr/>
        </p:nvSpPr>
        <p:spPr>
          <a:xfrm>
            <a:off x="10444842" y="1850572"/>
            <a:ext cx="381000" cy="139337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6852641-2D2F-73FD-D608-F364E5D03D0C}"/>
              </a:ext>
            </a:extLst>
          </p:cNvPr>
          <p:cNvSpPr/>
          <p:nvPr/>
        </p:nvSpPr>
        <p:spPr>
          <a:xfrm>
            <a:off x="10825842" y="2645232"/>
            <a:ext cx="381000" cy="59870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ED903C4-11A4-049C-AB5F-4DA2DD9F43AC}"/>
              </a:ext>
            </a:extLst>
          </p:cNvPr>
          <p:cNvSpPr/>
          <p:nvPr/>
        </p:nvSpPr>
        <p:spPr>
          <a:xfrm>
            <a:off x="11206842" y="2242457"/>
            <a:ext cx="381000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6D1BE42-B316-D187-56CD-DD614E877A59}"/>
              </a:ext>
            </a:extLst>
          </p:cNvPr>
          <p:cNvSpPr txBox="1"/>
          <p:nvPr/>
        </p:nvSpPr>
        <p:spPr>
          <a:xfrm>
            <a:off x="7772399" y="3331029"/>
            <a:ext cx="40712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Lato" panose="020F0502020204030203" pitchFamily="34" charset="0"/>
              </a:rPr>
              <a:t>1     2     3     4    5     6    7     8     9    10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C22A889-F138-1A00-DA4E-E31719508C8C}"/>
              </a:ext>
            </a:extLst>
          </p:cNvPr>
          <p:cNvSpPr/>
          <p:nvPr/>
        </p:nvSpPr>
        <p:spPr>
          <a:xfrm>
            <a:off x="8153400" y="1850572"/>
            <a:ext cx="1524000" cy="1393369"/>
          </a:xfrm>
          <a:prstGeom prst="rect">
            <a:avLst/>
          </a:prstGeom>
          <a:noFill/>
          <a:ln w="635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5" name="Title 4">
            <a:extLst>
              <a:ext uri="{FF2B5EF4-FFF2-40B4-BE49-F238E27FC236}">
                <a16:creationId xmlns:a16="http://schemas.microsoft.com/office/drawing/2014/main" id="{9CCA1C0D-B29B-B206-0112-39C5FE5FB98F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Method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263893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5945A2BB-ABB6-48FB-A491-502474D93E34}"/>
              </a:ext>
            </a:extLst>
          </p:cNvPr>
          <p:cNvSpPr txBox="1">
            <a:spLocks/>
          </p:cNvSpPr>
          <p:nvPr/>
        </p:nvSpPr>
        <p:spPr>
          <a:xfrm>
            <a:off x="5605763" y="2869457"/>
            <a:ext cx="5422456" cy="97130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6000" dirty="0"/>
              <a:t>THANK YOU 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55FE58-BA70-418C-863F-55066B667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627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43852BD84EE2440ABC538C71FD5CABC" ma:contentTypeVersion="0" ma:contentTypeDescription="Create a new document." ma:contentTypeScope="" ma:versionID="205c4a5d51e14dcf1717a67a352bff4d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764bea3eb9b1a5be8fd57fac5fb459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B701A0A-56AC-4471-8DCE-3D5D6222CA15}"/>
</file>

<file path=customXml/itemProps2.xml><?xml version="1.0" encoding="utf-8"?>
<ds:datastoreItem xmlns:ds="http://schemas.openxmlformats.org/officeDocument/2006/customXml" ds:itemID="{C6A95F67-1716-4431-8FA6-79A1073D245A}"/>
</file>

<file path=customXml/itemProps3.xml><?xml version="1.0" encoding="utf-8"?>
<ds:datastoreItem xmlns:ds="http://schemas.openxmlformats.org/officeDocument/2006/customXml" ds:itemID="{3082A574-D3E9-4322-9C83-620E6A3A61F3}"/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1496</Words>
  <Application>Microsoft Macintosh PowerPoint</Application>
  <PresentationFormat>Widescreen</PresentationFormat>
  <Paragraphs>242</Paragraphs>
  <Slides>23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Cambria Math</vt:lpstr>
      <vt:lpstr>Lato</vt:lpstr>
      <vt:lpstr>Wingdings</vt:lpstr>
      <vt:lpstr>Office Theme</vt:lpstr>
      <vt:lpstr>PowerPoint Presentation</vt:lpstr>
      <vt:lpstr>PowerPoint Presentation</vt:lpstr>
      <vt:lpstr>Largest black sub-rectangle</vt:lpstr>
      <vt:lpstr>Largest black sub-rectangle</vt:lpstr>
      <vt:lpstr>Largest black sub-rectangle</vt:lpstr>
      <vt:lpstr>Largest black sub-rectangle</vt:lpstr>
      <vt:lpstr>Largest black sub-rectangle</vt:lpstr>
      <vt:lpstr>Largest black sub-rectangle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Nguyen Minh Huyen</cp:lastModifiedBy>
  <cp:revision>15</cp:revision>
  <dcterms:created xsi:type="dcterms:W3CDTF">2021-05-28T04:32:29Z</dcterms:created>
  <dcterms:modified xsi:type="dcterms:W3CDTF">2025-09-17T03:55:11Z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0x010100F43852BD84EE2440ABC538C71FD5CABC</vt:lpwstr>
  </property>
</Properties>
</file>