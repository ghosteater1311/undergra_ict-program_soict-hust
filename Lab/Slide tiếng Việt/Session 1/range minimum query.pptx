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9" r:id="rId2"/>
    <p:sldId id="257" r:id="rId3"/>
    <p:sldId id="273" r:id="rId4"/>
    <p:sldId id="278" r:id="rId5"/>
    <p:sldId id="279" r:id="rId6"/>
    <p:sldId id="280" r:id="rId7"/>
    <p:sldId id="28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117" autoAdjust="0"/>
    <p:restoredTop sz="94660"/>
  </p:normalViewPr>
  <p:slideViewPr>
    <p:cSldViewPr snapToGrid="0">
      <p:cViewPr>
        <p:scale>
          <a:sx n="40" d="100"/>
          <a:sy n="40" d="100"/>
        </p:scale>
        <p:origin x="264" y="1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Range minimum query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4859-A3DE-B9DC-4EB0-993B73F21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DE24-0179-EDD4-0D2C-B89B80FF3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minimum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4A766-4C09-4502-5068-ABFBB6819E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sym typeface="Arial"/>
              </a:rPr>
              <a:t>Tính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tổng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các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số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nhỏ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nhất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trong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các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đoạn</a:t>
            </a:r>
            <a:r>
              <a:rPr lang="en-US" sz="3200" dirty="0">
                <a:sym typeface="Arial"/>
              </a:rPr>
              <a:t> con </a:t>
            </a:r>
            <a:r>
              <a:rPr lang="en-US" sz="3200" dirty="0" err="1">
                <a:sym typeface="Arial"/>
              </a:rPr>
              <a:t>của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một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đoạn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cho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trước</a:t>
            </a:r>
            <a:endParaRPr lang="en-US" sz="3200" dirty="0">
              <a:sym typeface="Arial"/>
            </a:endParaRPr>
          </a:p>
          <a:p>
            <a:r>
              <a:rPr lang="en-US" sz="3200" dirty="0">
                <a:sym typeface="Arial"/>
              </a:rPr>
              <a:t>Cho </a:t>
            </a:r>
            <a:r>
              <a:rPr lang="en-US" sz="3200" dirty="0" err="1">
                <a:sym typeface="Arial"/>
              </a:rPr>
              <a:t>một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dãy</a:t>
            </a:r>
            <a:r>
              <a:rPr lang="en-US" sz="3200" dirty="0">
                <a:sym typeface="Arial"/>
              </a:rPr>
              <a:t> n </a:t>
            </a:r>
            <a:r>
              <a:rPr lang="en-US" sz="3200" dirty="0" err="1">
                <a:sym typeface="Arial"/>
              </a:rPr>
              <a:t>số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nguyên</a:t>
            </a:r>
            <a:r>
              <a:rPr lang="en-US" sz="3200" dirty="0">
                <a:sym typeface="Arial"/>
              </a:rPr>
              <a:t> a</a:t>
            </a:r>
            <a:r>
              <a:rPr lang="en-US" sz="3200" baseline="-25000" dirty="0">
                <a:sym typeface="Arial"/>
              </a:rPr>
              <a:t>0</a:t>
            </a:r>
            <a:r>
              <a:rPr lang="en-US" sz="3200" dirty="0">
                <a:sym typeface="Arial"/>
              </a:rPr>
              <a:t>, …, a</a:t>
            </a:r>
            <a:r>
              <a:rPr lang="en-US" sz="3200" baseline="-25000" dirty="0">
                <a:sym typeface="Arial"/>
              </a:rPr>
              <a:t>n-1</a:t>
            </a:r>
            <a:r>
              <a:rPr lang="en-US" sz="3200" dirty="0">
                <a:sym typeface="Arial"/>
              </a:rPr>
              <a:t>. </a:t>
            </a:r>
          </a:p>
          <a:p>
            <a:pPr marL="457200" lvl="1" indent="0">
              <a:buNone/>
            </a:pPr>
            <a:r>
              <a:rPr lang="en-US" sz="2800" dirty="0">
                <a:sym typeface="Arial"/>
              </a:rPr>
              <a:t>	</a:t>
            </a:r>
            <a:r>
              <a:rPr lang="en-US" sz="2800" dirty="0" err="1">
                <a:sym typeface="Arial"/>
              </a:rPr>
              <a:t>Ký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hiệu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olidFill>
                  <a:srgbClr val="C00000"/>
                </a:solidFill>
                <a:sym typeface="Arial"/>
              </a:rPr>
              <a:t>rmq</a:t>
            </a:r>
            <a:r>
              <a:rPr lang="en-US" sz="2800" dirty="0">
                <a:solidFill>
                  <a:srgbClr val="C00000"/>
                </a:solidFill>
                <a:sym typeface="Arial"/>
              </a:rPr>
              <a:t>(</a:t>
            </a:r>
            <a:r>
              <a:rPr lang="en-US" sz="2800" dirty="0" err="1">
                <a:solidFill>
                  <a:srgbClr val="C00000"/>
                </a:solidFill>
                <a:sym typeface="Arial"/>
              </a:rPr>
              <a:t>i</a:t>
            </a:r>
            <a:r>
              <a:rPr lang="en-US" sz="2800" dirty="0">
                <a:solidFill>
                  <a:srgbClr val="C00000"/>
                </a:solidFill>
                <a:sym typeface="Arial"/>
              </a:rPr>
              <a:t>, j): </a:t>
            </a:r>
            <a:r>
              <a:rPr lang="en-US" sz="2800" dirty="0" err="1">
                <a:sym typeface="Arial"/>
              </a:rPr>
              <a:t>số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nhỏ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nhất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trong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dãy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số</a:t>
            </a:r>
            <a:r>
              <a:rPr lang="en-US" sz="2800" dirty="0">
                <a:sym typeface="Arial"/>
              </a:rPr>
              <a:t> a</a:t>
            </a:r>
            <a:r>
              <a:rPr lang="en-US" sz="2800" baseline="-25000" dirty="0">
                <a:sym typeface="Arial"/>
              </a:rPr>
              <a:t>i</a:t>
            </a:r>
            <a:r>
              <a:rPr lang="en-US" sz="2800" dirty="0">
                <a:sym typeface="Arial"/>
              </a:rPr>
              <a:t>, a</a:t>
            </a:r>
            <a:r>
              <a:rPr lang="en-US" sz="2800" baseline="-25000" dirty="0">
                <a:sym typeface="Arial"/>
              </a:rPr>
              <a:t>i+1</a:t>
            </a:r>
            <a:r>
              <a:rPr lang="en-US" sz="2800" dirty="0">
                <a:sym typeface="Arial"/>
              </a:rPr>
              <a:t>, . . ., </a:t>
            </a:r>
            <a:r>
              <a:rPr lang="en-US" sz="2800" dirty="0" err="1">
                <a:sym typeface="Arial"/>
              </a:rPr>
              <a:t>a</a:t>
            </a:r>
            <a:r>
              <a:rPr lang="en-US" sz="2800" baseline="-25000" dirty="0" err="1">
                <a:sym typeface="Arial"/>
              </a:rPr>
              <a:t>j</a:t>
            </a:r>
            <a:r>
              <a:rPr lang="en-US" sz="2800" dirty="0">
                <a:sym typeface="Arial"/>
              </a:rPr>
              <a:t>. </a:t>
            </a:r>
          </a:p>
          <a:p>
            <a:pPr marL="457200" lvl="1" indent="0">
              <a:buNone/>
            </a:pPr>
            <a:r>
              <a:rPr lang="en-US" sz="2800" dirty="0">
                <a:sym typeface="Arial"/>
              </a:rPr>
              <a:t>	Cho m </a:t>
            </a:r>
            <a:r>
              <a:rPr lang="en-US" sz="2800" dirty="0" err="1">
                <a:sym typeface="Arial"/>
              </a:rPr>
              <a:t>cặp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số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nguyên</a:t>
            </a:r>
            <a:r>
              <a:rPr lang="en-US" sz="2800" dirty="0">
                <a:sym typeface="Arial"/>
              </a:rPr>
              <a:t> (i</a:t>
            </a:r>
            <a:r>
              <a:rPr lang="en-US" sz="2800" baseline="-25000" dirty="0">
                <a:sym typeface="Arial"/>
              </a:rPr>
              <a:t>1</a:t>
            </a:r>
            <a:r>
              <a:rPr lang="en-US" sz="2800" dirty="0">
                <a:sym typeface="Arial"/>
              </a:rPr>
              <a:t>, j</a:t>
            </a:r>
            <a:r>
              <a:rPr lang="en-US" sz="2800" baseline="-25000" dirty="0">
                <a:sym typeface="Arial"/>
              </a:rPr>
              <a:t>1</a:t>
            </a:r>
            <a:r>
              <a:rPr lang="en-US" sz="2800" dirty="0">
                <a:sym typeface="Arial"/>
              </a:rPr>
              <a:t>),. . ., (</a:t>
            </a:r>
            <a:r>
              <a:rPr lang="en-US" sz="2800" dirty="0" err="1">
                <a:sym typeface="Arial"/>
              </a:rPr>
              <a:t>i</a:t>
            </a:r>
            <a:r>
              <a:rPr lang="en-US" sz="2800" baseline="-25000" dirty="0" err="1">
                <a:sym typeface="Arial"/>
              </a:rPr>
              <a:t>m</a:t>
            </a:r>
            <a:r>
              <a:rPr lang="en-US" sz="2800" dirty="0">
                <a:sym typeface="Arial"/>
              </a:rPr>
              <a:t>, </a:t>
            </a:r>
            <a:r>
              <a:rPr lang="en-US" sz="2800" dirty="0" err="1">
                <a:sym typeface="Arial"/>
              </a:rPr>
              <a:t>j</a:t>
            </a:r>
            <a:r>
              <a:rPr lang="en-US" sz="2800" baseline="-25000" dirty="0" err="1">
                <a:sym typeface="Arial"/>
              </a:rPr>
              <a:t>m</a:t>
            </a:r>
            <a:r>
              <a:rPr lang="en-US" sz="2800" dirty="0">
                <a:sym typeface="Arial"/>
              </a:rPr>
              <a:t>) </a:t>
            </a:r>
          </a:p>
          <a:p>
            <a:pPr marL="457200" lvl="1" indent="0">
              <a:buNone/>
            </a:pPr>
            <a:r>
              <a:rPr lang="en-US" sz="2800" dirty="0">
                <a:sym typeface="Arial"/>
              </a:rPr>
              <a:t>	</a:t>
            </a:r>
            <a:r>
              <a:rPr lang="en-US" sz="2800" dirty="0" err="1">
                <a:sym typeface="Arial"/>
              </a:rPr>
              <a:t>Tính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tổng</a:t>
            </a:r>
            <a:r>
              <a:rPr lang="en-US" sz="2800" dirty="0">
                <a:sym typeface="Arial"/>
              </a:rPr>
              <a:t>: </a:t>
            </a:r>
            <a:r>
              <a:rPr lang="en-US" sz="2800" dirty="0">
                <a:solidFill>
                  <a:srgbClr val="C00000"/>
                </a:solidFill>
                <a:sym typeface="Arial"/>
              </a:rPr>
              <a:t>Q = </a:t>
            </a:r>
            <a:r>
              <a:rPr lang="en-US" sz="2800" dirty="0" err="1">
                <a:solidFill>
                  <a:srgbClr val="C00000"/>
                </a:solidFill>
                <a:sym typeface="Arial"/>
              </a:rPr>
              <a:t>rmq</a:t>
            </a:r>
            <a:r>
              <a:rPr lang="en-US" sz="2800" dirty="0">
                <a:solidFill>
                  <a:srgbClr val="C00000"/>
                </a:solidFill>
                <a:sym typeface="Arial"/>
              </a:rPr>
              <a:t>(i</a:t>
            </a:r>
            <a:r>
              <a:rPr lang="en-US" sz="2800" baseline="-25000" dirty="0">
                <a:solidFill>
                  <a:srgbClr val="C00000"/>
                </a:solidFill>
                <a:sym typeface="Arial"/>
              </a:rPr>
              <a:t>1</a:t>
            </a:r>
            <a:r>
              <a:rPr lang="en-US" sz="2800" dirty="0">
                <a:solidFill>
                  <a:srgbClr val="C00000"/>
                </a:solidFill>
                <a:sym typeface="Arial"/>
              </a:rPr>
              <a:t>, j</a:t>
            </a:r>
            <a:r>
              <a:rPr lang="en-US" sz="2800" baseline="-25000" dirty="0">
                <a:solidFill>
                  <a:srgbClr val="C00000"/>
                </a:solidFill>
                <a:sym typeface="Arial"/>
              </a:rPr>
              <a:t>1</a:t>
            </a:r>
            <a:r>
              <a:rPr lang="en-US" sz="2800" dirty="0">
                <a:solidFill>
                  <a:srgbClr val="C00000"/>
                </a:solidFill>
                <a:sym typeface="Arial"/>
              </a:rPr>
              <a:t>) + . . . + </a:t>
            </a:r>
            <a:r>
              <a:rPr lang="en-US" sz="2800" dirty="0" err="1">
                <a:solidFill>
                  <a:srgbClr val="C00000"/>
                </a:solidFill>
                <a:sym typeface="Arial"/>
              </a:rPr>
              <a:t>rmq</a:t>
            </a:r>
            <a:r>
              <a:rPr lang="en-US" sz="2800" dirty="0">
                <a:solidFill>
                  <a:srgbClr val="C00000"/>
                </a:solidFill>
                <a:sym typeface="Arial"/>
              </a:rPr>
              <a:t>(</a:t>
            </a:r>
            <a:r>
              <a:rPr lang="en-US" sz="2800" dirty="0" err="1">
                <a:solidFill>
                  <a:srgbClr val="C00000"/>
                </a:solidFill>
                <a:sym typeface="Arial"/>
              </a:rPr>
              <a:t>i</a:t>
            </a:r>
            <a:r>
              <a:rPr lang="en-US" sz="2800" baseline="-25000" dirty="0" err="1">
                <a:solidFill>
                  <a:srgbClr val="C00000"/>
                </a:solidFill>
                <a:sym typeface="Arial"/>
              </a:rPr>
              <a:t>m</a:t>
            </a:r>
            <a:r>
              <a:rPr lang="en-US" sz="2800" dirty="0">
                <a:solidFill>
                  <a:srgbClr val="C00000"/>
                </a:solidFill>
                <a:sym typeface="Arial"/>
              </a:rPr>
              <a:t>, </a:t>
            </a:r>
            <a:r>
              <a:rPr lang="en-US" sz="2800" dirty="0" err="1">
                <a:solidFill>
                  <a:srgbClr val="C00000"/>
                </a:solidFill>
                <a:sym typeface="Arial"/>
              </a:rPr>
              <a:t>j</a:t>
            </a:r>
            <a:r>
              <a:rPr lang="en-US" sz="2800" baseline="-25000" dirty="0" err="1">
                <a:solidFill>
                  <a:srgbClr val="C00000"/>
                </a:solidFill>
                <a:sym typeface="Arial"/>
              </a:rPr>
              <a:t>m</a:t>
            </a:r>
            <a:r>
              <a:rPr lang="en-US" sz="2800" dirty="0">
                <a:solidFill>
                  <a:srgbClr val="C00000"/>
                </a:solidFill>
                <a:sym typeface="Arial"/>
              </a:rPr>
              <a:t>)</a:t>
            </a:r>
          </a:p>
          <a:p>
            <a:r>
              <a:rPr lang="en-US" sz="3200" dirty="0"/>
              <a:t>Input: </a:t>
            </a:r>
            <a:r>
              <a:rPr lang="en-US" sz="3200" dirty="0" err="1"/>
              <a:t>dãy</a:t>
            </a:r>
            <a:r>
              <a:rPr lang="en-US" sz="3200" dirty="0"/>
              <a:t> </a:t>
            </a:r>
            <a:r>
              <a:rPr lang="en-US" sz="3200" dirty="0" err="1"/>
              <a:t>số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cặp</a:t>
            </a:r>
            <a:r>
              <a:rPr lang="en-US" sz="3200" dirty="0"/>
              <a:t> </a:t>
            </a:r>
            <a:r>
              <a:rPr lang="en-US" sz="3200" dirty="0" err="1"/>
              <a:t>số</a:t>
            </a:r>
            <a:r>
              <a:rPr lang="en-US" sz="3200" dirty="0"/>
              <a:t> </a:t>
            </a:r>
            <a:r>
              <a:rPr lang="en-US" sz="3200" dirty="0" err="1"/>
              <a:t>nguyên</a:t>
            </a:r>
            <a:endParaRPr lang="en-US" sz="3200" dirty="0"/>
          </a:p>
          <a:p>
            <a:r>
              <a:rPr lang="en-US" sz="3200" dirty="0"/>
              <a:t>Output: </a:t>
            </a:r>
            <a:r>
              <a:rPr lang="en-US" sz="3200" dirty="0" err="1"/>
              <a:t>tổng</a:t>
            </a: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</a:t>
            </a:r>
            <a:r>
              <a:rPr lang="en-US" sz="3200" dirty="0" err="1"/>
              <a:t>tính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18D6-2435-2643-8530-D2BF7236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62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F5E1-B80C-953D-293B-B67FB462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05D0-12F2-A336-2536-2D6050E92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minimum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86895-8E5F-1E87-3C6F-80474A782B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Example</a:t>
            </a:r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5BFCF-A1DF-1DEF-A8FD-BCFEFF98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69CC5D74-04F0-678C-64CF-765A8BB8FDD4}"/>
              </a:ext>
            </a:extLst>
          </p:cNvPr>
          <p:cNvGraphicFramePr/>
          <p:nvPr/>
        </p:nvGraphicFramePr>
        <p:xfrm>
          <a:off x="837601" y="1909235"/>
          <a:ext cx="10515600" cy="359666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stdin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stdout</a:t>
                      </a: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2 4 6 1 6 8 7 3 3 5 8 9 1 2 6 4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1 5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0 9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1 15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6 10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800" b="0" i="0" dirty="0">
                        <a:solidFill>
                          <a:schemeClr val="dk1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Calibri"/>
                        </a:rPr>
                        <a:t>Explain: 1+1+1+3 = 6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64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418A9-12F7-7056-FBF2-023B7544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26E1-2D9A-2903-C52E-36BFB845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minimum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3D3E4-3ADF-043F-2882-36C703BD6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err="1">
                <a:sym typeface="Arial"/>
              </a:rPr>
              <a:t>Ý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tưởng</a:t>
            </a:r>
            <a:r>
              <a:rPr lang="en-US" sz="3200" dirty="0">
                <a:sym typeface="Arial"/>
              </a:rPr>
              <a:t> #1:</a:t>
            </a:r>
          </a:p>
          <a:p>
            <a:pPr lvl="1"/>
            <a:r>
              <a:rPr lang="en-US" sz="2800" dirty="0" err="1">
                <a:sym typeface="Arial"/>
              </a:rPr>
              <a:t>với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mỗi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cặp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số</a:t>
            </a:r>
            <a:r>
              <a:rPr lang="en-US" sz="2800" dirty="0">
                <a:sym typeface="Arial"/>
              </a:rPr>
              <a:t> (</a:t>
            </a:r>
            <a:r>
              <a:rPr lang="en-US" sz="2800" dirty="0" err="1">
                <a:sym typeface="Arial"/>
              </a:rPr>
              <a:t>i</a:t>
            </a:r>
            <a:r>
              <a:rPr lang="en-US" sz="2800" dirty="0">
                <a:sym typeface="Arial"/>
              </a:rPr>
              <a:t>, j), </a:t>
            </a:r>
            <a:r>
              <a:rPr lang="en-US" sz="2800" dirty="0" err="1">
                <a:sym typeface="Arial"/>
              </a:rPr>
              <a:t>tìm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số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nhỏ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nhất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trong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đoạn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tương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ứng</a:t>
            </a:r>
            <a:endParaRPr lang="en-US" sz="2800" dirty="0">
              <a:sym typeface="Arial"/>
            </a:endParaRPr>
          </a:p>
          <a:p>
            <a:pPr lvl="1"/>
            <a:r>
              <a:rPr lang="en-US" sz="2800" dirty="0" err="1">
                <a:sym typeface="Arial"/>
              </a:rPr>
              <a:t>tính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tổng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các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số</a:t>
            </a:r>
            <a:endParaRPr lang="en-US" sz="2800" dirty="0">
              <a:sym typeface="Arial"/>
            </a:endParaRPr>
          </a:p>
          <a:p>
            <a:pPr lvl="1"/>
            <a:r>
              <a:rPr lang="en-US" sz="2800" dirty="0" err="1">
                <a:sym typeface="Arial"/>
              </a:rPr>
              <a:t>Độ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phức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tạp</a:t>
            </a:r>
            <a:r>
              <a:rPr lang="en-US" sz="2800" dirty="0">
                <a:sym typeface="Arial"/>
              </a:rPr>
              <a:t> O(</a:t>
            </a:r>
            <a:r>
              <a:rPr lang="en-US" sz="2800" dirty="0" err="1">
                <a:sym typeface="Arial"/>
              </a:rPr>
              <a:t>mn</a:t>
            </a:r>
            <a:r>
              <a:rPr lang="en-US" sz="2800" dirty="0">
                <a:sym typeface="Arial"/>
              </a:rPr>
              <a:t>)</a:t>
            </a:r>
          </a:p>
          <a:p>
            <a:pPr marL="457200" lvl="1" indent="0">
              <a:buNone/>
            </a:pPr>
            <a:r>
              <a:rPr lang="en-US" sz="2800" dirty="0">
                <a:sym typeface="Arial"/>
              </a:rPr>
              <a:t>-&gt; </a:t>
            </a:r>
            <a:r>
              <a:rPr lang="en-US" sz="2800" dirty="0" err="1">
                <a:sym typeface="Arial"/>
              </a:rPr>
              <a:t>dễ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nhưng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cần</a:t>
            </a:r>
            <a:r>
              <a:rPr lang="en-US" sz="2800" dirty="0">
                <a:sym typeface="Arial"/>
              </a:rPr>
              <a:t> so </a:t>
            </a:r>
            <a:r>
              <a:rPr lang="en-US" sz="2800" dirty="0" err="1">
                <a:sym typeface="Arial"/>
              </a:rPr>
              <a:t>sánh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nhiều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lần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và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lặp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lại</a:t>
            </a:r>
            <a:r>
              <a:rPr lang="en-US" sz="2800" dirty="0">
                <a:sym typeface="Arial"/>
              </a:rPr>
              <a:t>, </a:t>
            </a:r>
            <a:r>
              <a:rPr lang="en-US" sz="2800" dirty="0" err="1">
                <a:sym typeface="Arial"/>
              </a:rPr>
              <a:t>độ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phức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tạp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còn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cao</a:t>
            </a:r>
            <a:r>
              <a:rPr lang="en-US" sz="2800" dirty="0">
                <a:sym typeface="Arial"/>
              </a:rPr>
              <a:t>, </a:t>
            </a:r>
            <a:r>
              <a:rPr lang="en-US" sz="2800" dirty="0" err="1">
                <a:sym typeface="Arial"/>
              </a:rPr>
              <a:t>không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tốt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khi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có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nhiều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cặp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số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lồng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nhau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27BC-2935-E8E1-0224-E42B943F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82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1F6D-421B-5A4F-8F11-41E05E7F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634E-B596-F0AA-F75B-81C111EC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minimum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602479-AFB2-5856-53B2-A4AEFBAFE6A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3200" dirty="0">
                    <a:sym typeface="Arial"/>
                  </a:rPr>
                  <a:t>Ý </a:t>
                </a:r>
                <a:r>
                  <a:rPr lang="en-US" sz="3200" dirty="0" err="1">
                    <a:sym typeface="Arial"/>
                  </a:rPr>
                  <a:t>tưởng</a:t>
                </a:r>
                <a:r>
                  <a:rPr lang="en-US" sz="3200" dirty="0">
                    <a:sym typeface="Arial"/>
                  </a:rPr>
                  <a:t> #2: </a:t>
                </a:r>
                <a:r>
                  <a:rPr lang="en-US" sz="3200" dirty="0" err="1">
                    <a:sym typeface="Arial"/>
                  </a:rPr>
                  <a:t>tiền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xử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lý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và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lưu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các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số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nhỏ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của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các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đoạn</a:t>
                </a:r>
                <a:r>
                  <a:rPr lang="en-US" sz="3200" dirty="0">
                    <a:sym typeface="Arial"/>
                  </a:rPr>
                  <a:t>, </a:t>
                </a:r>
                <a:r>
                  <a:rPr lang="en-US" sz="3200" dirty="0" err="1">
                    <a:sym typeface="Arial"/>
                  </a:rPr>
                  <a:t>khi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truy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vấn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chỉ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cần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tra</a:t>
                </a:r>
                <a:r>
                  <a:rPr lang="en-US" sz="3200" dirty="0">
                    <a:sym typeface="Arial"/>
                  </a:rPr>
                  <a:t> </a:t>
                </a:r>
                <a:r>
                  <a:rPr lang="en-US" sz="3200" dirty="0" err="1">
                    <a:sym typeface="Arial"/>
                  </a:rPr>
                  <a:t>bảng</a:t>
                </a:r>
                <a:endParaRPr lang="en-US" sz="3200" dirty="0">
                  <a:sym typeface="Arial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2800" dirty="0">
                    <a:sym typeface="Arial"/>
                  </a:rPr>
                  <a:t>Xây bảng</a:t>
                </a:r>
                <a14:m>
                  <m:oMath xmlns:m="http://schemas.openxmlformats.org/officeDocument/2006/math">
                    <m:r>
                      <a:rPr lang="vi-VN" sz="2800" b="0" i="0" dirty="0" smtClean="0"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[</m:t>
                    </m:r>
                    <m:r>
                      <a:rPr lang="en-US" sz="2800" dirty="0" err="1" smtClean="0"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][</m:t>
                    </m:r>
                    <m:sSub>
                      <m:sSubPr>
                        <m:ctrlPr>
                          <a:rPr lang="vi-VN" sz="280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log</m:t>
                        </m:r>
                      </m:e>
                      <m:sub>
                        <m:r>
                          <a:rPr lang="vi-VN" sz="2800" dirty="0" smtClean="0"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]</m:t>
                    </m:r>
                  </m:oMath>
                </a14:m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thoả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mãn</a:t>
                </a:r>
                <a:r>
                  <a:rPr lang="en-US" sz="2800" dirty="0">
                    <a:sym typeface="Arial"/>
                  </a:rPr>
                  <a:t>: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sz="2800" dirty="0">
                    <a:sym typeface="Arial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80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là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chỉ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số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của</a:t>
                </a:r>
                <a:r>
                  <a:rPr lang="en-US" sz="2800" dirty="0"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  <a:sym typeface="Arial"/>
                      </a:rPr>
                      <m:t>min</m:t>
                    </m:r>
                    <m:r>
                      <a:rPr lang="vi-VN" sz="2800" dirty="0" smtClean="0"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sz="2800" dirty="0">
                        <a:latin typeface="Cambria Math" panose="02040503050406030204" pitchFamily="18" charset="0"/>
                        <a:sym typeface="Arial"/>
                      </a:rPr>
                      <m:t>{</m:t>
                    </m:r>
                    <m:sSub>
                      <m:sSubPr>
                        <m:ctrlPr>
                          <a:rPr lang="en-US" sz="2800" i="1" dirty="0" err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800" dirty="0" err="1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800" dirty="0" err="1"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sz="2800" dirty="0"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  <m:r>
                          <a:rPr lang="vi-VN" sz="2800" dirty="0">
                            <a:latin typeface="Cambria Math" panose="02040503050406030204" pitchFamily="18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en-US" sz="2800" dirty="0">
                        <a:latin typeface="Cambria Math" panose="02040503050406030204" pitchFamily="18" charset="0"/>
                        <a:sym typeface="Arial"/>
                      </a:rPr>
                      <m:t>, … , 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  <m:r>
                          <a:rPr lang="vi-VN" sz="2800" dirty="0"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sSup>
                          <m:sSupPr>
                            <m:ctrlPr>
                              <a:rPr lang="vi-VN" sz="2800" i="1" dirty="0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e>
                          <m:sup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𝑡</m:t>
                            </m:r>
                          </m:sup>
                        </m:sSup>
                        <m:r>
                          <a:rPr lang="vi-VN" sz="2800" dirty="0"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</m:sub>
                    </m:sSub>
                    <m:r>
                      <a:rPr lang="en-US" sz="2800" dirty="0">
                        <a:latin typeface="Cambria Math" panose="02040503050406030204" pitchFamily="18" charset="0"/>
                        <a:sym typeface="Arial"/>
                      </a:rPr>
                      <m:t>}</m:t>
                    </m:r>
                  </m:oMath>
                </a14:m>
                <a:endParaRPr lang="en-US" sz="2800" dirty="0">
                  <a:sym typeface="Arial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800" dirty="0" err="1">
                    <a:sym typeface="Arial"/>
                  </a:rPr>
                  <a:t>Chúng</a:t>
                </a:r>
                <a:r>
                  <a:rPr lang="en-US" sz="2800" dirty="0">
                    <a:sym typeface="Arial"/>
                  </a:rPr>
                  <a:t> ta </a:t>
                </a:r>
                <a:r>
                  <a:rPr lang="en-US" sz="2800" dirty="0" err="1">
                    <a:sym typeface="Arial"/>
                  </a:rPr>
                  <a:t>có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thể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truy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vấn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nhanh</a:t>
                </a:r>
                <a:r>
                  <a:rPr lang="en-US" sz="2800" dirty="0">
                    <a:sym typeface="Arial"/>
                  </a:rPr>
                  <a:t> </a:t>
                </a:r>
                <a:r>
                  <a:rPr lang="en-US" sz="2800" dirty="0" err="1">
                    <a:sym typeface="Arial"/>
                  </a:rPr>
                  <a:t>hơn</a:t>
                </a:r>
                <a:r>
                  <a:rPr lang="en-US" sz="2800" dirty="0">
                    <a:sym typeface="Arial"/>
                  </a:rPr>
                  <a:t>: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dirty="0" smtClean="0">
                          <a:latin typeface="Cambria Math" panose="02040503050406030204" pitchFamily="18" charset="0"/>
                          <a:sym typeface="Arial"/>
                        </a:rPr>
                        <m:t>𝑟𝑚𝑞</m:t>
                      </m:r>
                      <m:d>
                        <m:d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800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en-US" sz="2800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,</m:t>
                          </m:r>
                          <m:r>
                            <a:rPr lang="en-US" sz="2800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𝑗</m:t>
                          </m:r>
                        </m:e>
                      </m:d>
                      <m:r>
                        <a:rPr lang="en-US" sz="2800" dirty="0" smtClean="0"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unc>
                        <m:funcPr>
                          <m:ctrlPr>
                            <a:rPr lang="vi-VN" sz="2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vi-VN" sz="2800" dirty="0" smtClean="0">
                              <a:latin typeface="Cambria Math" panose="02040503050406030204" pitchFamily="18" charset="0"/>
                              <a:sym typeface="Arial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vi-VN" sz="280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2800" i="1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2800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800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𝑀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vi-VN" sz="2800" i="1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𝑖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vi-VN" sz="2800" i="1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vi-VN" sz="2800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vi-VN" sz="2800" i="1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2800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vi-VN" sz="2800" dirty="0"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𝑀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vi-VN" sz="2800" i="1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𝑗</m:t>
                                      </m:r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vi-VN" sz="2800" i="1" dirty="0">
                                              <a:latin typeface="Cambria Math" panose="02040503050406030204" pitchFamily="18" charset="0"/>
                                              <a:sym typeface="Arial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vi-VN" sz="2800" dirty="0">
                                              <a:latin typeface="Cambria Math" panose="02040503050406030204" pitchFamily="18" charset="0"/>
                                              <a:sym typeface="Arial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vi-VN" sz="2800" dirty="0">
                                              <a:latin typeface="Cambria Math" panose="02040503050406030204" pitchFamily="18" charset="0"/>
                                              <a:sym typeface="Arial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+1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vi-VN" sz="2800" i="1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800" dirty="0"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>
                  <a:sym typeface="Arial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800" dirty="0" err="1">
                    <a:sym typeface="Arial"/>
                  </a:rPr>
                  <a:t>với</a:t>
                </a:r>
                <a:r>
                  <a:rPr lang="en-US" sz="2800" dirty="0"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𝑘</m:t>
                    </m:r>
                    <m:r>
                      <a:rPr lang="en-US" sz="2800" dirty="0" smtClean="0">
                        <a:latin typeface="Cambria Math" panose="02040503050406030204" pitchFamily="18" charset="0"/>
                        <a:sym typeface="Arial"/>
                      </a:rPr>
                      <m:t> =</m:t>
                    </m:r>
                    <m:d>
                      <m:dPr>
                        <m:begChr m:val="⌊"/>
                        <m:endChr m:val="⌋"/>
                        <m:ctrlPr>
                          <a:rPr lang="en-US" sz="280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dirty="0">
                                    <a:latin typeface="Cambria Math" panose="02040503050406030204" pitchFamily="18" charset="0"/>
                                    <a:sym typeface="Arial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800" dirty="0">
                                    <a:latin typeface="Cambria Math" panose="02040503050406030204" pitchFamily="18" charset="0"/>
                                    <a:sym typeface="Arial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(</m:t>
                            </m:r>
                            <m:r>
                              <a:rPr lang="en-US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𝑗</m:t>
                            </m:r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  <m:r>
                              <a:rPr lang="vi-VN" sz="2800" dirty="0">
                                <a:latin typeface="Cambria Math" panose="02040503050406030204" pitchFamily="18" charset="0"/>
                                <a:sym typeface="Arial"/>
                              </a:rPr>
                              <m:t>+1)</m:t>
                            </m:r>
                          </m:e>
                        </m:func>
                      </m:e>
                    </m:d>
                  </m:oMath>
                </a14:m>
                <a:endParaRPr lang="en-US" sz="2800" dirty="0">
                  <a:sym typeface="Arial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602479-AFB2-5856-53B2-A4AEFBAFE6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211" t="-2564" r="-8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93969-0BDA-099D-7929-52A66930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FA02AC-FDF7-6069-ADFA-1F958008782B}"/>
                  </a:ext>
                </a:extLst>
              </p:cNvPr>
              <p:cNvSpPr txBox="1"/>
              <p:nvPr/>
            </p:nvSpPr>
            <p:spPr>
              <a:xfrm>
                <a:off x="5632618" y="5672502"/>
                <a:ext cx="2825361" cy="38658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  <a:sym typeface="Arial"/>
                        </a:rPr>
                        <m:t>min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⁡{</m:t>
                      </m:r>
                      <m:sSub>
                        <m:sSubPr>
                          <m:ctrlP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, </m:t>
                      </m:r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+1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, … , </m:t>
                      </m:r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sSup>
                            <m:sSupPr>
                              <m:ctrlP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sz="1800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</m:sup>
                          </m:sSup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}</m:t>
                      </m:r>
                    </m:oMath>
                  </m:oMathPara>
                </a14:m>
                <a:endParaRPr lang="en-US" sz="1800" dirty="0">
                  <a:latin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FA02AC-FDF7-6069-ADFA-1F9580087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618" y="5672502"/>
                <a:ext cx="2825361" cy="386581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E57DBD-BCC2-F571-7D19-5D7DD831FF2C}"/>
                  </a:ext>
                </a:extLst>
              </p:cNvPr>
              <p:cNvSpPr txBox="1"/>
              <p:nvPr/>
            </p:nvSpPr>
            <p:spPr>
              <a:xfrm>
                <a:off x="9281630" y="5382506"/>
                <a:ext cx="2190522" cy="41787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  <a:sym typeface="Arial"/>
                        </a:rPr>
                        <m:t>min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⁡{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vi-VN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𝑗</m:t>
                          </m:r>
                          <m: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−</m:t>
                          </m:r>
                          <m:sSup>
                            <m:sSupPr>
                              <m:ctrlP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</m:sup>
                          </m:sSup>
                          <m: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r>
                            <a:rPr lang="vi-VN" i="1" dirty="0"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sub>
                      </m:sSub>
                      <m:r>
                        <a:rPr lang="vi-VN" b="0" i="1" dirty="0" smtClean="0">
                          <a:latin typeface="Cambria Math" panose="02040503050406030204" pitchFamily="18" charset="0"/>
                          <a:sym typeface="Arial"/>
                        </a:rPr>
                        <m:t>,…, </m:t>
                      </m:r>
                      <m:sSub>
                        <m:sSubPr>
                          <m:ctrlP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vi-VN" i="1" dirty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vi-VN" i="1" dirty="0">
                              <a:latin typeface="Cambria Math" panose="02040503050406030204" pitchFamily="18" charset="0"/>
                              <a:sym typeface="Arial"/>
                            </a:rPr>
                            <m:t>𝑗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}</m:t>
                      </m:r>
                    </m:oMath>
                  </m:oMathPara>
                </a14:m>
                <a:endParaRPr lang="en-US" sz="1800" dirty="0">
                  <a:latin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E57DBD-BCC2-F571-7D19-5D7DD831F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630" y="5382506"/>
                <a:ext cx="2190522" cy="417871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1128F2-B9F2-E0B8-13B6-7538F5934D20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837129" y="4509370"/>
            <a:ext cx="1208170" cy="11631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40400D-6FC6-ED5D-AA4A-72F53CA72FAF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7853819" y="4509370"/>
            <a:ext cx="2523072" cy="8731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B3F310-2725-8AE5-869E-8A98E3462B3C}"/>
                  </a:ext>
                </a:extLst>
              </p:cNvPr>
              <p:cNvSpPr txBox="1"/>
              <p:nvPr/>
            </p:nvSpPr>
            <p:spPr>
              <a:xfrm>
                <a:off x="1081526" y="5481680"/>
                <a:ext cx="3074719" cy="3816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i="1" dirty="0" smtClean="0">
                          <a:latin typeface="Cambria Math" panose="02040503050406030204" pitchFamily="18" charset="0"/>
                          <a:sym typeface="Arial"/>
                        </a:rPr>
                        <m:t>𝑖</m:t>
                      </m:r>
                      <m:r>
                        <a:rPr lang="vi-VN" b="0" i="1" dirty="0" smtClean="0"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sSup>
                        <m:sSupPr>
                          <m:ctrlP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e>
                        <m:sup>
                          <m:r>
                            <a:rPr lang="vi-VN" i="1" dirty="0"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p>
                      </m:sSup>
                      <m:r>
                        <a:rPr lang="vi-VN" b="0" i="1" dirty="0" smtClean="0">
                          <a:latin typeface="Cambria Math" panose="02040503050406030204" pitchFamily="18" charset="0"/>
                          <a:sym typeface="Arial"/>
                        </a:rPr>
                        <m:t>−1≥ </m:t>
                      </m:r>
                      <m:r>
                        <a:rPr lang="vi-VN" i="1" dirty="0">
                          <a:latin typeface="Cambria Math" panose="02040503050406030204" pitchFamily="18" charset="0"/>
                          <a:sym typeface="Arial"/>
                        </a:rPr>
                        <m:t>𝑗</m:t>
                      </m:r>
                      <m:r>
                        <a:rPr lang="vi-VN" b="0" i="1" dirty="0" smtClean="0">
                          <a:latin typeface="Cambria Math" panose="02040503050406030204" pitchFamily="18" charset="0"/>
                          <a:sym typeface="Arial"/>
                        </a:rPr>
                        <m:t>−</m:t>
                      </m:r>
                      <m:sSup>
                        <m:sSupPr>
                          <m:ctrlP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lang="vi-VN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e>
                        <m:sup>
                          <m:r>
                            <a:rPr lang="vi-VN" i="1" dirty="0"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VN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B3F310-2725-8AE5-869E-8A98E346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526" y="5481680"/>
                <a:ext cx="3074719" cy="381643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407D7B-29CE-B63B-1E62-9C99FAFDDC60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618886" y="5085567"/>
            <a:ext cx="675459" cy="396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490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0133-6FAE-1CB3-0E7F-C5552D0E7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A0F5-07C5-E0E3-9137-848669FB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minimum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6A2B72-FC09-748B-A073-97EFFEED382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7539" y="1032510"/>
                <a:ext cx="11515725" cy="5305228"/>
              </a:xfrm>
            </p:spPr>
            <p:txBody>
              <a:bodyPr/>
              <a:lstStyle/>
              <a:p>
                <a:r>
                  <a:rPr lang="en-US" sz="3200" dirty="0">
                    <a:sym typeface="Arial"/>
                  </a:rPr>
                  <a:t>YT #2</a:t>
                </a:r>
                <a:r>
                  <a:rPr lang="vi-VN" sz="3200" dirty="0">
                    <a:sym typeface="Arial"/>
                  </a:rPr>
                  <a:t>: sau khi có bảng M, chỉ cần O(1) để trả lời rmq query, so với O(n) như YT #1</a:t>
                </a:r>
              </a:p>
              <a:p>
                <a:r>
                  <a:rPr lang="vi-VN" sz="3200" dirty="0">
                    <a:sym typeface="Arial"/>
                  </a:rPr>
                  <a:t>Xây dựng M: công thức truy hồi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Base case: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Recursive case: Chia </a:t>
                </a:r>
                <a:r>
                  <a:rPr lang="en-US" dirty="0" err="1"/>
                  <a:t>đoạn</a:t>
                </a:r>
                <a:r>
                  <a:rPr lang="en-US" dirty="0"/>
                  <a:t> (</a:t>
                </a:r>
                <a:r>
                  <a:rPr lang="en-US" dirty="0" err="1"/>
                  <a:t>i,j</a:t>
                </a:r>
                <a:r>
                  <a:rPr lang="en-US" dirty="0"/>
                  <a:t>) </a:t>
                </a:r>
                <a:r>
                  <a:rPr lang="en-US" dirty="0" err="1"/>
                  <a:t>thành</a:t>
                </a:r>
                <a:r>
                  <a:rPr lang="en-US" dirty="0"/>
                  <a:t> 2 </a:t>
                </a:r>
                <a:r>
                  <a:rPr lang="en-US" dirty="0" err="1"/>
                  <a:t>đoạn</a:t>
                </a:r>
                <a:r>
                  <a:rPr lang="en-US" dirty="0"/>
                  <a:t>:</a:t>
                </a: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:r>
                  <a:rPr lang="en-US" dirty="0"/>
                  <a:t> 	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index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vi-V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vi-VN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vi-V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vi-V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vi-VN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vi-VN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  <m:r>
                          <a:rPr lang="vi-VN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vi-VN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vi-VN" dirty="0" smtClean="0">
                            <a:latin typeface="Cambria Math" panose="02040503050406030204" pitchFamily="18" charset="0"/>
                          </a:rPr>
                          <m:t>−1]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vi-VN" dirty="0">
                    <a:sym typeface="Arial"/>
                  </a:rPr>
                  <a:t>Complexity: O(n log n + m)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6A2B72-FC09-748B-A073-97EFFEED38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7539" y="1032510"/>
                <a:ext cx="11515725" cy="5305228"/>
              </a:xfrm>
              <a:blipFill>
                <a:blip r:embed="rId2"/>
                <a:stretch>
                  <a:fillRect l="-1211" t="-2387" r="-176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8FCF8-46F9-36E2-988A-AA9F1C60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064989-40FE-E065-8BCB-718CDF600030}"/>
                  </a:ext>
                </a:extLst>
              </p:cNvPr>
              <p:cNvSpPr txBox="1"/>
              <p:nvPr/>
            </p:nvSpPr>
            <p:spPr>
              <a:xfrm>
                <a:off x="3742247" y="4741647"/>
                <a:ext cx="2825361" cy="3967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  <a:sym typeface="Arial"/>
                        </a:rPr>
                        <m:t>min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⁡{</m:t>
                      </m:r>
                      <m:sSub>
                        <m:sSubPr>
                          <m:ctrlP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, </m:t>
                      </m:r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+1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, … , </m:t>
                      </m:r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sSup>
                            <m:sSupPr>
                              <m:ctrlP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𝑗</m:t>
                              </m:r>
                              <m:r>
                                <a:rPr lang="vi-VN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−1</m:t>
                              </m:r>
                            </m:sup>
                          </m:sSup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}</m:t>
                      </m:r>
                    </m:oMath>
                  </m:oMathPara>
                </a14:m>
                <a:endParaRPr lang="en-US" sz="1800" dirty="0">
                  <a:latin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064989-40FE-E065-8BCB-718CDF600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247" y="4741647"/>
                <a:ext cx="2825361" cy="396775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A470D0-09D1-E793-55AE-2CB7E629978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5154928" y="4460789"/>
            <a:ext cx="2002617" cy="2808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A36C03-F3B9-96AD-D845-93838ADC5603}"/>
                  </a:ext>
                </a:extLst>
              </p:cNvPr>
              <p:cNvSpPr txBox="1"/>
              <p:nvPr/>
            </p:nvSpPr>
            <p:spPr>
              <a:xfrm>
                <a:off x="7702750" y="5138422"/>
                <a:ext cx="2825361" cy="3967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  <a:sym typeface="Arial"/>
                        </a:rPr>
                        <m:t>min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⁡{</m:t>
                      </m:r>
                      <m:sSub>
                        <m:sSubPr>
                          <m:ctrlP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err="1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sSup>
                            <m:sSupPr>
                              <m:ctrlP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𝑗</m:t>
                              </m:r>
                              <m:r>
                                <a:rPr lang="vi-VN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−1</m:t>
                              </m:r>
                            </m:sup>
                          </m:sSup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, … , </m:t>
                      </m:r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𝑖</m:t>
                          </m:r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sSup>
                            <m:sSupPr>
                              <m:ctrlP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vi-VN" sz="1800" b="0" i="1" dirty="0" smtClean="0"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vi-VN" i="1" dirty="0">
                                  <a:latin typeface="Cambria Math" panose="02040503050406030204" pitchFamily="18" charset="0"/>
                                  <a:sym typeface="Arial"/>
                                </a:rPr>
                                <m:t>𝑗</m:t>
                              </m:r>
                            </m:sup>
                          </m:sSup>
                          <m:r>
                            <a:rPr lang="vi-VN" sz="1800" b="0" i="1" dirty="0" smtClean="0"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  <a:sym typeface="Arial"/>
                        </a:rPr>
                        <m:t>}</m:t>
                      </m:r>
                    </m:oMath>
                  </m:oMathPara>
                </a14:m>
                <a:endParaRPr lang="en-US" sz="1800" dirty="0">
                  <a:latin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A36C03-F3B9-96AD-D845-93838ADC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750" y="5138422"/>
                <a:ext cx="2825361" cy="396775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2299BF-EBF3-ADCA-1AF6-904195946EA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8993275" y="4460789"/>
            <a:ext cx="122156" cy="6776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41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58829A-D957-42F6-9C2E-9FA3900D2B72}"/>
</file>

<file path=customXml/itemProps2.xml><?xml version="1.0" encoding="utf-8"?>
<ds:datastoreItem xmlns:ds="http://schemas.openxmlformats.org/officeDocument/2006/customXml" ds:itemID="{2E7A50CA-4C01-4F87-A9D4-0BCC5D624516}"/>
</file>

<file path=customXml/itemProps3.xml><?xml version="1.0" encoding="utf-8"?>
<ds:datastoreItem xmlns:ds="http://schemas.openxmlformats.org/officeDocument/2006/customXml" ds:itemID="{0D6193F6-3C02-48CB-8C79-93945A9B8043}"/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441</Words>
  <Application>Microsoft Macintosh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Lato</vt:lpstr>
      <vt:lpstr>Office Theme</vt:lpstr>
      <vt:lpstr>PowerPoint Presentation</vt:lpstr>
      <vt:lpstr>PowerPoint Presentation</vt:lpstr>
      <vt:lpstr>Range minimum query</vt:lpstr>
      <vt:lpstr>Range minimum query</vt:lpstr>
      <vt:lpstr>Range minimum query</vt:lpstr>
      <vt:lpstr>Range minimum query</vt:lpstr>
      <vt:lpstr>Range minimum query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14</cp:revision>
  <dcterms:created xsi:type="dcterms:W3CDTF">2021-05-28T04:32:29Z</dcterms:created>
  <dcterms:modified xsi:type="dcterms:W3CDTF">2025-09-17T03:42:59Z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